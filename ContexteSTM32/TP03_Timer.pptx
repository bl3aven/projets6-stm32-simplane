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266_2A151BBB.xml" ContentType="application/vnd.ms-powerpoint.comments+xml"/>
  <Override PartName="/ppt/notesSlides/notesSlide3.xml" ContentType="application/vnd.openxmlformats-officedocument.presentationml.notesSlide+xml"/>
  <Override PartName="/ppt/comments/modernComment_250_C3E9E5E2.xml" ContentType="application/vnd.ms-powerpoint.comments+xml"/>
  <Override PartName="/ppt/notesSlides/notesSlide4.xml" ContentType="application/vnd.openxmlformats-officedocument.presentationml.notesSlide+xml"/>
  <Override PartName="/ppt/comments/modernComment_262_F8A234D4.xml" ContentType="application/vnd.ms-powerpoint.comments+xml"/>
  <Override PartName="/ppt/notesSlides/notesSlide5.xml" ContentType="application/vnd.openxmlformats-officedocument.presentationml.notesSlide+xml"/>
  <Override PartName="/ppt/comments/modernComment_263_901E4835.xml" ContentType="application/vnd.ms-powerpoint.comments+xml"/>
  <Override PartName="/ppt/notesSlides/notesSlide6.xml" ContentType="application/vnd.openxmlformats-officedocument.presentationml.notesSlide+xml"/>
  <Override PartName="/ppt/comments/modernComment_253_DD199E47.xml" ContentType="application/vnd.ms-powerpoint.comments+xml"/>
  <Override PartName="/ppt/notesSlides/notesSlide7.xml" ContentType="application/vnd.openxmlformats-officedocument.presentationml.notesSlide+xml"/>
  <Override PartName="/ppt/comments/modernComment_264_BD51AEAA.xml" ContentType="application/vnd.ms-powerpoint.comments+xml"/>
  <Override PartName="/ppt/notesSlides/notesSlide8.xml" ContentType="application/vnd.openxmlformats-officedocument.presentationml.notesSlide+xml"/>
  <Override PartName="/ppt/comments/modernComment_252_5D44958B.xml" ContentType="application/vnd.ms-powerpoint.comments+xml"/>
  <Override PartName="/ppt/notesSlides/notesSlide9.xml" ContentType="application/vnd.openxmlformats-officedocument.presentationml.notesSlide+xml"/>
  <Override PartName="/ppt/comments/modernComment_255_123CA1B6.xml" ContentType="application/vnd.ms-powerpoint.comments+xml"/>
  <Override PartName="/ppt/notesSlides/notesSlide10.xml" ContentType="application/vnd.openxmlformats-officedocument.presentationml.notesSlide+xml"/>
  <Override PartName="/ppt/comments/modernComment_257_CA13B44.xml" ContentType="application/vnd.ms-powerpoint.comments+xml"/>
  <Override PartName="/ppt/notesSlides/notesSlide11.xml" ContentType="application/vnd.openxmlformats-officedocument.presentationml.notesSlide+xml"/>
  <Override PartName="/ppt/comments/modernComment_256_E9000E82.xml" ContentType="application/vnd.ms-powerpoint.comments+xml"/>
  <Override PartName="/ppt/notesSlides/notesSlide12.xml" ContentType="application/vnd.openxmlformats-officedocument.presentationml.notesSlide+xml"/>
  <Override PartName="/ppt/comments/modernComment_258_DECD0172.xml" ContentType="application/vnd.ms-powerpoint.comments+xml"/>
  <Override PartName="/ppt/notesSlides/notesSlide13.xml" ContentType="application/vnd.openxmlformats-officedocument.presentationml.notesSlide+xml"/>
  <Override PartName="/ppt/comments/modernComment_25C_B5D95215.xml" ContentType="application/vnd.ms-powerpoint.comments+xml"/>
  <Override PartName="/ppt/notesSlides/notesSlide14.xml" ContentType="application/vnd.openxmlformats-officedocument.presentationml.notesSlide+xml"/>
  <Override PartName="/ppt/comments/modernComment_25F_4888FCF8.xml" ContentType="application/vnd.ms-powerpoint.comments+xml"/>
  <Override PartName="/ppt/notesSlides/notesSlide15.xml" ContentType="application/vnd.openxmlformats-officedocument.presentationml.notesSlide+xml"/>
  <Override PartName="/ppt/comments/modernComment_25D_B34FCE67.xml" ContentType="application/vnd.ms-powerpoint.comments+xml"/>
  <Override PartName="/ppt/notesSlides/notesSlide16.xml" ContentType="application/vnd.openxmlformats-officedocument.presentationml.notesSlide+xml"/>
  <Override PartName="/ppt/comments/modernComment_25E_AD2E0E4A.xml" ContentType="application/vnd.ms-powerpoint.comments+xml"/>
  <Override PartName="/ppt/notesSlides/notesSlide17.xml" ContentType="application/vnd.openxmlformats-officedocument.presentationml.notesSlide+xml"/>
  <Override PartName="/ppt/comments/modernComment_260_BC2C98AC.xml" ContentType="application/vnd.ms-powerpoint.comments+xml"/>
  <Override PartName="/ppt/notesSlides/notesSlide18.xml" ContentType="application/vnd.openxmlformats-officedocument.presentationml.notesSlide+xml"/>
  <Override PartName="/ppt/comments/modernComment_261_4FD9A8B8.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2" r:id="rId4"/>
  </p:sldMasterIdLst>
  <p:notesMasterIdLst>
    <p:notesMasterId r:id="rId23"/>
  </p:notesMasterIdLst>
  <p:handoutMasterIdLst>
    <p:handoutMasterId r:id="rId24"/>
  </p:handoutMasterIdLst>
  <p:sldIdLst>
    <p:sldId id="613" r:id="rId5"/>
    <p:sldId id="614" r:id="rId6"/>
    <p:sldId id="592" r:id="rId7"/>
    <p:sldId id="610" r:id="rId8"/>
    <p:sldId id="611" r:id="rId9"/>
    <p:sldId id="595" r:id="rId10"/>
    <p:sldId id="612" r:id="rId11"/>
    <p:sldId id="594" r:id="rId12"/>
    <p:sldId id="597" r:id="rId13"/>
    <p:sldId id="599" r:id="rId14"/>
    <p:sldId id="598" r:id="rId15"/>
    <p:sldId id="600" r:id="rId16"/>
    <p:sldId id="604" r:id="rId17"/>
    <p:sldId id="607" r:id="rId18"/>
    <p:sldId id="605" r:id="rId19"/>
    <p:sldId id="606" r:id="rId20"/>
    <p:sldId id="608" r:id="rId21"/>
    <p:sldId id="609" r:id="rId22"/>
  </p:sldIdLst>
  <p:sldSz cx="12192000" cy="6858000"/>
  <p:notesSz cx="6858000" cy="9144000"/>
  <p:custDataLst>
    <p:tags r:id="rId25"/>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3893CF6-DB1A-4DF7-A6D9-074A1E8936B9}">
          <p14:sldIdLst>
            <p14:sldId id="613"/>
            <p14:sldId id="614"/>
            <p14:sldId id="592"/>
            <p14:sldId id="610"/>
            <p14:sldId id="611"/>
            <p14:sldId id="595"/>
            <p14:sldId id="612"/>
            <p14:sldId id="594"/>
            <p14:sldId id="597"/>
            <p14:sldId id="599"/>
            <p14:sldId id="598"/>
            <p14:sldId id="600"/>
            <p14:sldId id="604"/>
            <p14:sldId id="607"/>
            <p14:sldId id="605"/>
            <p14:sldId id="606"/>
            <p14:sldId id="608"/>
            <p14:sldId id="60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5CD6D8-3140-9AED-417C-67238DA3D55A}" name="Julien TERRIER" initials="JT" userId="S::julien.terrier@st.com::e38a7381-6e71-427d-838c-0275fc209b8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29B"/>
    <a:srgbClr val="BBCC00"/>
    <a:srgbClr val="00704E"/>
    <a:srgbClr val="E3DE00"/>
    <a:srgbClr val="151BFF"/>
    <a:srgbClr val="20D654"/>
    <a:srgbClr val="28F20C"/>
    <a:srgbClr val="20DF15"/>
    <a:srgbClr val="E30613"/>
    <a:srgbClr val="F081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Style foncé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14" autoAdjust="0"/>
    <p:restoredTop sz="76004" autoAdjust="0"/>
  </p:normalViewPr>
  <p:slideViewPr>
    <p:cSldViewPr>
      <p:cViewPr varScale="1">
        <p:scale>
          <a:sx n="74" d="100"/>
          <a:sy n="74" d="100"/>
        </p:scale>
        <p:origin x="360" y="283"/>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n terrier" userId="f10afbbb77aed1e2" providerId="LiveId" clId="{13A58A79-40E4-4D52-A499-E2BC08E94CD1}"/>
    <pc:docChg chg="custSel modSld">
      <pc:chgData name="julien terrier" userId="f10afbbb77aed1e2" providerId="LiveId" clId="{13A58A79-40E4-4D52-A499-E2BC08E94CD1}" dt="2026-02-09T08:00:27.492" v="16" actId="20577"/>
      <pc:docMkLst>
        <pc:docMk/>
      </pc:docMkLst>
      <pc:sldChg chg="modSp mod">
        <pc:chgData name="julien terrier" userId="f10afbbb77aed1e2" providerId="LiveId" clId="{13A58A79-40E4-4D52-A499-E2BC08E94CD1}" dt="2026-02-09T08:00:27.492" v="16" actId="20577"/>
        <pc:sldMkLst>
          <pc:docMk/>
          <pc:sldMk cId="211893060" sldId="599"/>
        </pc:sldMkLst>
        <pc:spChg chg="mod">
          <ac:chgData name="julien terrier" userId="f10afbbb77aed1e2" providerId="LiveId" clId="{13A58A79-40E4-4D52-A499-E2BC08E94CD1}" dt="2026-02-09T08:00:27.492" v="16" actId="20577"/>
          <ac:spMkLst>
            <pc:docMk/>
            <pc:sldMk cId="211893060" sldId="599"/>
            <ac:spMk id="7" creationId="{1C1ACD4E-FC07-451B-9F93-CE476223DCD2}"/>
          </ac:spMkLst>
        </pc:spChg>
      </pc:sldChg>
    </pc:docChg>
  </pc:docChgLst>
</pc:chgInfo>
</file>

<file path=ppt/comments/modernComment_25C_B5D95215.xml><?xml version="1.0" encoding="utf-8"?>
<p188:cmLst xmlns:a="http://schemas.openxmlformats.org/drawingml/2006/main" xmlns:r="http://schemas.openxmlformats.org/officeDocument/2006/relationships" xmlns:p188="http://schemas.microsoft.com/office/powerpoint/2018/8/main">
  <p188:cm id="{55FAD431-154D-4D8F-BCE0-AD813D6FCEEC}" authorId="{4A5CD6D8-3140-9AED-417C-67238DA3D55A}" created="2024-09-03T14:25:16.595">
    <pc:sldMkLst xmlns:pc="http://schemas.microsoft.com/office/powerpoint/2013/main/command">
      <pc:docMk/>
      <pc:sldMk cId="3050918421" sldId="604"/>
    </pc:sldMkLst>
    <p188:pos x="127000" y="127000"/>
    <p188:txBody>
      <a:bodyPr/>
      <a:lstStyle/>
      <a:p>
        <a:r>
          <a:rPr lang="en-US"/>
          <a:t>Wrong Slide Layout detected:</a:t>
        </a:r>
      </a:p>
      <a:p>
        <a:r>
          <a:rPr lang="en-US"/>
          <a:t>Please select a proper ST Layout template</a:t>
        </a:r>
      </a:p>
    </p188:txBody>
  </p188:cm>
</p188:cmLst>
</file>

<file path=ppt/comments/modernComment_25D_B34FCE67.xml><?xml version="1.0" encoding="utf-8"?>
<p188:cmLst xmlns:a="http://schemas.openxmlformats.org/drawingml/2006/main" xmlns:r="http://schemas.openxmlformats.org/officeDocument/2006/relationships" xmlns:p188="http://schemas.microsoft.com/office/powerpoint/2018/8/main">
  <p188:cm id="{994BB55D-B0AF-4BC8-B1E8-526EAFA2F141}" authorId="{4A5CD6D8-3140-9AED-417C-67238DA3D55A}" created="2024-09-03T14:25:16.642">
    <pc:sldMkLst xmlns:pc="http://schemas.microsoft.com/office/powerpoint/2013/main/command">
      <pc:docMk/>
      <pc:sldMk cId="3008351847" sldId="605"/>
    </pc:sldMkLst>
    <p188:pos x="127000" y="127000"/>
    <p188:txBody>
      <a:bodyPr/>
      <a:lstStyle/>
      <a:p>
        <a:r>
          <a:rPr lang="en-US"/>
          <a:t>Wrong Slide Layout detected:</a:t>
        </a:r>
      </a:p>
      <a:p>
        <a:r>
          <a:rPr lang="en-US"/>
          <a:t>Please select a proper ST Layout template</a:t>
        </a:r>
      </a:p>
    </p188:txBody>
  </p188:cm>
</p188:cmLst>
</file>

<file path=ppt/comments/modernComment_25E_AD2E0E4A.xml><?xml version="1.0" encoding="utf-8"?>
<p188:cmLst xmlns:a="http://schemas.openxmlformats.org/drawingml/2006/main" xmlns:r="http://schemas.openxmlformats.org/officeDocument/2006/relationships" xmlns:p188="http://schemas.microsoft.com/office/powerpoint/2018/8/main">
  <p188:cm id="{64BC3451-299B-415D-9148-FE8CFEBAE049}" authorId="{4A5CD6D8-3140-9AED-417C-67238DA3D55A}" created="2024-09-03T14:25:16.658">
    <pc:sldMkLst xmlns:pc="http://schemas.microsoft.com/office/powerpoint/2013/main/command">
      <pc:docMk/>
      <pc:sldMk cId="2905476682" sldId="606"/>
    </pc:sldMkLst>
    <p188:pos x="127000" y="127000"/>
    <p188:txBody>
      <a:bodyPr/>
      <a:lstStyle/>
      <a:p>
        <a:r>
          <a:rPr lang="en-US"/>
          <a:t>Wrong Slide Layout detected:</a:t>
        </a:r>
      </a:p>
      <a:p>
        <a:r>
          <a:rPr lang="en-US"/>
          <a:t>Please select a proper ST Layout template</a:t>
        </a:r>
      </a:p>
    </p188:txBody>
  </p188:cm>
</p188:cmLst>
</file>

<file path=ppt/comments/modernComment_25F_4888FCF8.xml><?xml version="1.0" encoding="utf-8"?>
<p188:cmLst xmlns:a="http://schemas.openxmlformats.org/drawingml/2006/main" xmlns:r="http://schemas.openxmlformats.org/officeDocument/2006/relationships" xmlns:p188="http://schemas.microsoft.com/office/powerpoint/2018/8/main">
  <p188:cm id="{CB1688DB-29FF-46A8-8967-5BB0FD0B058F}" authorId="{4A5CD6D8-3140-9AED-417C-67238DA3D55A}" created="2024-09-03T14:25:16.611">
    <pc:sldMkLst xmlns:pc="http://schemas.microsoft.com/office/powerpoint/2013/main/command">
      <pc:docMk/>
      <pc:sldMk cId="1216937208" sldId="607"/>
    </pc:sldMkLst>
    <p188:pos x="127000" y="127000"/>
    <p188:txBody>
      <a:bodyPr/>
      <a:lstStyle/>
      <a:p>
        <a:r>
          <a:rPr lang="en-US"/>
          <a:t>Wrong Slide Layout detected:</a:t>
        </a:r>
      </a:p>
      <a:p>
        <a:r>
          <a:rPr lang="en-US"/>
          <a:t>Please select a proper ST Layout template</a:t>
        </a:r>
      </a:p>
    </p188:txBody>
  </p188:cm>
</p188:cmLst>
</file>

<file path=ppt/comments/modernComment_250_C3E9E5E2.xml><?xml version="1.0" encoding="utf-8"?>
<p188:cmLst xmlns:a="http://schemas.openxmlformats.org/drawingml/2006/main" xmlns:r="http://schemas.openxmlformats.org/officeDocument/2006/relationships" xmlns:p188="http://schemas.microsoft.com/office/powerpoint/2018/8/main">
  <p188:cm id="{515FC8BA-355E-47D4-8D0A-A0430E37C3BB}" authorId="{4A5CD6D8-3140-9AED-417C-67238DA3D55A}" created="2024-09-03T14:25:16.313">
    <pc:sldMkLst xmlns:pc="http://schemas.microsoft.com/office/powerpoint/2013/main/command">
      <pc:docMk/>
      <pc:sldMk cId="3286885858" sldId="592"/>
    </pc:sldMkLst>
    <p188:pos x="127000" y="127000"/>
    <p188:txBody>
      <a:bodyPr/>
      <a:lstStyle/>
      <a:p>
        <a:r>
          <a:rPr lang="en-US"/>
          <a:t>Wrong Slide Layout detected:</a:t>
        </a:r>
      </a:p>
      <a:p>
        <a:r>
          <a:rPr lang="en-US"/>
          <a:t>Please select a proper ST Layout template</a:t>
        </a:r>
      </a:p>
    </p188:txBody>
  </p188:cm>
</p188:cmLst>
</file>

<file path=ppt/comments/modernComment_252_5D44958B.xml><?xml version="1.0" encoding="utf-8"?>
<p188:cmLst xmlns:a="http://schemas.openxmlformats.org/drawingml/2006/main" xmlns:r="http://schemas.openxmlformats.org/officeDocument/2006/relationships" xmlns:p188="http://schemas.microsoft.com/office/powerpoint/2018/8/main">
  <p188:cm id="{490C299C-2587-4C98-80B9-A9147BDA1E7D}" authorId="{4A5CD6D8-3140-9AED-417C-67238DA3D55A}" created="2024-09-03T14:25:16.438">
    <pc:sldMkLst xmlns:pc="http://schemas.microsoft.com/office/powerpoint/2013/main/command">
      <pc:docMk/>
      <pc:sldMk cId="1564775819" sldId="594"/>
    </pc:sldMkLst>
    <p188:pos x="127000" y="127000"/>
    <p188:txBody>
      <a:bodyPr/>
      <a:lstStyle/>
      <a:p>
        <a:r>
          <a:rPr lang="en-US"/>
          <a:t>Wrong Slide Layout detected:</a:t>
        </a:r>
      </a:p>
      <a:p>
        <a:r>
          <a:rPr lang="en-US"/>
          <a:t>Please select a proper ST Layout template</a:t>
        </a:r>
      </a:p>
    </p188:txBody>
  </p188:cm>
</p188:cmLst>
</file>

<file path=ppt/comments/modernComment_253_DD199E47.xml><?xml version="1.0" encoding="utf-8"?>
<p188:cmLst xmlns:a="http://schemas.openxmlformats.org/drawingml/2006/main" xmlns:r="http://schemas.openxmlformats.org/officeDocument/2006/relationships" xmlns:p188="http://schemas.microsoft.com/office/powerpoint/2018/8/main">
  <p188:cm id="{90F5680D-1088-4149-9366-576934955F17}" authorId="{4A5CD6D8-3140-9AED-417C-67238DA3D55A}" created="2024-09-03T14:25:16.392">
    <pc:sldMkLst xmlns:pc="http://schemas.microsoft.com/office/powerpoint/2013/main/command">
      <pc:docMk/>
      <pc:sldMk cId="3709443655" sldId="595"/>
    </pc:sldMkLst>
    <p188:pos x="127000" y="127000"/>
    <p188:txBody>
      <a:bodyPr/>
      <a:lstStyle/>
      <a:p>
        <a:r>
          <a:rPr lang="en-US"/>
          <a:t>Wrong Slide Layout detected:</a:t>
        </a:r>
      </a:p>
      <a:p>
        <a:r>
          <a:rPr lang="en-US"/>
          <a:t>Please select a proper ST Layout template</a:t>
        </a:r>
      </a:p>
    </p188:txBody>
  </p188:cm>
</p188:cmLst>
</file>

<file path=ppt/comments/modernComment_255_123CA1B6.xml><?xml version="1.0" encoding="utf-8"?>
<p188:cmLst xmlns:a="http://schemas.openxmlformats.org/drawingml/2006/main" xmlns:r="http://schemas.openxmlformats.org/officeDocument/2006/relationships" xmlns:p188="http://schemas.microsoft.com/office/powerpoint/2018/8/main">
  <p188:cm id="{6A72759D-066F-4DB6-BE4E-0A90793927E7}" authorId="{4A5CD6D8-3140-9AED-417C-67238DA3D55A}" created="2024-09-03T14:25:16.470">
    <pc:sldMkLst xmlns:pc="http://schemas.microsoft.com/office/powerpoint/2013/main/command">
      <pc:docMk/>
      <pc:sldMk cId="305963446" sldId="597"/>
    </pc:sldMkLst>
    <p188:pos x="127000" y="127000"/>
    <p188:txBody>
      <a:bodyPr/>
      <a:lstStyle/>
      <a:p>
        <a:r>
          <a:rPr lang="en-US"/>
          <a:t>Wrong Slide Layout detected:</a:t>
        </a:r>
      </a:p>
      <a:p>
        <a:r>
          <a:rPr lang="en-US"/>
          <a:t>Please select a proper ST Layout template</a:t>
        </a:r>
      </a:p>
    </p188:txBody>
  </p188:cm>
</p188:cmLst>
</file>

<file path=ppt/comments/modernComment_256_E9000E82.xml><?xml version="1.0" encoding="utf-8"?>
<p188:cmLst xmlns:a="http://schemas.openxmlformats.org/drawingml/2006/main" xmlns:r="http://schemas.openxmlformats.org/officeDocument/2006/relationships" xmlns:p188="http://schemas.microsoft.com/office/powerpoint/2018/8/main">
  <p188:cm id="{92F1420B-4A08-4E59-B363-2EAAC30343E2}" authorId="{4A5CD6D8-3140-9AED-417C-67238DA3D55A}" created="2024-09-03T14:25:16.487">
    <pc:sldMkLst xmlns:pc="http://schemas.microsoft.com/office/powerpoint/2013/main/command">
      <pc:docMk/>
      <pc:sldMk cId="3909095042" sldId="598"/>
    </pc:sldMkLst>
    <p188:pos x="127000" y="127000"/>
    <p188:txBody>
      <a:bodyPr/>
      <a:lstStyle/>
      <a:p>
        <a:r>
          <a:rPr lang="en-US"/>
          <a:t>Wrong Slide Layout detected:</a:t>
        </a:r>
      </a:p>
      <a:p>
        <a:r>
          <a:rPr lang="en-US"/>
          <a:t>Please select a proper ST Layout template</a:t>
        </a:r>
      </a:p>
    </p188:txBody>
  </p188:cm>
</p188:cmLst>
</file>

<file path=ppt/comments/modernComment_257_CA13B44.xml><?xml version="1.0" encoding="utf-8"?>
<p188:cmLst xmlns:a="http://schemas.openxmlformats.org/drawingml/2006/main" xmlns:r="http://schemas.openxmlformats.org/officeDocument/2006/relationships" xmlns:p188="http://schemas.microsoft.com/office/powerpoint/2018/8/main">
  <p188:cm id="{CDB378F4-3E7D-45BA-8272-886F2B685B6F}" authorId="{4A5CD6D8-3140-9AED-417C-67238DA3D55A}" created="2024-09-03T14:25:16.532">
    <pc:sldMkLst xmlns:pc="http://schemas.microsoft.com/office/powerpoint/2013/main/command">
      <pc:docMk/>
      <pc:sldMk cId="211893060" sldId="599"/>
    </pc:sldMkLst>
    <p188:pos x="127000" y="127000"/>
    <p188:txBody>
      <a:bodyPr/>
      <a:lstStyle/>
      <a:p>
        <a:r>
          <a:rPr lang="en-US"/>
          <a:t>Wrong Slide Layout detected:</a:t>
        </a:r>
      </a:p>
      <a:p>
        <a:r>
          <a:rPr lang="en-US"/>
          <a:t>Please select a proper ST Layout template</a:t>
        </a:r>
      </a:p>
    </p188:txBody>
  </p188:cm>
</p188:cmLst>
</file>

<file path=ppt/comments/modernComment_258_DECD0172.xml><?xml version="1.0" encoding="utf-8"?>
<p188:cmLst xmlns:a="http://schemas.openxmlformats.org/drawingml/2006/main" xmlns:r="http://schemas.openxmlformats.org/officeDocument/2006/relationships" xmlns:p188="http://schemas.microsoft.com/office/powerpoint/2018/8/main">
  <p188:cm id="{516659F8-6EE1-4955-AC60-B28C71137DF8}" authorId="{4A5CD6D8-3140-9AED-417C-67238DA3D55A}" created="2024-09-03T14:25:16.564">
    <pc:sldMkLst xmlns:pc="http://schemas.microsoft.com/office/powerpoint/2013/main/command">
      <pc:docMk/>
      <pc:sldMk cId="3737977202" sldId="600"/>
    </pc:sldMkLst>
    <p188:pos x="127000" y="127000"/>
    <p188:txBody>
      <a:bodyPr/>
      <a:lstStyle/>
      <a:p>
        <a:r>
          <a:rPr lang="en-US"/>
          <a:t>Wrong Slide Layout detected:</a:t>
        </a:r>
      </a:p>
      <a:p>
        <a:r>
          <a:rPr lang="en-US"/>
          <a:t>Please select a proper ST Layout template</a:t>
        </a:r>
      </a:p>
    </p188:txBody>
  </p188:cm>
</p188:cmLst>
</file>

<file path=ppt/comments/modernComment_260_BC2C98AC.xml><?xml version="1.0" encoding="utf-8"?>
<p188:cmLst xmlns:a="http://schemas.openxmlformats.org/drawingml/2006/main" xmlns:r="http://schemas.openxmlformats.org/officeDocument/2006/relationships" xmlns:p188="http://schemas.microsoft.com/office/powerpoint/2018/8/main">
  <p188:cm id="{AF73BA0A-44AD-47A8-BC6B-1FD2C41D8128}" authorId="{4A5CD6D8-3140-9AED-417C-67238DA3D55A}" created="2024-09-03T14:25:16.690">
    <pc:sldMkLst xmlns:pc="http://schemas.microsoft.com/office/powerpoint/2013/main/command">
      <pc:docMk/>
      <pc:sldMk cId="3157039276" sldId="608"/>
    </pc:sldMkLst>
    <p188:pos x="127000" y="127000"/>
    <p188:txBody>
      <a:bodyPr/>
      <a:lstStyle/>
      <a:p>
        <a:r>
          <a:rPr lang="en-US"/>
          <a:t>Wrong Slide Layout detected:</a:t>
        </a:r>
      </a:p>
      <a:p>
        <a:r>
          <a:rPr lang="en-US"/>
          <a:t>Please select a proper ST Layout template</a:t>
        </a:r>
      </a:p>
    </p188:txBody>
  </p188:cm>
</p188:cmLst>
</file>

<file path=ppt/comments/modernComment_261_4FD9A8B8.xml><?xml version="1.0" encoding="utf-8"?>
<p188:cmLst xmlns:a="http://schemas.openxmlformats.org/drawingml/2006/main" xmlns:r="http://schemas.openxmlformats.org/officeDocument/2006/relationships" xmlns:p188="http://schemas.microsoft.com/office/powerpoint/2018/8/main">
  <p188:cm id="{6B3EF396-EAE8-4380-97AD-88433492459E}" authorId="{4A5CD6D8-3140-9AED-417C-67238DA3D55A}" created="2024-09-03T14:25:16.721">
    <pc:sldMkLst xmlns:pc="http://schemas.microsoft.com/office/powerpoint/2013/main/command">
      <pc:docMk/>
      <pc:sldMk cId="1339664568" sldId="609"/>
    </pc:sldMkLst>
    <p188:pos x="127000" y="127000"/>
    <p188:txBody>
      <a:bodyPr/>
      <a:lstStyle/>
      <a:p>
        <a:r>
          <a:rPr lang="en-US"/>
          <a:t>Wrong Slide Layout detected:</a:t>
        </a:r>
      </a:p>
      <a:p>
        <a:r>
          <a:rPr lang="en-US"/>
          <a:t>Please select a proper ST Layout template</a:t>
        </a:r>
      </a:p>
    </p188:txBody>
  </p188:cm>
</p188:cmLst>
</file>

<file path=ppt/comments/modernComment_262_F8A234D4.xml><?xml version="1.0" encoding="utf-8"?>
<p188:cmLst xmlns:a="http://schemas.openxmlformats.org/drawingml/2006/main" xmlns:r="http://schemas.openxmlformats.org/officeDocument/2006/relationships" xmlns:p188="http://schemas.microsoft.com/office/powerpoint/2018/8/main">
  <p188:cm id="{D93C5303-87FA-4E4F-A8FC-582E848607FC}" authorId="{4A5CD6D8-3140-9AED-417C-67238DA3D55A}" created="2024-09-03T14:25:16.344">
    <pc:sldMkLst xmlns:pc="http://schemas.microsoft.com/office/powerpoint/2013/main/command">
      <pc:docMk/>
      <pc:sldMk cId="4171379924" sldId="610"/>
    </pc:sldMkLst>
    <p188:pos x="127000" y="127000"/>
    <p188:txBody>
      <a:bodyPr/>
      <a:lstStyle/>
      <a:p>
        <a:r>
          <a:rPr lang="en-US"/>
          <a:t>Wrong Slide Layout detected:</a:t>
        </a:r>
      </a:p>
      <a:p>
        <a:r>
          <a:rPr lang="en-US"/>
          <a:t>Please select a proper ST Layout template</a:t>
        </a:r>
      </a:p>
    </p188:txBody>
  </p188:cm>
</p188:cmLst>
</file>

<file path=ppt/comments/modernComment_263_901E4835.xml><?xml version="1.0" encoding="utf-8"?>
<p188:cmLst xmlns:a="http://schemas.openxmlformats.org/drawingml/2006/main" xmlns:r="http://schemas.openxmlformats.org/officeDocument/2006/relationships" xmlns:p188="http://schemas.microsoft.com/office/powerpoint/2018/8/main">
  <p188:cm id="{59CDD880-F3E6-4BDE-8122-8BCA5023B16B}" authorId="{4A5CD6D8-3140-9AED-417C-67238DA3D55A}" created="2024-09-03T14:25:16.376">
    <pc:sldMkLst xmlns:pc="http://schemas.microsoft.com/office/powerpoint/2013/main/command">
      <pc:docMk/>
      <pc:sldMk cId="2417903669" sldId="611"/>
    </pc:sldMkLst>
    <p188:pos x="127000" y="127000"/>
    <p188:txBody>
      <a:bodyPr/>
      <a:lstStyle/>
      <a:p>
        <a:r>
          <a:rPr lang="en-US"/>
          <a:t>Wrong Slide Layout detected:</a:t>
        </a:r>
      </a:p>
      <a:p>
        <a:r>
          <a:rPr lang="en-US"/>
          <a:t>Please select a proper ST Layout template</a:t>
        </a:r>
      </a:p>
    </p188:txBody>
  </p188:cm>
</p188:cmLst>
</file>

<file path=ppt/comments/modernComment_264_BD51AEAA.xml><?xml version="1.0" encoding="utf-8"?>
<p188:cmLst xmlns:a="http://schemas.openxmlformats.org/drawingml/2006/main" xmlns:r="http://schemas.openxmlformats.org/officeDocument/2006/relationships" xmlns:p188="http://schemas.microsoft.com/office/powerpoint/2018/8/main">
  <p188:cm id="{08DAAB57-A13F-4740-8A67-6BD1CD068F8C}" authorId="{4A5CD6D8-3140-9AED-417C-67238DA3D55A}" created="2024-09-03T14:25:16.407">
    <pc:sldMkLst xmlns:pc="http://schemas.microsoft.com/office/powerpoint/2013/main/command">
      <pc:docMk/>
      <pc:sldMk cId="3176246954" sldId="612"/>
    </pc:sldMkLst>
    <p188:pos x="127000" y="127000"/>
    <p188:txBody>
      <a:bodyPr/>
      <a:lstStyle/>
      <a:p>
        <a:r>
          <a:rPr lang="en-US"/>
          <a:t>Wrong Slide Layout detected:</a:t>
        </a:r>
      </a:p>
      <a:p>
        <a:r>
          <a:rPr lang="en-US"/>
          <a:t>Please select a proper ST Layout template</a:t>
        </a:r>
      </a:p>
    </p188:txBody>
  </p188:cm>
</p188:cmLst>
</file>

<file path=ppt/comments/modernComment_266_2A151BBB.xml><?xml version="1.0" encoding="utf-8"?>
<p188:cmLst xmlns:a="http://schemas.openxmlformats.org/drawingml/2006/main" xmlns:r="http://schemas.openxmlformats.org/officeDocument/2006/relationships" xmlns:p188="http://schemas.microsoft.com/office/powerpoint/2018/8/main">
  <p188:cm id="{12663988-D97D-4928-A791-F389B5E488FE}" authorId="{4A5CD6D8-3140-9AED-417C-67238DA3D55A}" created="2024-08-06T11:47:38.878">
    <pc:sldMkLst xmlns:pc="http://schemas.microsoft.com/office/powerpoint/2013/main/command">
      <pc:docMk/>
      <pc:sldMk cId="4113719392" sldId="559"/>
    </pc:sldMkLst>
    <p188:pos x="127000" y="127000"/>
    <p188:txBody>
      <a:bodyPr/>
      <a:lstStyle/>
      <a:p>
        <a:r>
          <a:rPr lang="en-US"/>
          <a:t>Wrong Slide Layout detected:</a:t>
        </a:r>
      </a:p>
      <a:p>
        <a:r>
          <a:rPr lang="en-US"/>
          <a:t>Please select a proper ST Layout template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1AD421-B8DB-7943-B67F-E8827DD5399A}" type="datetimeFigureOut">
              <a:rPr lang="fr-FR" smtClean="0"/>
              <a:pPr/>
              <a:t>09/02/2026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8B13BF-0760-2E42-BCFD-82A0C242B3EE}" type="slidenum">
              <a:rPr lang="fr-FR" smtClean="0"/>
              <a:pPr/>
              <a:t>‹N°›</a:t>
            </a:fld>
            <a:endParaRPr lang="fr-FR"/>
          </a:p>
        </p:txBody>
      </p:sp>
    </p:spTree>
    <p:extLst>
      <p:ext uri="{BB962C8B-B14F-4D97-AF65-F5344CB8AC3E}">
        <p14:creationId xmlns:p14="http://schemas.microsoft.com/office/powerpoint/2010/main" val="9848520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21C64-2856-3B4F-8D4B-D915B3131B9A}" type="datetimeFigureOut">
              <a:rPr lang="fr-FR" smtClean="0"/>
              <a:pPr/>
              <a:t>09/02/2026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9BA11-BB5B-F64D-809E-65F18E1A87CE}" type="slidenum">
              <a:rPr lang="fr-FR" smtClean="0"/>
              <a:pPr/>
              <a:t>‹N°›</a:t>
            </a:fld>
            <a:endParaRPr lang="fr-FR"/>
          </a:p>
        </p:txBody>
      </p:sp>
    </p:spTree>
    <p:extLst>
      <p:ext uri="{BB962C8B-B14F-4D97-AF65-F5344CB8AC3E}">
        <p14:creationId xmlns:p14="http://schemas.microsoft.com/office/powerpoint/2010/main" val="1225316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sz="1600" dirty="0">
              <a:latin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a:t>
            </a:fld>
            <a:endParaRPr lang="en-US" sz="1600" dirty="0">
              <a:latin typeface="Arial" panose="020B0604020202020204" pitchFamily="34" charset="0"/>
            </a:endParaRPr>
          </a:p>
        </p:txBody>
      </p:sp>
    </p:spTree>
    <p:extLst>
      <p:ext uri="{BB962C8B-B14F-4D97-AF65-F5344CB8AC3E}">
        <p14:creationId xmlns:p14="http://schemas.microsoft.com/office/powerpoint/2010/main" val="327980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2</a:t>
            </a:fld>
            <a:endParaRPr lang="en-US" sz="1600" dirty="0">
              <a:latin typeface="Arial" panose="020B0604020202020204" pitchFamily="34" charset="0"/>
            </a:endParaRPr>
          </a:p>
        </p:txBody>
      </p:sp>
    </p:spTree>
    <p:extLst>
      <p:ext uri="{BB962C8B-B14F-4D97-AF65-F5344CB8AC3E}">
        <p14:creationId xmlns:p14="http://schemas.microsoft.com/office/powerpoint/2010/main" val="1226758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3</a:t>
            </a:fld>
            <a:endParaRPr lang="en-US" sz="1600" dirty="0">
              <a:latin typeface="Arial" panose="020B0604020202020204" pitchFamily="34" charset="0"/>
            </a:endParaRPr>
          </a:p>
        </p:txBody>
      </p:sp>
    </p:spTree>
    <p:extLst>
      <p:ext uri="{BB962C8B-B14F-4D97-AF65-F5344CB8AC3E}">
        <p14:creationId xmlns:p14="http://schemas.microsoft.com/office/powerpoint/2010/main" val="299658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4</a:t>
            </a:fld>
            <a:endParaRPr lang="en-US" sz="1600" dirty="0">
              <a:latin typeface="Arial" panose="020B0604020202020204" pitchFamily="34" charset="0"/>
            </a:endParaRPr>
          </a:p>
        </p:txBody>
      </p:sp>
    </p:spTree>
    <p:extLst>
      <p:ext uri="{BB962C8B-B14F-4D97-AF65-F5344CB8AC3E}">
        <p14:creationId xmlns:p14="http://schemas.microsoft.com/office/powerpoint/2010/main" val="493691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t>External Clock Mode 1:</a:t>
            </a:r>
            <a:br>
              <a:rPr lang="en-US" sz="2400" dirty="0"/>
            </a:br>
            <a:r>
              <a:rPr lang="en-US" sz="2400" dirty="0"/>
              <a:t>STM32 general purpose and advanced timers can be configured to work in master or slave mode²¹. When configured to act as a slave, a timer can be fed by internal ITR0, ITR1, ITR2 and ITR3 lines, an external clock connected to the ETR1 pin or from other clock sources connected to TI1FP1 and TI2FP2 sources, which correspond to Channel 1 and 2 input pins. This working mode is called External Clock Mode 1.</a:t>
            </a:r>
            <a:br>
              <a:rPr lang="en-US" sz="2400" dirty="0"/>
            </a:br>
            <a:br>
              <a:rPr lang="en-US" sz="2400" dirty="0"/>
            </a:br>
            <a:r>
              <a:rPr lang="en-US" sz="2400" dirty="0"/>
              <a:t>External Clock Mode 2:</a:t>
            </a:r>
            <a:br>
              <a:rPr lang="en-US" sz="2400" dirty="0"/>
            </a:br>
            <a:r>
              <a:rPr lang="en-US" sz="2400" dirty="0"/>
              <a:t>General purpose timers have the ability to be clocked from external sources, setting them in two distinct modes: External Clock Source Mode 1 and 2. The first one is available when the timer is configured in slave mode. We will study this mode in the next paragraph. The second mode is, instead, activated simply by using an external clock source. This allows to use more accurate and dedicated sources, and eventually to further reduce the counting frequency.</a:t>
            </a:r>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5</a:t>
            </a:fld>
            <a:endParaRPr lang="en-US" sz="1600" dirty="0">
              <a:latin typeface="Arial" panose="020B0604020202020204" pitchFamily="34" charset="0"/>
            </a:endParaRPr>
          </a:p>
        </p:txBody>
      </p:sp>
    </p:spTree>
    <p:extLst>
      <p:ext uri="{BB962C8B-B14F-4D97-AF65-F5344CB8AC3E}">
        <p14:creationId xmlns:p14="http://schemas.microsoft.com/office/powerpoint/2010/main" val="2412454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6</a:t>
            </a:fld>
            <a:endParaRPr lang="en-US" sz="1600" dirty="0">
              <a:latin typeface="Arial" panose="020B0604020202020204" pitchFamily="34" charset="0"/>
            </a:endParaRPr>
          </a:p>
        </p:txBody>
      </p:sp>
    </p:spTree>
    <p:extLst>
      <p:ext uri="{BB962C8B-B14F-4D97-AF65-F5344CB8AC3E}">
        <p14:creationId xmlns:p14="http://schemas.microsoft.com/office/powerpoint/2010/main" val="3086846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7</a:t>
            </a:fld>
            <a:endParaRPr lang="en-US" sz="1600" dirty="0">
              <a:latin typeface="Arial" panose="020B0604020202020204" pitchFamily="34" charset="0"/>
            </a:endParaRPr>
          </a:p>
        </p:txBody>
      </p:sp>
    </p:spTree>
    <p:extLst>
      <p:ext uri="{BB962C8B-B14F-4D97-AF65-F5344CB8AC3E}">
        <p14:creationId xmlns:p14="http://schemas.microsoft.com/office/powerpoint/2010/main" val="669349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8</a:t>
            </a:fld>
            <a:endParaRPr lang="en-US" sz="1600" dirty="0">
              <a:latin typeface="Arial" panose="020B0604020202020204" pitchFamily="34" charset="0"/>
            </a:endParaRPr>
          </a:p>
        </p:txBody>
      </p:sp>
    </p:spTree>
    <p:extLst>
      <p:ext uri="{BB962C8B-B14F-4D97-AF65-F5344CB8AC3E}">
        <p14:creationId xmlns:p14="http://schemas.microsoft.com/office/powerpoint/2010/main" val="1042741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9</a:t>
            </a:fld>
            <a:endParaRPr lang="en-US" sz="1600" dirty="0">
              <a:latin typeface="Arial" panose="020B0604020202020204" pitchFamily="34" charset="0"/>
            </a:endParaRPr>
          </a:p>
        </p:txBody>
      </p:sp>
    </p:spTree>
    <p:extLst>
      <p:ext uri="{BB962C8B-B14F-4D97-AF65-F5344CB8AC3E}">
        <p14:creationId xmlns:p14="http://schemas.microsoft.com/office/powerpoint/2010/main" val="2633346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10</a:t>
            </a:fld>
            <a:endParaRPr lang="en-US" sz="1600" dirty="0">
              <a:latin typeface="Arial" panose="020B0604020202020204" pitchFamily="34" charset="0"/>
            </a:endParaRPr>
          </a:p>
        </p:txBody>
      </p:sp>
    </p:spTree>
    <p:extLst>
      <p:ext uri="{BB962C8B-B14F-4D97-AF65-F5344CB8AC3E}">
        <p14:creationId xmlns:p14="http://schemas.microsoft.com/office/powerpoint/2010/main" val="3443857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11</a:t>
            </a:fld>
            <a:endParaRPr lang="en-US" sz="1600" dirty="0">
              <a:latin typeface="Arial" panose="020B0604020202020204" pitchFamily="34" charset="0"/>
            </a:endParaRPr>
          </a:p>
        </p:txBody>
      </p:sp>
    </p:spTree>
    <p:extLst>
      <p:ext uri="{BB962C8B-B14F-4D97-AF65-F5344CB8AC3E}">
        <p14:creationId xmlns:p14="http://schemas.microsoft.com/office/powerpoint/2010/main" val="310462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12</a:t>
            </a:fld>
            <a:endParaRPr lang="en-US" sz="1600" dirty="0">
              <a:latin typeface="Arial" panose="020B0604020202020204" pitchFamily="34" charset="0"/>
            </a:endParaRPr>
          </a:p>
        </p:txBody>
      </p:sp>
    </p:spTree>
    <p:extLst>
      <p:ext uri="{BB962C8B-B14F-4D97-AF65-F5344CB8AC3E}">
        <p14:creationId xmlns:p14="http://schemas.microsoft.com/office/powerpoint/2010/main" val="28966352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13</a:t>
            </a:fld>
            <a:endParaRPr lang="en-US" sz="1600" dirty="0">
              <a:latin typeface="Arial" panose="020B0604020202020204" pitchFamily="34" charset="0"/>
            </a:endParaRPr>
          </a:p>
        </p:txBody>
      </p:sp>
    </p:spTree>
    <p:extLst>
      <p:ext uri="{BB962C8B-B14F-4D97-AF65-F5344CB8AC3E}">
        <p14:creationId xmlns:p14="http://schemas.microsoft.com/office/powerpoint/2010/main" val="12446245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14</a:t>
            </a:fld>
            <a:endParaRPr lang="en-US" sz="1600" dirty="0">
              <a:latin typeface="Arial" panose="020B0604020202020204" pitchFamily="34" charset="0"/>
            </a:endParaRPr>
          </a:p>
        </p:txBody>
      </p:sp>
    </p:spTree>
    <p:extLst>
      <p:ext uri="{BB962C8B-B14F-4D97-AF65-F5344CB8AC3E}">
        <p14:creationId xmlns:p14="http://schemas.microsoft.com/office/powerpoint/2010/main" val="201593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15</a:t>
            </a:fld>
            <a:endParaRPr lang="en-US" sz="1600" dirty="0">
              <a:latin typeface="Arial" panose="020B0604020202020204" pitchFamily="34" charset="0"/>
            </a:endParaRPr>
          </a:p>
        </p:txBody>
      </p:sp>
    </p:spTree>
    <p:extLst>
      <p:ext uri="{BB962C8B-B14F-4D97-AF65-F5344CB8AC3E}">
        <p14:creationId xmlns:p14="http://schemas.microsoft.com/office/powerpoint/2010/main" val="10995307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16</a:t>
            </a:fld>
            <a:endParaRPr lang="en-US" sz="1600" dirty="0">
              <a:latin typeface="Arial" panose="020B0604020202020204" pitchFamily="34" charset="0"/>
            </a:endParaRPr>
          </a:p>
        </p:txBody>
      </p:sp>
    </p:spTree>
    <p:extLst>
      <p:ext uri="{BB962C8B-B14F-4D97-AF65-F5344CB8AC3E}">
        <p14:creationId xmlns:p14="http://schemas.microsoft.com/office/powerpoint/2010/main" val="11119013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17</a:t>
            </a:fld>
            <a:endParaRPr lang="en-US" sz="1600" dirty="0">
              <a:latin typeface="Arial" panose="020B0604020202020204" pitchFamily="34" charset="0"/>
            </a:endParaRPr>
          </a:p>
        </p:txBody>
      </p:sp>
    </p:spTree>
    <p:extLst>
      <p:ext uri="{BB962C8B-B14F-4D97-AF65-F5344CB8AC3E}">
        <p14:creationId xmlns:p14="http://schemas.microsoft.com/office/powerpoint/2010/main" val="350078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18</a:t>
            </a:fld>
            <a:endParaRPr lang="en-US" sz="1600" dirty="0">
              <a:latin typeface="Arial" panose="020B0604020202020204" pitchFamily="34" charset="0"/>
            </a:endParaRPr>
          </a:p>
        </p:txBody>
      </p:sp>
    </p:spTree>
    <p:extLst>
      <p:ext uri="{BB962C8B-B14F-4D97-AF65-F5344CB8AC3E}">
        <p14:creationId xmlns:p14="http://schemas.microsoft.com/office/powerpoint/2010/main" val="7234893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st.com/trademarks" TargetMode="External"/><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ain titl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6095999" y="2312988"/>
            <a:ext cx="5795963" cy="2702071"/>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6095999" y="5015060"/>
            <a:ext cx="5795963"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sp>
        <p:nvSpPr>
          <p:cNvPr id="9" name="Rectangle 8">
            <a:extLst>
              <a:ext uri="{FF2B5EF4-FFF2-40B4-BE49-F238E27FC236}">
                <a16:creationId xmlns:a16="http://schemas.microsoft.com/office/drawing/2014/main" id="{B564B28F-A25E-4825-B94D-B2AD0EA2A9F6}"/>
              </a:ext>
            </a:extLst>
          </p:cNvPr>
          <p:cNvSpPr/>
          <p:nvPr/>
        </p:nvSpPr>
        <p:spPr>
          <a:xfrm>
            <a:off x="-228" y="0"/>
            <a:ext cx="43905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20E53B0-4A6F-4EA6-BAD9-3F10842526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5552" y="0"/>
            <a:ext cx="2366448" cy="1824288"/>
          </a:xfrm>
          <a:prstGeom prst="rect">
            <a:avLst/>
          </a:prstGeom>
        </p:spPr>
      </p:pic>
      <p:sp>
        <p:nvSpPr>
          <p:cNvPr id="26" name="Picture Placeholder 14">
            <a:extLst>
              <a:ext uri="{FF2B5EF4-FFF2-40B4-BE49-F238E27FC236}">
                <a16:creationId xmlns:a16="http://schemas.microsoft.com/office/drawing/2014/main" id="{21F7501C-E215-48DE-9901-1589EACC1FF6}"/>
              </a:ext>
            </a:extLst>
          </p:cNvPr>
          <p:cNvSpPr>
            <a:spLocks noGrp="1"/>
          </p:cNvSpPr>
          <p:nvPr>
            <p:ph type="pic" sz="quarter" idx="12" hasCustomPrompt="1"/>
          </p:nvPr>
        </p:nvSpPr>
        <p:spPr>
          <a:xfrm>
            <a:off x="438828" y="0"/>
            <a:ext cx="6280432" cy="6858000"/>
          </a:xfrm>
          <a:custGeom>
            <a:avLst/>
            <a:gdLst>
              <a:gd name="connsiteX0" fmla="*/ 0 w 6280432"/>
              <a:gd name="connsiteY0" fmla="*/ 0 h 6858000"/>
              <a:gd name="connsiteX1" fmla="*/ 6280432 w 6280432"/>
              <a:gd name="connsiteY1" fmla="*/ 0 h 6858000"/>
              <a:gd name="connsiteX2" fmla="*/ 6280432 w 6280432"/>
              <a:gd name="connsiteY2" fmla="*/ 2281561 h 6858000"/>
              <a:gd name="connsiteX3" fmla="*/ 5466285 w 6280432"/>
              <a:gd name="connsiteY3" fmla="*/ 2281561 h 6858000"/>
              <a:gd name="connsiteX4" fmla="*/ 5466285 w 6280432"/>
              <a:gd name="connsiteY4" fmla="*/ 6858000 h 6858000"/>
              <a:gd name="connsiteX5" fmla="*/ 0 w 628043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80432" h="6858000">
                <a:moveTo>
                  <a:pt x="0" y="0"/>
                </a:moveTo>
                <a:lnTo>
                  <a:pt x="6280432" y="0"/>
                </a:lnTo>
                <a:lnTo>
                  <a:pt x="6280432" y="2281561"/>
                </a:lnTo>
                <a:lnTo>
                  <a:pt x="5466285" y="2281561"/>
                </a:lnTo>
                <a:lnTo>
                  <a:pt x="5466285" y="6858000"/>
                </a:lnTo>
                <a:lnTo>
                  <a:pt x="0" y="6858000"/>
                </a:lnTo>
                <a:close/>
              </a:path>
            </a:pathLst>
          </a:custGeom>
          <a:solidFill>
            <a:schemeClr val="bg2"/>
          </a:solidFill>
        </p:spPr>
        <p:txBody>
          <a:bodyPr wrap="square" anchor="ctr">
            <a:noAutofit/>
          </a:bodyPr>
          <a:lstStyle>
            <a:lvl1pPr marL="0" indent="0" algn="ctr">
              <a:buFontTx/>
              <a:buNone/>
              <a:defRPr baseline="0">
                <a:solidFill>
                  <a:schemeClr val="tx1"/>
                </a:solidFill>
              </a:defRPr>
            </a:lvl1pPr>
          </a:lstStyle>
          <a:p>
            <a:r>
              <a:rPr lang="en-US" dirty="0"/>
              <a:t>Drag and drop </a:t>
            </a:r>
            <a:br>
              <a:rPr lang="en-US" dirty="0"/>
            </a:br>
            <a:r>
              <a:rPr lang="en-US" dirty="0"/>
              <a:t>a picture here</a:t>
            </a:r>
          </a:p>
        </p:txBody>
      </p:sp>
    </p:spTree>
    <p:extLst>
      <p:ext uri="{BB962C8B-B14F-4D97-AF65-F5344CB8AC3E}">
        <p14:creationId xmlns:p14="http://schemas.microsoft.com/office/powerpoint/2010/main" val="3295948271"/>
      </p:ext>
    </p:extLst>
  </p:cSld>
  <p:clrMapOvr>
    <a:masterClrMapping/>
  </p:clrMapOvr>
  <p:hf hdr="0" ftr="0"/>
  <p:extLst>
    <p:ext uri="{DCECCB84-F9BA-43D5-87BE-67443E8EF086}">
      <p15:sldGuideLst xmlns:p15="http://schemas.microsoft.com/office/powerpoint/2012/main">
        <p15:guide id="1" pos="6516">
          <p15:clr>
            <a:srgbClr val="FBAE40"/>
          </p15:clr>
        </p15:guide>
        <p15:guide id="2" pos="7387">
          <p15:clr>
            <a:srgbClr val="FBAE40"/>
          </p15:clr>
        </p15:guide>
        <p15:guide id="3" orient="horz" pos="3067">
          <p15:clr>
            <a:srgbClr val="FBAE40"/>
          </p15:clr>
        </p15:guide>
        <p15:guide id="4" orient="horz" pos="39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without pictur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1155701" y="2085976"/>
            <a:ext cx="7807324" cy="2929084"/>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1155701" y="5015060"/>
            <a:ext cx="7807324"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pic>
        <p:nvPicPr>
          <p:cNvPr id="15" name="Graphic 14">
            <a:extLst>
              <a:ext uri="{FF2B5EF4-FFF2-40B4-BE49-F238E27FC236}">
                <a16:creationId xmlns:a16="http://schemas.microsoft.com/office/drawing/2014/main" id="{92FC3CE6-78BD-44D0-9BE3-1EF21AC5DD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5552" y="0"/>
            <a:ext cx="2366448" cy="1824288"/>
          </a:xfrm>
          <a:prstGeom prst="rect">
            <a:avLst/>
          </a:prstGeom>
        </p:spPr>
      </p:pic>
      <p:sp>
        <p:nvSpPr>
          <p:cNvPr id="13" name="Freeform: Shape 12">
            <a:extLst>
              <a:ext uri="{FF2B5EF4-FFF2-40B4-BE49-F238E27FC236}">
                <a16:creationId xmlns:a16="http://schemas.microsoft.com/office/drawing/2014/main" id="{DDF7C4B5-15B1-42E4-9F81-B5E59B0C5030}"/>
              </a:ext>
            </a:extLst>
          </p:cNvPr>
          <p:cNvSpPr/>
          <p:nvPr/>
        </p:nvSpPr>
        <p:spPr>
          <a:xfrm>
            <a:off x="-228" y="0"/>
            <a:ext cx="1155928" cy="6858000"/>
          </a:xfrm>
          <a:custGeom>
            <a:avLst/>
            <a:gdLst>
              <a:gd name="connsiteX0" fmla="*/ 0 w 1155928"/>
              <a:gd name="connsiteY0" fmla="*/ 0 h 6858000"/>
              <a:gd name="connsiteX1" fmla="*/ 439056 w 1155928"/>
              <a:gd name="connsiteY1" fmla="*/ 0 h 6858000"/>
              <a:gd name="connsiteX2" fmla="*/ 1155928 w 1155928"/>
              <a:gd name="connsiteY2" fmla="*/ 0 h 6858000"/>
              <a:gd name="connsiteX3" fmla="*/ 1155928 w 1155928"/>
              <a:gd name="connsiteY3" fmla="*/ 1714500 h 6858000"/>
              <a:gd name="connsiteX4" fmla="*/ 439056 w 1155928"/>
              <a:gd name="connsiteY4" fmla="*/ 1714500 h 6858000"/>
              <a:gd name="connsiteX5" fmla="*/ 439056 w 1155928"/>
              <a:gd name="connsiteY5" fmla="*/ 6858000 h 6858000"/>
              <a:gd name="connsiteX6" fmla="*/ 0 w 115592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5928" h="6858000">
                <a:moveTo>
                  <a:pt x="0" y="0"/>
                </a:moveTo>
                <a:lnTo>
                  <a:pt x="439056" y="0"/>
                </a:lnTo>
                <a:lnTo>
                  <a:pt x="1155928" y="0"/>
                </a:lnTo>
                <a:lnTo>
                  <a:pt x="1155928" y="1714500"/>
                </a:lnTo>
                <a:lnTo>
                  <a:pt x="439056" y="1714500"/>
                </a:lnTo>
                <a:lnTo>
                  <a:pt x="439056" y="6858000"/>
                </a:lnTo>
                <a:lnTo>
                  <a:pt x="0" y="6858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273749505"/>
      </p:ext>
    </p:extLst>
  </p:cSld>
  <p:clrMapOvr>
    <a:masterClrMapping/>
  </p:clrMapOvr>
  <p:hf hdr="0" ftr="0"/>
  <p:extLst>
    <p:ext uri="{DCECCB84-F9BA-43D5-87BE-67443E8EF086}">
      <p15:sldGuideLst xmlns:p15="http://schemas.microsoft.com/office/powerpoint/2012/main">
        <p15:guide id="1" orient="horz" pos="1709">
          <p15:clr>
            <a:srgbClr val="FBAE40"/>
          </p15:clr>
        </p15:guide>
        <p15:guide id="2" orient="horz" pos="2615">
          <p15:clr>
            <a:srgbClr val="FBAE40"/>
          </p15:clr>
        </p15:guide>
        <p15:guide id="3" pos="5196">
          <p15:clr>
            <a:srgbClr val="FBAE40"/>
          </p15:clr>
        </p15:guide>
        <p15:guide id="4" pos="610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spcBef>
                <a:spcPts val="1200"/>
              </a:spcBef>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hasCustomPrompt="1"/>
          </p:nvPr>
        </p:nvSpPr>
        <p:spPr/>
        <p:txBody>
          <a:bodyPr/>
          <a:lstStyle>
            <a:lvl1pPr>
              <a:defRPr/>
            </a:lvl1pPr>
          </a:lstStyle>
          <a:p>
            <a:r>
              <a:rPr lang="en-US" dirty="0"/>
              <a:t>Slide title</a:t>
            </a:r>
          </a:p>
        </p:txBody>
      </p:sp>
      <p:sp>
        <p:nvSpPr>
          <p:cNvPr id="4" name="Date Placeholder 3">
            <a:extLst>
              <a:ext uri="{FF2B5EF4-FFF2-40B4-BE49-F238E27FC236}">
                <a16:creationId xmlns:a16="http://schemas.microsoft.com/office/drawing/2014/main" id="{706EF7C4-3513-40DF-91A6-018C8E9ACF4C}"/>
              </a:ext>
            </a:extLst>
          </p:cNvPr>
          <p:cNvSpPr>
            <a:spLocks noGrp="1"/>
          </p:cNvSpPr>
          <p:nvPr>
            <p:ph type="dt" sz="half" idx="10"/>
          </p:nvPr>
        </p:nvSpPr>
        <p:spPr/>
        <p:txBody>
          <a:bodyPr/>
          <a:lstStyle/>
          <a:p>
            <a:fld id="{A236C716-DEEC-44F8-9CD7-1B8233E8BB2C}" type="datetime1">
              <a:rPr lang="en-US" smtClean="0"/>
              <a:t>2/9/2026</a:t>
            </a:fld>
            <a:endParaRPr lang="fr-FR" dirty="0"/>
          </a:p>
        </p:txBody>
      </p:sp>
      <p:sp>
        <p:nvSpPr>
          <p:cNvPr id="5" name="Footer Placeholder 4">
            <a:extLst>
              <a:ext uri="{FF2B5EF4-FFF2-40B4-BE49-F238E27FC236}">
                <a16:creationId xmlns:a16="http://schemas.microsoft.com/office/drawing/2014/main" id="{4D2B796A-0B1E-46FA-AC86-9A7803DF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8E223-380C-4295-85FF-7B9C2423BBBE}"/>
              </a:ext>
            </a:extLst>
          </p:cNvPr>
          <p:cNvSpPr>
            <a:spLocks noGrp="1"/>
          </p:cNvSpPr>
          <p:nvPr>
            <p:ph type="sldNum" sz="quarter" idx="12"/>
          </p:nvPr>
        </p:nvSpPr>
        <p:spPr/>
        <p:txBody>
          <a:bodyPr/>
          <a:lstStyle/>
          <a:p>
            <a:fld id="{0579006F-4184-524E-A90C-3FC2A416496D}" type="slidenum">
              <a:rPr lang="fr-FR" smtClean="0"/>
              <a:pPr/>
              <a:t>‹N°›</a:t>
            </a:fld>
            <a:endParaRPr lang="fr-FR" dirty="0"/>
          </a:p>
        </p:txBody>
      </p:sp>
    </p:spTree>
    <p:extLst>
      <p:ext uri="{BB962C8B-B14F-4D97-AF65-F5344CB8AC3E}">
        <p14:creationId xmlns:p14="http://schemas.microsoft.com/office/powerpoint/2010/main" val="3046594614"/>
      </p:ext>
    </p:extLst>
  </p:cSld>
  <p:clrMapOvr>
    <a:masterClrMapping/>
  </p:clrMapOvr>
  <p:hf hdr="0" ftr="0"/>
  <p:extLst>
    <p:ext uri="{DCECCB84-F9BA-43D5-87BE-67443E8EF086}">
      <p15:sldGuideLst xmlns:p15="http://schemas.microsoft.com/office/powerpoint/2012/main">
        <p15:guide id="1" pos="5654">
          <p15:clr>
            <a:srgbClr val="FBAE40"/>
          </p15:clr>
        </p15:guide>
        <p15:guide id="2" pos="726">
          <p15:clr>
            <a:srgbClr val="FBAE40"/>
          </p15:clr>
        </p15:guide>
        <p15:guide id="3" orient="horz" pos="137">
          <p15:clr>
            <a:srgbClr val="FBAE40"/>
          </p15:clr>
        </p15:guide>
        <p15:guide id="4" orient="horz" pos="6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19399" y="419894"/>
            <a:ext cx="9372601" cy="1484312"/>
          </a:xfrm>
          <a:solidFill>
            <a:schemeClr val="accent4"/>
          </a:solidFill>
        </p:spPr>
        <p:txBody>
          <a:bodyPr vert="horz" lIns="91440" tIns="45720" rIns="288000" bIns="45720" rtlCol="0" anchor="ctr">
            <a:noAutofit/>
          </a:bodyPr>
          <a:lstStyle>
            <a:lvl1pPr marL="263525" indent="0" algn="l">
              <a:defRPr lang="en-US" sz="3600" b="1" dirty="0">
                <a:solidFill>
                  <a:schemeClr val="tx1"/>
                </a:solidFill>
              </a:defRPr>
            </a:lvl1pPr>
          </a:lstStyle>
          <a:p>
            <a:pPr lvl="0"/>
            <a:r>
              <a:rPr lang="en-US" dirty="0"/>
              <a:t>Section title</a:t>
            </a:r>
          </a:p>
        </p:txBody>
      </p:sp>
      <p:pic>
        <p:nvPicPr>
          <p:cNvPr id="6" name="Graphic 5">
            <a:extLst>
              <a:ext uri="{FF2B5EF4-FFF2-40B4-BE49-F238E27FC236}">
                <a16:creationId xmlns:a16="http://schemas.microsoft.com/office/drawing/2014/main" id="{2010E20D-C2F4-4C57-9379-900BECBE540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1556" y="6094699"/>
            <a:ext cx="990025" cy="763207"/>
          </a:xfrm>
          <a:prstGeom prst="rect">
            <a:avLst/>
          </a:prstGeom>
        </p:spPr>
      </p:pic>
      <p:sp>
        <p:nvSpPr>
          <p:cNvPr id="7" name="Picture Placeholder 6">
            <a:extLst>
              <a:ext uri="{FF2B5EF4-FFF2-40B4-BE49-F238E27FC236}">
                <a16:creationId xmlns:a16="http://schemas.microsoft.com/office/drawing/2014/main" id="{83CCF378-34BF-4EE7-87EE-0F21AAF7F209}"/>
              </a:ext>
            </a:extLst>
          </p:cNvPr>
          <p:cNvSpPr>
            <a:spLocks noGrp="1"/>
          </p:cNvSpPr>
          <p:nvPr>
            <p:ph type="pic" sz="quarter" idx="10" hasCustomPrompt="1"/>
          </p:nvPr>
        </p:nvSpPr>
        <p:spPr>
          <a:xfrm>
            <a:off x="0" y="1304925"/>
            <a:ext cx="12192000" cy="5553075"/>
          </a:xfrm>
          <a:custGeom>
            <a:avLst/>
            <a:gdLst>
              <a:gd name="connsiteX0" fmla="*/ 0 w 12192000"/>
              <a:gd name="connsiteY0" fmla="*/ 5552981 h 5553075"/>
              <a:gd name="connsiteX1" fmla="*/ 12192000 w 12192000"/>
              <a:gd name="connsiteY1" fmla="*/ 5552981 h 5553075"/>
              <a:gd name="connsiteX2" fmla="*/ 12192000 w 12192000"/>
              <a:gd name="connsiteY2" fmla="*/ 5553075 h 5553075"/>
              <a:gd name="connsiteX3" fmla="*/ 0 w 12192000"/>
              <a:gd name="connsiteY3" fmla="*/ 5553075 h 5553075"/>
              <a:gd name="connsiteX4" fmla="*/ 0 w 12192000"/>
              <a:gd name="connsiteY4" fmla="*/ 0 h 5553075"/>
              <a:gd name="connsiteX5" fmla="*/ 2819401 w 12192000"/>
              <a:gd name="connsiteY5" fmla="*/ 0 h 5553075"/>
              <a:gd name="connsiteX6" fmla="*/ 2819401 w 12192000"/>
              <a:gd name="connsiteY6" fmla="*/ 599281 h 5553075"/>
              <a:gd name="connsiteX7" fmla="*/ 12192000 w 12192000"/>
              <a:gd name="connsiteY7" fmla="*/ 599281 h 5553075"/>
              <a:gd name="connsiteX8" fmla="*/ 12192000 w 12192000"/>
              <a:gd name="connsiteY8" fmla="*/ 4787900 h 5553075"/>
              <a:gd name="connsiteX9" fmla="*/ 1683657 w 12192000"/>
              <a:gd name="connsiteY9" fmla="*/ 4787900 h 5553075"/>
              <a:gd name="connsiteX10" fmla="*/ 1683657 w 12192000"/>
              <a:gd name="connsiteY10" fmla="*/ 4631418 h 5553075"/>
              <a:gd name="connsiteX11" fmla="*/ 0 w 12192000"/>
              <a:gd name="connsiteY11" fmla="*/ 4631418 h 555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553075">
                <a:moveTo>
                  <a:pt x="0" y="5552981"/>
                </a:moveTo>
                <a:lnTo>
                  <a:pt x="12192000" y="5552981"/>
                </a:lnTo>
                <a:lnTo>
                  <a:pt x="12192000" y="5553075"/>
                </a:lnTo>
                <a:lnTo>
                  <a:pt x="0" y="5553075"/>
                </a:lnTo>
                <a:close/>
                <a:moveTo>
                  <a:pt x="0" y="0"/>
                </a:moveTo>
                <a:lnTo>
                  <a:pt x="2819401" y="0"/>
                </a:lnTo>
                <a:lnTo>
                  <a:pt x="2819401" y="599281"/>
                </a:lnTo>
                <a:lnTo>
                  <a:pt x="12192000" y="599281"/>
                </a:lnTo>
                <a:lnTo>
                  <a:pt x="12192000" y="4787900"/>
                </a:lnTo>
                <a:lnTo>
                  <a:pt x="1683657" y="4787900"/>
                </a:lnTo>
                <a:lnTo>
                  <a:pt x="1683657" y="4631418"/>
                </a:lnTo>
                <a:lnTo>
                  <a:pt x="0" y="4631418"/>
                </a:lnTo>
                <a:close/>
              </a:path>
            </a:pathLst>
          </a:custGeom>
          <a:noFill/>
        </p:spPr>
        <p:txBody>
          <a:bodyPr vert="horz" wrap="none" lIns="91440" tIns="45720" rIns="90000" bIns="45720" rtlCol="0" anchor="ctr">
            <a:noAutofit/>
          </a:bodyPr>
          <a:lstStyle>
            <a:lvl1pPr algn="ctr">
              <a:buClr>
                <a:schemeClr val="tx1"/>
              </a:buClr>
              <a:defRPr lang="en-US" baseline="0">
                <a:solidFill>
                  <a:schemeClr val="bg2"/>
                </a:solidFill>
              </a:defRPr>
            </a:lvl1pPr>
          </a:lstStyle>
          <a:p>
            <a:pPr marL="261938" lvl="0" indent="-261938" algn="ctr"/>
            <a:r>
              <a:rPr lang="en-US" dirty="0"/>
              <a:t>Drag and drop a picture here (optional)</a:t>
            </a:r>
          </a:p>
        </p:txBody>
      </p:sp>
    </p:spTree>
    <p:extLst>
      <p:ext uri="{BB962C8B-B14F-4D97-AF65-F5344CB8AC3E}">
        <p14:creationId xmlns:p14="http://schemas.microsoft.com/office/powerpoint/2010/main" val="754355442"/>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00037" y="1484313"/>
            <a:ext cx="5719763" cy="4608512"/>
          </a:xfrm>
        </p:spPr>
        <p:txBody>
          <a:bodyPr/>
          <a:lstStyle>
            <a:lvl1pPr marL="261938" indent="-261938">
              <a:buFont typeface="Arial" panose="020B0604020202020204" pitchFamily="34" charset="0"/>
              <a:buChar char="•"/>
              <a:defRPr/>
            </a:lvl1pPr>
            <a:lvl2pPr marL="536575" indent="-266700">
              <a:buFont typeface="Arial" panose="020B0604020202020204" pitchFamily="34" charset="0"/>
              <a:buChar char="•"/>
              <a:defRPr/>
            </a:lvl2pPr>
            <a:lvl3pPr marL="812800" indent="-273050">
              <a:buFont typeface="Arial" panose="020B0604020202020204" pitchFamily="34" charset="0"/>
              <a:buChar char="•"/>
              <a:defRPr/>
            </a:lvl3pPr>
            <a:lvl4pPr marL="987425" indent="-268288">
              <a:buFont typeface="Arial" panose="020B0604020202020204" pitchFamily="34" charset="0"/>
              <a:buChar char="•"/>
              <a:defRPr/>
            </a:lvl4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096000" y="1484313"/>
            <a:ext cx="5720400" cy="4608512"/>
          </a:xfrm>
        </p:spPr>
        <p:txBody>
          <a:bodyPr/>
          <a:lstStyle>
            <a:lvl1pPr>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53788507-3E03-4FB3-A132-78A9397820B6}"/>
              </a:ext>
            </a:extLst>
          </p:cNvPr>
          <p:cNvSpPr>
            <a:spLocks noGrp="1"/>
          </p:cNvSpPr>
          <p:nvPr>
            <p:ph type="dt" sz="half" idx="10"/>
          </p:nvPr>
        </p:nvSpPr>
        <p:spPr/>
        <p:txBody>
          <a:bodyPr/>
          <a:lstStyle/>
          <a:p>
            <a:fld id="{A236C716-DEEC-44F8-9CD7-1B8233E8BB2C}" type="datetime1">
              <a:rPr lang="en-US" smtClean="0"/>
              <a:t>2/9/2026</a:t>
            </a:fld>
            <a:endParaRPr lang="fr-FR" dirty="0"/>
          </a:p>
        </p:txBody>
      </p:sp>
      <p:sp>
        <p:nvSpPr>
          <p:cNvPr id="7" name="Footer Placeholder 6">
            <a:extLst>
              <a:ext uri="{FF2B5EF4-FFF2-40B4-BE49-F238E27FC236}">
                <a16:creationId xmlns:a16="http://schemas.microsoft.com/office/drawing/2014/main" id="{49E28F68-9BF2-4E8D-9900-2B961920C10C}"/>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2468ACE-19CE-4D11-BE8C-BF854FA85EA3}"/>
              </a:ext>
            </a:extLst>
          </p:cNvPr>
          <p:cNvSpPr>
            <a:spLocks noGrp="1"/>
          </p:cNvSpPr>
          <p:nvPr>
            <p:ph type="sldNum" sz="quarter" idx="12"/>
          </p:nvPr>
        </p:nvSpPr>
        <p:spPr/>
        <p:txBody>
          <a:bodyPr/>
          <a:lstStyle/>
          <a:p>
            <a:fld id="{0579006F-4184-524E-A90C-3FC2A416496D}" type="slidenum">
              <a:rPr lang="fr-FR" smtClean="0"/>
              <a:pPr/>
              <a:t>‹N°›</a:t>
            </a:fld>
            <a:endParaRPr lang="fr-FR" dirty="0"/>
          </a:p>
        </p:txBody>
      </p:sp>
    </p:spTree>
    <p:extLst>
      <p:ext uri="{BB962C8B-B14F-4D97-AF65-F5344CB8AC3E}">
        <p14:creationId xmlns:p14="http://schemas.microsoft.com/office/powerpoint/2010/main" val="580937774"/>
      </p:ext>
    </p:extLst>
  </p:cSld>
  <p:clrMapOvr>
    <a:masterClrMapping/>
  </p:clrMapOvr>
  <p:hf hdr="0" ftr="0"/>
  <p:extLst>
    <p:ext uri="{DCECCB84-F9BA-43D5-87BE-67443E8EF086}">
      <p15:sldGuideLst xmlns:p15="http://schemas.microsoft.com/office/powerpoint/2012/main">
        <p15:guide id="1" orient="horz" pos="674">
          <p15:clr>
            <a:srgbClr val="FBAE40"/>
          </p15:clr>
        </p15:guide>
        <p15:guide id="2" orient="horz" pos="137">
          <p15:clr>
            <a:srgbClr val="FBAE40"/>
          </p15:clr>
        </p15:guide>
        <p15:guide id="3" pos="726">
          <p15:clr>
            <a:srgbClr val="FBAE40"/>
          </p15:clr>
        </p15:guide>
        <p15:guide id="4" pos="565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3"/>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69297BAC-5561-499E-BBCB-6D6E1FD7DF7B}"/>
              </a:ext>
            </a:extLst>
          </p:cNvPr>
          <p:cNvSpPr>
            <a:spLocks noGrp="1"/>
          </p:cNvSpPr>
          <p:nvPr>
            <p:ph type="dt" sz="half" idx="10"/>
          </p:nvPr>
        </p:nvSpPr>
        <p:spPr/>
        <p:txBody>
          <a:bodyPr/>
          <a:lstStyle/>
          <a:p>
            <a:fld id="{A236C716-DEEC-44F8-9CD7-1B8233E8BB2C}" type="datetime1">
              <a:rPr lang="en-US" smtClean="0"/>
              <a:t>2/9/2026</a:t>
            </a:fld>
            <a:endParaRPr lang="fr-FR" dirty="0"/>
          </a:p>
        </p:txBody>
      </p:sp>
      <p:sp>
        <p:nvSpPr>
          <p:cNvPr id="5" name="Footer Placeholder 4">
            <a:extLst>
              <a:ext uri="{FF2B5EF4-FFF2-40B4-BE49-F238E27FC236}">
                <a16:creationId xmlns:a16="http://schemas.microsoft.com/office/drawing/2014/main" id="{01525733-58EA-4C07-864D-B4CB76D0D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75373-7992-498D-9AB1-3D8254424717}"/>
              </a:ext>
            </a:extLst>
          </p:cNvPr>
          <p:cNvSpPr>
            <a:spLocks noGrp="1"/>
          </p:cNvSpPr>
          <p:nvPr>
            <p:ph type="sldNum" sz="quarter" idx="12"/>
          </p:nvPr>
        </p:nvSpPr>
        <p:spPr/>
        <p:txBody>
          <a:bodyPr/>
          <a:lstStyle/>
          <a:p>
            <a:fld id="{0579006F-4184-524E-A90C-3FC2A416496D}" type="slidenum">
              <a:rPr lang="fr-FR" smtClean="0"/>
              <a:pPr/>
              <a:t>‹N°›</a:t>
            </a:fld>
            <a:endParaRPr lang="fr-FR" dirty="0"/>
          </a:p>
        </p:txBody>
      </p:sp>
    </p:spTree>
    <p:extLst>
      <p:ext uri="{BB962C8B-B14F-4D97-AF65-F5344CB8AC3E}">
        <p14:creationId xmlns:p14="http://schemas.microsoft.com/office/powerpoint/2010/main" val="3675389192"/>
      </p:ext>
    </p:extLst>
  </p:cSld>
  <p:clrMapOvr>
    <a:masterClrMapping/>
  </p:clrMapOvr>
  <p:hf hdr="0" ftr="0"/>
  <p:extLst>
    <p:ext uri="{DCECCB84-F9BA-43D5-87BE-67443E8EF086}">
      <p15:sldGuideLst xmlns:p15="http://schemas.microsoft.com/office/powerpoint/2012/main">
        <p15:guide id="1" pos="5654">
          <p15:clr>
            <a:srgbClr val="FBAE40"/>
          </p15:clr>
        </p15:guide>
        <p15:guide id="2" orient="horz" pos="2160">
          <p15:clr>
            <a:srgbClr val="FBAE40"/>
          </p15:clr>
        </p15:guide>
        <p15:guide id="3" orient="horz" pos="674">
          <p15:clr>
            <a:srgbClr val="FBAE40"/>
          </p15:clr>
        </p15:guide>
        <p15:guide id="4" orient="horz" pos="137">
          <p15:clr>
            <a:srgbClr val="FBAE40"/>
          </p15:clr>
        </p15:guide>
        <p15:guide id="5" pos="72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125953C-BDCE-466C-B5D1-10A5597F7220}"/>
              </a:ext>
            </a:extLst>
          </p:cNvPr>
          <p:cNvSpPr>
            <a:spLocks noGrp="1"/>
          </p:cNvSpPr>
          <p:nvPr>
            <p:ph type="dt" sz="half" idx="10"/>
          </p:nvPr>
        </p:nvSpPr>
        <p:spPr/>
        <p:txBody>
          <a:bodyPr/>
          <a:lstStyle/>
          <a:p>
            <a:fld id="{A236C716-DEEC-44F8-9CD7-1B8233E8BB2C}" type="datetime1">
              <a:rPr lang="en-US" smtClean="0"/>
              <a:t>2/9/2026</a:t>
            </a:fld>
            <a:endParaRPr lang="fr-FR" dirty="0"/>
          </a:p>
        </p:txBody>
      </p:sp>
      <p:sp>
        <p:nvSpPr>
          <p:cNvPr id="4" name="Footer Placeholder 3">
            <a:extLst>
              <a:ext uri="{FF2B5EF4-FFF2-40B4-BE49-F238E27FC236}">
                <a16:creationId xmlns:a16="http://schemas.microsoft.com/office/drawing/2014/main" id="{35093A61-3D0C-4D22-A38C-FED809C56B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CFF57E-942B-4161-B1AA-AAC9C60FE343}"/>
              </a:ext>
            </a:extLst>
          </p:cNvPr>
          <p:cNvSpPr>
            <a:spLocks noGrp="1"/>
          </p:cNvSpPr>
          <p:nvPr>
            <p:ph type="sldNum" sz="quarter" idx="12"/>
          </p:nvPr>
        </p:nvSpPr>
        <p:spPr/>
        <p:txBody>
          <a:bodyPr/>
          <a:lstStyle/>
          <a:p>
            <a:fld id="{0579006F-4184-524E-A90C-3FC2A416496D}" type="slidenum">
              <a:rPr lang="fr-FR" smtClean="0"/>
              <a:pPr/>
              <a:t>‹N°›</a:t>
            </a:fld>
            <a:endParaRPr lang="fr-FR" dirty="0"/>
          </a:p>
        </p:txBody>
      </p:sp>
    </p:spTree>
    <p:extLst>
      <p:ext uri="{BB962C8B-B14F-4D97-AF65-F5344CB8AC3E}">
        <p14:creationId xmlns:p14="http://schemas.microsoft.com/office/powerpoint/2010/main" val="1801793822"/>
      </p:ext>
    </p:extLst>
  </p:cSld>
  <p:clrMapOvr>
    <a:masterClrMapping/>
  </p:clrMapOvr>
  <p:hf hdr="0" ftr="0"/>
  <p:extLst>
    <p:ext uri="{DCECCB84-F9BA-43D5-87BE-67443E8EF086}">
      <p15:sldGuideLst xmlns:p15="http://schemas.microsoft.com/office/powerpoint/2012/main">
        <p15:guide id="1" orient="horz" pos="2160">
          <p15:clr>
            <a:srgbClr val="FBAE40"/>
          </p15:clr>
        </p15:guide>
        <p15:guide id="2" orient="horz" pos="674">
          <p15:clr>
            <a:srgbClr val="FBAE40"/>
          </p15:clr>
        </p15:guide>
        <p15:guide id="3" orient="horz" pos="137">
          <p15:clr>
            <a:srgbClr val="FBAE40"/>
          </p15:clr>
        </p15:guide>
        <p15:guide id="4" pos="72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52E30E9-1079-4CF5-8813-8B65FB05D6D8}"/>
              </a:ext>
            </a:extLst>
          </p:cNvPr>
          <p:cNvGrpSpPr/>
          <p:nvPr/>
        </p:nvGrpSpPr>
        <p:grpSpPr>
          <a:xfrm>
            <a:off x="-1" y="0"/>
            <a:ext cx="12192001" cy="6858000"/>
            <a:chOff x="-1" y="0"/>
            <a:chExt cx="12192001" cy="6858000"/>
          </a:xfrm>
        </p:grpSpPr>
        <p:sp>
          <p:nvSpPr>
            <p:cNvPr id="12" name="Rectangle 11">
              <a:extLst>
                <a:ext uri="{FF2B5EF4-FFF2-40B4-BE49-F238E27FC236}">
                  <a16:creationId xmlns:a16="http://schemas.microsoft.com/office/drawing/2014/main" id="{2A1E53E3-FC79-490F-927D-EDA5C06E6818}"/>
                </a:ext>
              </a:extLst>
            </p:cNvPr>
            <p:cNvSpPr/>
            <p:nvPr/>
          </p:nvSpPr>
          <p:spPr>
            <a:xfrm>
              <a:off x="0" y="0"/>
              <a:ext cx="12192000" cy="6854862"/>
            </a:xfrm>
            <a:prstGeom prst="rect">
              <a:avLst/>
            </a:prstGeom>
            <a:solidFill>
              <a:srgbClr val="00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1">
              <a:extLst>
                <a:ext uri="{FF2B5EF4-FFF2-40B4-BE49-F238E27FC236}">
                  <a16:creationId xmlns:a16="http://schemas.microsoft.com/office/drawing/2014/main" id="{8BD6E22D-9F81-4B7A-A71E-BBB4177578ED}"/>
                </a:ext>
              </a:extLst>
            </p:cNvPr>
            <p:cNvGrpSpPr/>
            <p:nvPr userDrawn="1"/>
          </p:nvGrpSpPr>
          <p:grpSpPr>
            <a:xfrm>
              <a:off x="-1" y="4152900"/>
              <a:ext cx="12191999" cy="2705100"/>
              <a:chOff x="1" y="4152900"/>
              <a:chExt cx="12191999" cy="2705100"/>
            </a:xfrm>
          </p:grpSpPr>
          <p:sp>
            <p:nvSpPr>
              <p:cNvPr id="9" name="Freeform 21">
                <a:extLst>
                  <a:ext uri="{FF2B5EF4-FFF2-40B4-BE49-F238E27FC236}">
                    <a16:creationId xmlns:a16="http://schemas.microsoft.com/office/drawing/2014/main" id="{B428783B-02FD-4849-BFB2-D1C2BC8E88B5}"/>
                  </a:ext>
                </a:extLst>
              </p:cNvPr>
              <p:cNvSpPr/>
              <p:nvPr/>
            </p:nvSpPr>
            <p:spPr>
              <a:xfrm>
                <a:off x="1" y="4152900"/>
                <a:ext cx="12191999" cy="2705100"/>
              </a:xfrm>
              <a:custGeom>
                <a:avLst/>
                <a:gdLst>
                  <a:gd name="connsiteX0" fmla="*/ 0 w 12191999"/>
                  <a:gd name="connsiteY0" fmla="*/ 0 h 2705100"/>
                  <a:gd name="connsiteX1" fmla="*/ 1104899 w 12191999"/>
                  <a:gd name="connsiteY1" fmla="*/ 0 h 2705100"/>
                  <a:gd name="connsiteX2" fmla="*/ 1104899 w 12191999"/>
                  <a:gd name="connsiteY2" fmla="*/ 1422400 h 2705100"/>
                  <a:gd name="connsiteX3" fmla="*/ 12191999 w 12191999"/>
                  <a:gd name="connsiteY3" fmla="*/ 1422400 h 2705100"/>
                  <a:gd name="connsiteX4" fmla="*/ 12191999 w 12191999"/>
                  <a:gd name="connsiteY4" fmla="*/ 2705100 h 2705100"/>
                  <a:gd name="connsiteX5" fmla="*/ 1 w 12191999"/>
                  <a:gd name="connsiteY5" fmla="*/ 2705100 h 2705100"/>
                  <a:gd name="connsiteX6" fmla="*/ 1 w 12191999"/>
                  <a:gd name="connsiteY6" fmla="*/ 1543050 h 2705100"/>
                  <a:gd name="connsiteX7" fmla="*/ 0 w 12191999"/>
                  <a:gd name="connsiteY7" fmla="*/ 1543050 h 2705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705100">
                    <a:moveTo>
                      <a:pt x="0" y="0"/>
                    </a:moveTo>
                    <a:lnTo>
                      <a:pt x="1104899" y="0"/>
                    </a:lnTo>
                    <a:lnTo>
                      <a:pt x="1104899" y="1422400"/>
                    </a:lnTo>
                    <a:lnTo>
                      <a:pt x="12191999" y="1422400"/>
                    </a:lnTo>
                    <a:lnTo>
                      <a:pt x="12191999" y="2705100"/>
                    </a:lnTo>
                    <a:lnTo>
                      <a:pt x="1" y="2705100"/>
                    </a:lnTo>
                    <a:lnTo>
                      <a:pt x="1" y="1543050"/>
                    </a:lnTo>
                    <a:lnTo>
                      <a:pt x="0" y="154305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Rectangle 9">
                <a:extLst>
                  <a:ext uri="{FF2B5EF4-FFF2-40B4-BE49-F238E27FC236}">
                    <a16:creationId xmlns:a16="http://schemas.microsoft.com/office/drawing/2014/main" id="{A6B1C6E9-C7C0-445A-8911-23E57FA33B25}"/>
                  </a:ext>
                </a:extLst>
              </p:cNvPr>
              <p:cNvSpPr/>
              <p:nvPr/>
            </p:nvSpPr>
            <p:spPr>
              <a:xfrm>
                <a:off x="219560" y="5822714"/>
                <a:ext cx="9395219" cy="830997"/>
              </a:xfrm>
              <a:prstGeom prst="rect">
                <a:avLst/>
              </a:prstGeom>
            </p:spPr>
            <p:txBody>
              <a:bodyPr wrap="square">
                <a:spAutoFit/>
              </a:bodyPr>
              <a:lstStyle/>
              <a:p>
                <a:r>
                  <a:rPr lang="en-US" sz="1200" dirty="0">
                    <a:solidFill>
                      <a:srgbClr val="00234B"/>
                    </a:solidFill>
                    <a:latin typeface="Arial" panose="020B0604020202020204" pitchFamily="34" charset="0"/>
                  </a:rPr>
                  <a:t>© STMicroelectronics - All rights reserved.</a:t>
                </a:r>
                <a:br>
                  <a:rPr lang="en-US" sz="1200" dirty="0">
                    <a:solidFill>
                      <a:srgbClr val="00234B"/>
                    </a:solidFill>
                    <a:latin typeface="Arial" panose="020B0604020202020204" pitchFamily="34" charset="0"/>
                  </a:rPr>
                </a:br>
                <a:r>
                  <a:rPr lang="en-US" sz="1200" kern="1200" dirty="0">
                    <a:solidFill>
                      <a:srgbClr val="00234B"/>
                    </a:solidFill>
                    <a:latin typeface="Arial" panose="020B0604020202020204" pitchFamily="34" charset="0"/>
                    <a:ea typeface="+mn-ea"/>
                    <a:cs typeface="+mn-cs"/>
                  </a:rPr>
                  <a:t>ST logo is a trademark or a registered trademark of STMicroelectronics International NV or its affiliates in the EU and/or other countries. For additional information about ST trademarks, please refer to </a:t>
                </a:r>
                <a:r>
                  <a:rPr lang="en-US" sz="1200" kern="1200" dirty="0">
                    <a:solidFill>
                      <a:srgbClr val="00234B"/>
                    </a:solidFill>
                    <a:latin typeface="Arial" panose="020B0604020202020204" pitchFamily="34" charset="0"/>
                    <a:ea typeface="+mn-ea"/>
                    <a:cs typeface="+mn-cs"/>
                    <a:hlinkClick r:id="rId2">
                      <a:extLst>
                        <a:ext uri="{A12FA001-AC4F-418D-AE19-62706E023703}">
                          <ahyp:hlinkClr xmlns:ahyp="http://schemas.microsoft.com/office/drawing/2018/hyperlinkcolor" val="tx"/>
                        </a:ext>
                      </a:extLst>
                    </a:hlinkClick>
                  </a:rPr>
                  <a:t>www.st.com/trademarks</a:t>
                </a:r>
                <a:r>
                  <a:rPr lang="en-US" sz="1200" kern="1200" dirty="0">
                    <a:solidFill>
                      <a:srgbClr val="00234B"/>
                    </a:solidFill>
                    <a:latin typeface="Arial" panose="020B0604020202020204" pitchFamily="34" charset="0"/>
                    <a:ea typeface="+mn-ea"/>
                    <a:cs typeface="+mn-cs"/>
                  </a:rPr>
                  <a:t>. </a:t>
                </a:r>
                <a:br>
                  <a:rPr lang="en-US" sz="1200" kern="1200" dirty="0">
                    <a:solidFill>
                      <a:srgbClr val="00234B"/>
                    </a:solidFill>
                    <a:latin typeface="Arial" panose="020B0604020202020204" pitchFamily="34" charset="0"/>
                    <a:ea typeface="+mn-ea"/>
                    <a:cs typeface="+mn-cs"/>
                  </a:rPr>
                </a:br>
                <a:r>
                  <a:rPr lang="en-US" sz="1200" kern="1200" dirty="0">
                    <a:solidFill>
                      <a:srgbClr val="00234B"/>
                    </a:solidFill>
                    <a:latin typeface="Arial" panose="020B0604020202020204" pitchFamily="34" charset="0"/>
                    <a:ea typeface="+mn-ea"/>
                    <a:cs typeface="+mn-cs"/>
                  </a:rPr>
                  <a:t>All other product or service names are the property of their respective owners.</a:t>
                </a:r>
              </a:p>
            </p:txBody>
          </p:sp>
          <p:pic>
            <p:nvPicPr>
              <p:cNvPr id="11" name="Graphic 10">
                <a:extLst>
                  <a:ext uri="{FF2B5EF4-FFF2-40B4-BE49-F238E27FC236}">
                    <a16:creationId xmlns:a16="http://schemas.microsoft.com/office/drawing/2014/main" id="{B3C9C090-4752-447B-8BD0-B0518657236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5600" y="5621565"/>
                <a:ext cx="1599819" cy="1233297"/>
              </a:xfrm>
              <a:prstGeom prst="rect">
                <a:avLst/>
              </a:prstGeom>
            </p:spPr>
          </p:pic>
        </p:grpSp>
      </p:grpSp>
      <p:pic>
        <p:nvPicPr>
          <p:cNvPr id="5" name="Picture 4">
            <a:extLst>
              <a:ext uri="{FF2B5EF4-FFF2-40B4-BE49-F238E27FC236}">
                <a16:creationId xmlns:a16="http://schemas.microsoft.com/office/drawing/2014/main" id="{07C8CE8D-FE25-40F5-A966-5717F85ACF9F}"/>
              </a:ext>
            </a:extLst>
          </p:cNvPr>
          <p:cNvPicPr>
            <a:picLocks noChangeAspect="1"/>
          </p:cNvPicPr>
          <p:nvPr/>
        </p:nvPicPr>
        <p:blipFill>
          <a:blip r:embed="rId5"/>
          <a:stretch>
            <a:fillRect/>
          </a:stretch>
        </p:blipFill>
        <p:spPr>
          <a:xfrm>
            <a:off x="2959336" y="1565049"/>
            <a:ext cx="6273328" cy="2280102"/>
          </a:xfrm>
          <a:prstGeom prst="rect">
            <a:avLst/>
          </a:prstGeom>
        </p:spPr>
      </p:pic>
    </p:spTree>
    <p:extLst>
      <p:ext uri="{BB962C8B-B14F-4D97-AF65-F5344CB8AC3E}">
        <p14:creationId xmlns:p14="http://schemas.microsoft.com/office/powerpoint/2010/main" val="2374518721"/>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0EE782-C82C-4249-B547-EB14D1B2B5E0}"/>
              </a:ext>
            </a:extLst>
          </p:cNvPr>
          <p:cNvSpPr>
            <a:spLocks noGrp="1"/>
          </p:cNvSpPr>
          <p:nvPr>
            <p:ph type="sldNum" sz="quarter" idx="10"/>
          </p:nvPr>
        </p:nvSpPr>
        <p:spPr/>
        <p:txBody>
          <a:bodyPr/>
          <a:lstStyle/>
          <a:p>
            <a:fld id="{0579006F-4184-524E-A90C-3FC2A416496D}" type="slidenum">
              <a:rPr lang="fr-FR" smtClean="0"/>
              <a:pPr/>
              <a:t>‹N°›</a:t>
            </a:fld>
            <a:endParaRPr lang="fr-FR" dirty="0"/>
          </a:p>
        </p:txBody>
      </p:sp>
      <p:sp>
        <p:nvSpPr>
          <p:cNvPr id="4" name="Date Placeholder 3">
            <a:extLst>
              <a:ext uri="{FF2B5EF4-FFF2-40B4-BE49-F238E27FC236}">
                <a16:creationId xmlns:a16="http://schemas.microsoft.com/office/drawing/2014/main" id="{AB3DE8CA-6E55-46D4-8BB1-024A9C8FD4CA}"/>
              </a:ext>
            </a:extLst>
          </p:cNvPr>
          <p:cNvSpPr>
            <a:spLocks noGrp="1"/>
          </p:cNvSpPr>
          <p:nvPr>
            <p:ph type="dt" sz="half" idx="11"/>
          </p:nvPr>
        </p:nvSpPr>
        <p:spPr/>
        <p:txBody>
          <a:bodyPr/>
          <a:lstStyle/>
          <a:p>
            <a:fld id="{A236C716-DEEC-44F8-9CD7-1B8233E8BB2C}" type="datetime1">
              <a:rPr lang="en-US" smtClean="0"/>
              <a:t>2/9/2026</a:t>
            </a:fld>
            <a:endParaRPr lang="fr-FR" dirty="0"/>
          </a:p>
        </p:txBody>
      </p:sp>
      <p:sp>
        <p:nvSpPr>
          <p:cNvPr id="8" name="Text Placeholder 7">
            <a:extLst>
              <a:ext uri="{FF2B5EF4-FFF2-40B4-BE49-F238E27FC236}">
                <a16:creationId xmlns:a16="http://schemas.microsoft.com/office/drawing/2014/main" id="{DEDE1B7C-156C-450E-9E03-E965737874B4}"/>
              </a:ext>
            </a:extLst>
          </p:cNvPr>
          <p:cNvSpPr>
            <a:spLocks noGrp="1"/>
          </p:cNvSpPr>
          <p:nvPr>
            <p:ph type="body" sz="quarter" idx="12"/>
          </p:nvPr>
        </p:nvSpPr>
        <p:spPr>
          <a:xfrm>
            <a:off x="119063" y="115888"/>
            <a:ext cx="10153650" cy="720725"/>
          </a:xfrm>
          <a:prstGeom prst="rect">
            <a:avLst/>
          </a:prstGeom>
        </p:spPr>
        <p:txBody>
          <a:bodyPr/>
          <a:lstStyle>
            <a:lvl1pPr>
              <a:defRPr b="1">
                <a:solidFill>
                  <a:srgbClr val="002060"/>
                </a:solidFill>
                <a:effectLst/>
                <a:latin typeface="+mj-lt"/>
              </a:defRPr>
            </a:lvl1pPr>
          </a:lstStyle>
          <a:p>
            <a:pPr lvl="0"/>
            <a:r>
              <a:rPr lang="fr-FR" noProof="0" dirty="0"/>
              <a:t>Click to </a:t>
            </a:r>
            <a:r>
              <a:rPr lang="fr-FR" noProof="0" dirty="0" err="1"/>
              <a:t>edit</a:t>
            </a:r>
            <a:r>
              <a:rPr lang="fr-FR" noProof="0" dirty="0"/>
              <a:t> Master </a:t>
            </a:r>
            <a:r>
              <a:rPr lang="fr-FR" noProof="0" dirty="0" err="1"/>
              <a:t>text</a:t>
            </a:r>
            <a:r>
              <a:rPr lang="fr-FR" noProof="0" dirty="0"/>
              <a:t> styles</a:t>
            </a:r>
          </a:p>
        </p:txBody>
      </p:sp>
      <p:sp>
        <p:nvSpPr>
          <p:cNvPr id="10" name="Text Placeholder 9">
            <a:extLst>
              <a:ext uri="{FF2B5EF4-FFF2-40B4-BE49-F238E27FC236}">
                <a16:creationId xmlns:a16="http://schemas.microsoft.com/office/drawing/2014/main" id="{C0D0EAA7-4717-4677-93E4-5956B73F0AF1}"/>
              </a:ext>
            </a:extLst>
          </p:cNvPr>
          <p:cNvSpPr>
            <a:spLocks noGrp="1"/>
          </p:cNvSpPr>
          <p:nvPr>
            <p:ph type="body" sz="quarter" idx="13"/>
          </p:nvPr>
        </p:nvSpPr>
        <p:spPr>
          <a:xfrm>
            <a:off x="119063" y="980729"/>
            <a:ext cx="11880850" cy="1728192"/>
          </a:xfrm>
          <a:prstGeom prst="rect">
            <a:avLst/>
          </a:prstGeom>
        </p:spPr>
        <p:txBody>
          <a:bodyPr/>
          <a:lstStyle>
            <a:lvl1pPr>
              <a:spcBef>
                <a:spcPts val="600"/>
              </a:spcBef>
              <a:defRPr sz="2000"/>
            </a:lvl1pPr>
            <a:lvl2pPr>
              <a:spcBef>
                <a:spcPts val="600"/>
              </a:spcBef>
              <a:defRPr sz="1800"/>
            </a:lvl2pPr>
            <a:lvl3pPr>
              <a:spcBef>
                <a:spcPts val="600"/>
              </a:spcBef>
              <a:defRPr sz="1600"/>
            </a:lvl3pPr>
            <a:lvl4pPr>
              <a:spcBef>
                <a:spcPts val="600"/>
              </a:spcBef>
              <a:defRPr sz="1400"/>
            </a:lvl4pPr>
            <a:lvl5pPr>
              <a:spcBef>
                <a:spcPts val="600"/>
              </a:spcBef>
              <a:defRPr sz="1400"/>
            </a:lvl5pPr>
          </a:lstStyle>
          <a:p>
            <a:pPr lvl="0"/>
            <a:r>
              <a:rPr lang="fr-FR" noProof="0"/>
              <a:t>Click to edit Master text styles</a:t>
            </a:r>
          </a:p>
          <a:p>
            <a:pPr lvl="1"/>
            <a:r>
              <a:rPr lang="fr-FR" noProof="0"/>
              <a:t>Second level</a:t>
            </a:r>
          </a:p>
          <a:p>
            <a:pPr lvl="2"/>
            <a:r>
              <a:rPr lang="fr-FR" noProof="0"/>
              <a:t>Third level</a:t>
            </a:r>
          </a:p>
          <a:p>
            <a:pPr lvl="3"/>
            <a:r>
              <a:rPr lang="fr-FR" noProof="0"/>
              <a:t>Fourth level</a:t>
            </a:r>
          </a:p>
          <a:p>
            <a:pPr lvl="4"/>
            <a:r>
              <a:rPr lang="fr-FR" noProof="0"/>
              <a:t>Fifth level</a:t>
            </a:r>
          </a:p>
        </p:txBody>
      </p:sp>
    </p:spTree>
    <p:extLst>
      <p:ext uri="{BB962C8B-B14F-4D97-AF65-F5344CB8AC3E}">
        <p14:creationId xmlns:p14="http://schemas.microsoft.com/office/powerpoint/2010/main" val="2180083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1" name="ColorPatch">
            <a:extLst>
              <a:ext uri="{FF2B5EF4-FFF2-40B4-BE49-F238E27FC236}">
                <a16:creationId xmlns:a16="http://schemas.microsoft.com/office/drawing/2014/main" id="{65F4699E-59A4-43A4-9A5C-D8BFD4B1E6D9}"/>
              </a:ext>
            </a:extLst>
          </p:cNvPr>
          <p:cNvSpPr/>
          <p:nvPr/>
        </p:nvSpPr>
        <p:spPr>
          <a:xfrm>
            <a:off x="-685800" y="5486400"/>
            <a:ext cx="317500" cy="317500"/>
          </a:xfrm>
          <a:prstGeom prst="rect">
            <a:avLst/>
          </a:prstGeom>
          <a:solidFill>
            <a:srgbClr val="E9E9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40" name="ColorPatch">
            <a:extLst>
              <a:ext uri="{FF2B5EF4-FFF2-40B4-BE49-F238E27FC236}">
                <a16:creationId xmlns:a16="http://schemas.microsoft.com/office/drawing/2014/main" id="{1B167F27-4BE8-4B9C-A3D6-12AB9D6515A0}"/>
              </a:ext>
            </a:extLst>
          </p:cNvPr>
          <p:cNvSpPr/>
          <p:nvPr/>
        </p:nvSpPr>
        <p:spPr>
          <a:xfrm>
            <a:off x="-685800" y="5143500"/>
            <a:ext cx="317500" cy="317500"/>
          </a:xfrm>
          <a:prstGeom prst="rect">
            <a:avLst/>
          </a:prstGeom>
          <a:solidFill>
            <a:srgbClr val="D1D1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9" name="ColorPatch">
            <a:extLst>
              <a:ext uri="{FF2B5EF4-FFF2-40B4-BE49-F238E27FC236}">
                <a16:creationId xmlns:a16="http://schemas.microsoft.com/office/drawing/2014/main" id="{62C30C2F-9D3D-402B-9C93-7BB3D257A941}"/>
              </a:ext>
            </a:extLst>
          </p:cNvPr>
          <p:cNvSpPr/>
          <p:nvPr/>
        </p:nvSpPr>
        <p:spPr>
          <a:xfrm>
            <a:off x="-685800" y="4800600"/>
            <a:ext cx="317500" cy="317500"/>
          </a:xfrm>
          <a:prstGeom prst="rect">
            <a:avLst/>
          </a:prstGeom>
          <a:solidFill>
            <a:srgbClr val="A2A2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8" name="ColorPatch">
            <a:extLst>
              <a:ext uri="{FF2B5EF4-FFF2-40B4-BE49-F238E27FC236}">
                <a16:creationId xmlns:a16="http://schemas.microsoft.com/office/drawing/2014/main" id="{D6517BE0-9063-4916-BC84-EDE406E9CDE4}"/>
              </a:ext>
            </a:extLst>
          </p:cNvPr>
          <p:cNvSpPr/>
          <p:nvPr/>
        </p:nvSpPr>
        <p:spPr>
          <a:xfrm>
            <a:off x="-685800" y="4457700"/>
            <a:ext cx="317500" cy="317500"/>
          </a:xfrm>
          <a:prstGeom prst="rect">
            <a:avLst/>
          </a:prstGeom>
          <a:solidFill>
            <a:srgbClr val="747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7" name="ColorPatch">
            <a:extLst>
              <a:ext uri="{FF2B5EF4-FFF2-40B4-BE49-F238E27FC236}">
                <a16:creationId xmlns:a16="http://schemas.microsoft.com/office/drawing/2014/main" id="{B5249DC3-A9A0-4038-AEE9-AEBFB5D0089D}"/>
              </a:ext>
            </a:extLst>
          </p:cNvPr>
          <p:cNvSpPr/>
          <p:nvPr/>
        </p:nvSpPr>
        <p:spPr>
          <a:xfrm>
            <a:off x="-685800" y="4114800"/>
            <a:ext cx="317500" cy="317500"/>
          </a:xfrm>
          <a:prstGeom prst="rect">
            <a:avLst/>
          </a:prstGeom>
          <a:solidFill>
            <a:srgbClr val="4646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6" name="ColorPatch">
            <a:extLst>
              <a:ext uri="{FF2B5EF4-FFF2-40B4-BE49-F238E27FC236}">
                <a16:creationId xmlns:a16="http://schemas.microsoft.com/office/drawing/2014/main" id="{18A6D389-12F3-4EC1-8CC2-242EFF07CB1C}"/>
              </a:ext>
            </a:extLst>
          </p:cNvPr>
          <p:cNvSpPr/>
          <p:nvPr/>
        </p:nvSpPr>
        <p:spPr>
          <a:xfrm>
            <a:off x="-685800" y="3771900"/>
            <a:ext cx="317500" cy="317500"/>
          </a:xfrm>
          <a:prstGeom prst="rect">
            <a:avLst/>
          </a:prstGeom>
          <a:solidFill>
            <a:srgbClr val="E2B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5" name="ColorPatch">
            <a:extLst>
              <a:ext uri="{FF2B5EF4-FFF2-40B4-BE49-F238E27FC236}">
                <a16:creationId xmlns:a16="http://schemas.microsoft.com/office/drawing/2014/main" id="{2ADD0FF6-E42B-4A48-AA80-7BFCC31B080A}"/>
              </a:ext>
            </a:extLst>
          </p:cNvPr>
          <p:cNvSpPr/>
          <p:nvPr/>
        </p:nvSpPr>
        <p:spPr>
          <a:xfrm>
            <a:off x="-685800" y="3429000"/>
            <a:ext cx="317500" cy="317500"/>
          </a:xfrm>
          <a:prstGeom prst="rect">
            <a:avLst/>
          </a:prstGeom>
          <a:solidFill>
            <a:srgbClr val="C57F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4" name="ColorPatch">
            <a:extLst>
              <a:ext uri="{FF2B5EF4-FFF2-40B4-BE49-F238E27FC236}">
                <a16:creationId xmlns:a16="http://schemas.microsoft.com/office/drawing/2014/main" id="{B669360D-4B82-4260-88C6-0543CF560378}"/>
              </a:ext>
            </a:extLst>
          </p:cNvPr>
          <p:cNvSpPr/>
          <p:nvPr/>
        </p:nvSpPr>
        <p:spPr>
          <a:xfrm>
            <a:off x="-685800" y="3086100"/>
            <a:ext cx="317500" cy="317500"/>
          </a:xfrm>
          <a:prstGeom prst="rect">
            <a:avLst/>
          </a:prstGeom>
          <a:solidFill>
            <a:srgbClr val="A940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3" name="ColorPatch">
            <a:extLst>
              <a:ext uri="{FF2B5EF4-FFF2-40B4-BE49-F238E27FC236}">
                <a16:creationId xmlns:a16="http://schemas.microsoft.com/office/drawing/2014/main" id="{B042156B-6D14-4769-85DE-0BC6133DC1EA}"/>
              </a:ext>
            </a:extLst>
          </p:cNvPr>
          <p:cNvSpPr/>
          <p:nvPr/>
        </p:nvSpPr>
        <p:spPr>
          <a:xfrm>
            <a:off x="-685800" y="2743200"/>
            <a:ext cx="317500" cy="317500"/>
          </a:xfrm>
          <a:prstGeom prst="rect">
            <a:avLst/>
          </a:prstGeom>
          <a:solidFill>
            <a:srgbClr val="8C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2" name="ColorPatch">
            <a:extLst>
              <a:ext uri="{FF2B5EF4-FFF2-40B4-BE49-F238E27FC236}">
                <a16:creationId xmlns:a16="http://schemas.microsoft.com/office/drawing/2014/main" id="{0A8AEA2A-477D-451D-A82D-F30F8990A07D}"/>
              </a:ext>
            </a:extLst>
          </p:cNvPr>
          <p:cNvSpPr/>
          <p:nvPr/>
        </p:nvSpPr>
        <p:spPr>
          <a:xfrm>
            <a:off x="-685800" y="2400300"/>
            <a:ext cx="317500" cy="317500"/>
          </a:xfrm>
          <a:prstGeom prst="rect">
            <a:avLst/>
          </a:prstGeom>
          <a:solidFill>
            <a:srgbClr val="C0D5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1" name="ColorPatch">
            <a:extLst>
              <a:ext uri="{FF2B5EF4-FFF2-40B4-BE49-F238E27FC236}">
                <a16:creationId xmlns:a16="http://schemas.microsoft.com/office/drawing/2014/main" id="{8CE1DB46-E195-40AF-8BEB-3E6873A1B2FA}"/>
              </a:ext>
            </a:extLst>
          </p:cNvPr>
          <p:cNvSpPr/>
          <p:nvPr/>
        </p:nvSpPr>
        <p:spPr>
          <a:xfrm>
            <a:off x="-685800" y="2057400"/>
            <a:ext cx="317500" cy="317500"/>
          </a:xfrm>
          <a:prstGeom prst="rect">
            <a:avLst/>
          </a:prstGeom>
          <a:solidFill>
            <a:srgbClr val="81AB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0" name="ColorPatch">
            <a:extLst>
              <a:ext uri="{FF2B5EF4-FFF2-40B4-BE49-F238E27FC236}">
                <a16:creationId xmlns:a16="http://schemas.microsoft.com/office/drawing/2014/main" id="{E0F1957D-72C6-4D6C-9201-6AA28AA6C57D}"/>
              </a:ext>
            </a:extLst>
          </p:cNvPr>
          <p:cNvSpPr/>
          <p:nvPr/>
        </p:nvSpPr>
        <p:spPr>
          <a:xfrm>
            <a:off x="-685800" y="1714500"/>
            <a:ext cx="317500" cy="317500"/>
          </a:xfrm>
          <a:prstGeom prst="rect">
            <a:avLst/>
          </a:prstGeom>
          <a:solidFill>
            <a:srgbClr val="4381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9" name="ColorPatch">
            <a:extLst>
              <a:ext uri="{FF2B5EF4-FFF2-40B4-BE49-F238E27FC236}">
                <a16:creationId xmlns:a16="http://schemas.microsoft.com/office/drawing/2014/main" id="{F00834CE-7B51-4FC1-989D-97A947599379}"/>
              </a:ext>
            </a:extLst>
          </p:cNvPr>
          <p:cNvSpPr/>
          <p:nvPr/>
        </p:nvSpPr>
        <p:spPr>
          <a:xfrm>
            <a:off x="-685800" y="1371600"/>
            <a:ext cx="317500" cy="317500"/>
          </a:xfrm>
          <a:prstGeom prst="rect">
            <a:avLst/>
          </a:prstGeom>
          <a:solidFill>
            <a:srgbClr val="0457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8" name="ColorPatch">
            <a:extLst>
              <a:ext uri="{FF2B5EF4-FFF2-40B4-BE49-F238E27FC236}">
                <a16:creationId xmlns:a16="http://schemas.microsoft.com/office/drawing/2014/main" id="{AB72B3FD-EF38-4401-99A2-12BA97E1031C}"/>
              </a:ext>
            </a:extLst>
          </p:cNvPr>
          <p:cNvSpPr/>
          <p:nvPr/>
        </p:nvSpPr>
        <p:spPr>
          <a:xfrm>
            <a:off x="-685800" y="1028700"/>
            <a:ext cx="317500" cy="317500"/>
          </a:xfrm>
          <a:prstGeom prst="rect">
            <a:avLst/>
          </a:prstGeom>
          <a:solidFill>
            <a:srgbClr val="D1E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7" name="ColorPatch">
            <a:extLst>
              <a:ext uri="{FF2B5EF4-FFF2-40B4-BE49-F238E27FC236}">
                <a16:creationId xmlns:a16="http://schemas.microsoft.com/office/drawing/2014/main" id="{DB636BCE-D7BA-42A6-B589-71540B9DC5AD}"/>
              </a:ext>
            </a:extLst>
          </p:cNvPr>
          <p:cNvSpPr/>
          <p:nvPr/>
        </p:nvSpPr>
        <p:spPr>
          <a:xfrm>
            <a:off x="-685800" y="685800"/>
            <a:ext cx="317500" cy="317500"/>
          </a:xfrm>
          <a:prstGeom prst="rect">
            <a:avLst/>
          </a:prstGeom>
          <a:solidFill>
            <a:srgbClr val="A4D8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6" name="ColorPatch">
            <a:extLst>
              <a:ext uri="{FF2B5EF4-FFF2-40B4-BE49-F238E27FC236}">
                <a16:creationId xmlns:a16="http://schemas.microsoft.com/office/drawing/2014/main" id="{9D1EA9E9-05C1-4D17-8CE5-6492F824502A}"/>
              </a:ext>
            </a:extLst>
          </p:cNvPr>
          <p:cNvSpPr/>
          <p:nvPr/>
        </p:nvSpPr>
        <p:spPr>
          <a:xfrm>
            <a:off x="-685800" y="342900"/>
            <a:ext cx="317500" cy="317500"/>
          </a:xfrm>
          <a:prstGeom prst="rect">
            <a:avLst/>
          </a:prstGeom>
          <a:solidFill>
            <a:srgbClr val="77C5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5" name="ColorPatch">
            <a:extLst>
              <a:ext uri="{FF2B5EF4-FFF2-40B4-BE49-F238E27FC236}">
                <a16:creationId xmlns:a16="http://schemas.microsoft.com/office/drawing/2014/main" id="{9A5ADA3E-3A73-4260-828D-18023D21EE0E}"/>
              </a:ext>
            </a:extLst>
          </p:cNvPr>
          <p:cNvSpPr/>
          <p:nvPr/>
        </p:nvSpPr>
        <p:spPr>
          <a:xfrm>
            <a:off x="-685800" y="0"/>
            <a:ext cx="317500" cy="317500"/>
          </a:xfrm>
          <a:prstGeom prst="rect">
            <a:avLst/>
          </a:prstGeom>
          <a:solidFill>
            <a:srgbClr val="49B1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4" name="ColorPatch">
            <a:extLst>
              <a:ext uri="{FF2B5EF4-FFF2-40B4-BE49-F238E27FC236}">
                <a16:creationId xmlns:a16="http://schemas.microsoft.com/office/drawing/2014/main" id="{177ED0F8-E668-4F55-9F61-0BADCC753B93}"/>
              </a:ext>
            </a:extLst>
          </p:cNvPr>
          <p:cNvSpPr/>
          <p:nvPr/>
        </p:nvSpPr>
        <p:spPr>
          <a:xfrm>
            <a:off x="-342900" y="5143500"/>
            <a:ext cx="317500" cy="317500"/>
          </a:xfrm>
          <a:prstGeom prst="rect">
            <a:avLst/>
          </a:prstGeom>
          <a:solidFill>
            <a:srgbClr val="F9B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3" name="ColorPatch">
            <a:extLst>
              <a:ext uri="{FF2B5EF4-FFF2-40B4-BE49-F238E27FC236}">
                <a16:creationId xmlns:a16="http://schemas.microsoft.com/office/drawing/2014/main" id="{8CD7E567-0649-47B4-B5F7-346B6C6FAE6E}"/>
              </a:ext>
            </a:extLst>
          </p:cNvPr>
          <p:cNvSpPr/>
          <p:nvPr/>
        </p:nvSpPr>
        <p:spPr>
          <a:xfrm>
            <a:off x="-342900" y="4800600"/>
            <a:ext cx="317500" cy="317500"/>
          </a:xfrm>
          <a:prstGeom prst="rect">
            <a:avLst/>
          </a:prstGeom>
          <a:solidFill>
            <a:srgbClr val="F2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2" name="ColorPatch">
            <a:extLst>
              <a:ext uri="{FF2B5EF4-FFF2-40B4-BE49-F238E27FC236}">
                <a16:creationId xmlns:a16="http://schemas.microsoft.com/office/drawing/2014/main" id="{0B27B926-9D23-408B-B261-7474BA138B0E}"/>
              </a:ext>
            </a:extLst>
          </p:cNvPr>
          <p:cNvSpPr/>
          <p:nvPr/>
        </p:nvSpPr>
        <p:spPr>
          <a:xfrm>
            <a:off x="-342900" y="4457700"/>
            <a:ext cx="317500" cy="317500"/>
          </a:xfrm>
          <a:prstGeom prst="rect">
            <a:avLst/>
          </a:prstGeom>
          <a:solidFill>
            <a:srgbClr val="EC40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1" name="ColorPatch">
            <a:extLst>
              <a:ext uri="{FF2B5EF4-FFF2-40B4-BE49-F238E27FC236}">
                <a16:creationId xmlns:a16="http://schemas.microsoft.com/office/drawing/2014/main" id="{C79F16A5-2F29-42BB-88AB-9C69D7AB8969}"/>
              </a:ext>
            </a:extLst>
          </p:cNvPr>
          <p:cNvSpPr/>
          <p:nvPr/>
        </p:nvSpPr>
        <p:spPr>
          <a:xfrm>
            <a:off x="-342900" y="4114800"/>
            <a:ext cx="317500" cy="317500"/>
          </a:xfrm>
          <a:prstGeom prst="rect">
            <a:avLst/>
          </a:prstGeom>
          <a:solidFill>
            <a:srgbClr val="E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0" name="ColorPatch">
            <a:extLst>
              <a:ext uri="{FF2B5EF4-FFF2-40B4-BE49-F238E27FC236}">
                <a16:creationId xmlns:a16="http://schemas.microsoft.com/office/drawing/2014/main" id="{7164F073-8D27-4C57-9FA9-5D80FC8EDB68}"/>
              </a:ext>
            </a:extLst>
          </p:cNvPr>
          <p:cNvSpPr/>
          <p:nvPr/>
        </p:nvSpPr>
        <p:spPr>
          <a:xfrm>
            <a:off x="-342900" y="3771900"/>
            <a:ext cx="317500" cy="317500"/>
          </a:xfrm>
          <a:prstGeom prst="rect">
            <a:avLst/>
          </a:prstGeom>
          <a:solidFill>
            <a:srgbClr val="FFF4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9" name="ColorPatch">
            <a:extLst>
              <a:ext uri="{FF2B5EF4-FFF2-40B4-BE49-F238E27FC236}">
                <a16:creationId xmlns:a16="http://schemas.microsoft.com/office/drawing/2014/main" id="{C400E972-E723-4251-BA45-FDC0E6CEEF6C}"/>
              </a:ext>
            </a:extLst>
          </p:cNvPr>
          <p:cNvSpPr/>
          <p:nvPr/>
        </p:nvSpPr>
        <p:spPr>
          <a:xfrm>
            <a:off x="-342900" y="3429000"/>
            <a:ext cx="317500" cy="317500"/>
          </a:xfrm>
          <a:prstGeom prst="rect">
            <a:avLst/>
          </a:prstGeom>
          <a:solidFill>
            <a:srgbClr val="FFE8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8" name="ColorPatch">
            <a:extLst>
              <a:ext uri="{FF2B5EF4-FFF2-40B4-BE49-F238E27FC236}">
                <a16:creationId xmlns:a16="http://schemas.microsoft.com/office/drawing/2014/main" id="{50D772BA-D4EE-40DA-B415-8EC283428CF5}"/>
              </a:ext>
            </a:extLst>
          </p:cNvPr>
          <p:cNvSpPr/>
          <p:nvPr/>
        </p:nvSpPr>
        <p:spPr>
          <a:xfrm>
            <a:off x="-342900" y="3086100"/>
            <a:ext cx="317500" cy="317500"/>
          </a:xfrm>
          <a:prstGeom prst="rect">
            <a:avLst/>
          </a:prstGeom>
          <a:solidFill>
            <a:srgbClr val="FFDD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7" name="ColorPatch">
            <a:extLst>
              <a:ext uri="{FF2B5EF4-FFF2-40B4-BE49-F238E27FC236}">
                <a16:creationId xmlns:a16="http://schemas.microsoft.com/office/drawing/2014/main" id="{6BEEA5BD-11E7-4F3D-BD73-EC2249E8CCEB}"/>
              </a:ext>
            </a:extLst>
          </p:cNvPr>
          <p:cNvSpPr/>
          <p:nvPr/>
        </p:nvSpPr>
        <p:spPr>
          <a:xfrm>
            <a:off x="-342900" y="2743200"/>
            <a:ext cx="317500" cy="317500"/>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6" name="ColorPatch">
            <a:extLst>
              <a:ext uri="{FF2B5EF4-FFF2-40B4-BE49-F238E27FC236}">
                <a16:creationId xmlns:a16="http://schemas.microsoft.com/office/drawing/2014/main" id="{27A566A9-4C8D-4179-BE6D-6A885CF5E38A}"/>
              </a:ext>
            </a:extLst>
          </p:cNvPr>
          <p:cNvSpPr/>
          <p:nvPr/>
        </p:nvSpPr>
        <p:spPr>
          <a:xfrm>
            <a:off x="-342900" y="2400300"/>
            <a:ext cx="317500" cy="317500"/>
          </a:xfrm>
          <a:prstGeom prst="rect">
            <a:avLst/>
          </a:prstGeom>
          <a:solidFill>
            <a:srgbClr val="CE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5" name="ColorPatch">
            <a:extLst>
              <a:ext uri="{FF2B5EF4-FFF2-40B4-BE49-F238E27FC236}">
                <a16:creationId xmlns:a16="http://schemas.microsoft.com/office/drawing/2014/main" id="{98BB652E-B542-4A6D-842C-A8AFF7CF962D}"/>
              </a:ext>
            </a:extLst>
          </p:cNvPr>
          <p:cNvSpPr/>
          <p:nvPr/>
        </p:nvSpPr>
        <p:spPr>
          <a:xfrm>
            <a:off x="-342900" y="2057400"/>
            <a:ext cx="317500" cy="317500"/>
          </a:xfrm>
          <a:prstGeom prst="rect">
            <a:avLst/>
          </a:prstGeom>
          <a:solidFill>
            <a:srgbClr val="9DD9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4" name="ColorPatch">
            <a:extLst>
              <a:ext uri="{FF2B5EF4-FFF2-40B4-BE49-F238E27FC236}">
                <a16:creationId xmlns:a16="http://schemas.microsoft.com/office/drawing/2014/main" id="{7BE09878-3507-434C-8FBD-3253E93E01C8}"/>
              </a:ext>
            </a:extLst>
          </p:cNvPr>
          <p:cNvSpPr/>
          <p:nvPr/>
        </p:nvSpPr>
        <p:spPr>
          <a:xfrm>
            <a:off x="-342900" y="1714500"/>
            <a:ext cx="317500" cy="317500"/>
          </a:xfrm>
          <a:prstGeom prst="rect">
            <a:avLst/>
          </a:prstGeom>
          <a:solidFill>
            <a:srgbClr val="6DC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2" name="ColorPatch">
            <a:extLst>
              <a:ext uri="{FF2B5EF4-FFF2-40B4-BE49-F238E27FC236}">
                <a16:creationId xmlns:a16="http://schemas.microsoft.com/office/drawing/2014/main" id="{2E26D6BD-036D-4346-A29B-7683021D70FB}"/>
              </a:ext>
            </a:extLst>
          </p:cNvPr>
          <p:cNvSpPr/>
          <p:nvPr/>
        </p:nvSpPr>
        <p:spPr>
          <a:xfrm>
            <a:off x="-342900" y="1371600"/>
            <a:ext cx="317500" cy="317500"/>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1" name="ColorPatch">
            <a:extLst>
              <a:ext uri="{FF2B5EF4-FFF2-40B4-BE49-F238E27FC236}">
                <a16:creationId xmlns:a16="http://schemas.microsoft.com/office/drawing/2014/main" id="{D840EC2E-1487-4A69-A809-9929CDB60313}"/>
              </a:ext>
            </a:extLst>
          </p:cNvPr>
          <p:cNvSpPr/>
          <p:nvPr/>
        </p:nvSpPr>
        <p:spPr>
          <a:xfrm>
            <a:off x="-342900" y="1028700"/>
            <a:ext cx="317500" cy="317500"/>
          </a:xfrm>
          <a:prstGeom prst="rect">
            <a:avLst/>
          </a:prstGeom>
          <a:solidFill>
            <a:srgbClr val="C0C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0" name="ColorPatch">
            <a:extLst>
              <a:ext uri="{FF2B5EF4-FFF2-40B4-BE49-F238E27FC236}">
                <a16:creationId xmlns:a16="http://schemas.microsoft.com/office/drawing/2014/main" id="{4BBE9809-F301-459A-87DE-3C5C95F62870}"/>
              </a:ext>
            </a:extLst>
          </p:cNvPr>
          <p:cNvSpPr/>
          <p:nvPr/>
        </p:nvSpPr>
        <p:spPr>
          <a:xfrm>
            <a:off x="-342900" y="685800"/>
            <a:ext cx="317500" cy="317500"/>
          </a:xfrm>
          <a:prstGeom prst="rect">
            <a:avLst/>
          </a:prstGeom>
          <a:solidFill>
            <a:srgbClr val="8191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8" name="ColorPatch">
            <a:extLst>
              <a:ext uri="{FF2B5EF4-FFF2-40B4-BE49-F238E27FC236}">
                <a16:creationId xmlns:a16="http://schemas.microsoft.com/office/drawing/2014/main" id="{AD5D23E8-FC29-4F12-AB2C-C32E10546318}"/>
              </a:ext>
            </a:extLst>
          </p:cNvPr>
          <p:cNvSpPr/>
          <p:nvPr/>
        </p:nvSpPr>
        <p:spPr>
          <a:xfrm>
            <a:off x="-342900" y="342900"/>
            <a:ext cx="317500" cy="317500"/>
          </a:xfrm>
          <a:prstGeom prst="rect">
            <a:avLst/>
          </a:prstGeom>
          <a:solidFill>
            <a:srgbClr val="425A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7" name="ColorPatch">
            <a:extLst>
              <a:ext uri="{FF2B5EF4-FFF2-40B4-BE49-F238E27FC236}">
                <a16:creationId xmlns:a16="http://schemas.microsoft.com/office/drawing/2014/main" id="{57149537-0C06-456D-A4A3-2FBB5503631B}"/>
              </a:ext>
            </a:extLst>
          </p:cNvPr>
          <p:cNvSpPr/>
          <p:nvPr/>
        </p:nvSpPr>
        <p:spPr>
          <a:xfrm>
            <a:off x="-342900" y="0"/>
            <a:ext cx="317500" cy="317500"/>
          </a:xfrm>
          <a:prstGeom prst="rect">
            <a:avLst/>
          </a:prstGeom>
          <a:solidFill>
            <a:srgbClr val="03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 name="Title Placeholder 1"/>
          <p:cNvSpPr>
            <a:spLocks noGrp="1"/>
          </p:cNvSpPr>
          <p:nvPr>
            <p:ph type="title"/>
          </p:nvPr>
        </p:nvSpPr>
        <p:spPr>
          <a:xfrm>
            <a:off x="300037" y="-1"/>
            <a:ext cx="11609159" cy="1304925"/>
          </a:xfrm>
          <a:prstGeom prst="rect">
            <a:avLst/>
          </a:prstGeom>
        </p:spPr>
        <p:txBody>
          <a:bodyPr vert="horz" lIns="91440" tIns="45720" rIns="90000" bIns="45720" rtlCol="0" anchor="ctr">
            <a:noAutofit/>
          </a:bodyPr>
          <a:lstStyle/>
          <a:p>
            <a:pPr lvl="0" algn="r"/>
            <a:r>
              <a:rPr lang="en-US" dirty="0"/>
              <a:t>Slide title</a:t>
            </a:r>
          </a:p>
        </p:txBody>
      </p:sp>
      <p:sp>
        <p:nvSpPr>
          <p:cNvPr id="3" name="Text Placeholder 2"/>
          <p:cNvSpPr>
            <a:spLocks noGrp="1"/>
          </p:cNvSpPr>
          <p:nvPr>
            <p:ph type="body" idx="1"/>
          </p:nvPr>
        </p:nvSpPr>
        <p:spPr>
          <a:xfrm>
            <a:off x="300038" y="1484313"/>
            <a:ext cx="11591925" cy="4608512"/>
          </a:xfrm>
          <a:prstGeom prst="rect">
            <a:avLst/>
          </a:prstGeom>
        </p:spPr>
        <p:txBody>
          <a:bodyPr vert="horz" lIns="91440" tIns="45720" rIns="90000" bIns="45720" rtlCol="0">
            <a:noAutofit/>
          </a:body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6070600" y="6330968"/>
            <a:ext cx="5483314" cy="292554"/>
          </a:xfrm>
          <a:prstGeom prst="rect">
            <a:avLst/>
          </a:prstGeom>
        </p:spPr>
        <p:txBody>
          <a:bodyPr vert="horz" lIns="90000" tIns="45720" rIns="90000" bIns="45720" rtlCol="0" anchor="b"/>
          <a:lstStyle>
            <a:lvl1pPr algn="r">
              <a:defRPr lang="en-US" sz="1100" b="0">
                <a:solidFill>
                  <a:schemeClr val="tx2"/>
                </a:solidFill>
              </a:defRPr>
            </a:lvl1pPr>
          </a:lstStyle>
          <a:p>
            <a:endParaRPr lang="en-US"/>
          </a:p>
        </p:txBody>
      </p:sp>
      <p:sp>
        <p:nvSpPr>
          <p:cNvPr id="6" name="Slide Number Placeholder 5"/>
          <p:cNvSpPr>
            <a:spLocks noGrp="1"/>
          </p:cNvSpPr>
          <p:nvPr>
            <p:ph type="sldNum" sz="quarter" idx="4"/>
          </p:nvPr>
        </p:nvSpPr>
        <p:spPr>
          <a:xfrm>
            <a:off x="11610261" y="6330968"/>
            <a:ext cx="411004" cy="292554"/>
          </a:xfrm>
          <a:prstGeom prst="rect">
            <a:avLst/>
          </a:prstGeom>
        </p:spPr>
        <p:txBody>
          <a:bodyPr vert="horz" lIns="0" tIns="46800" rIns="0" bIns="46800" rtlCol="0" anchor="b"/>
          <a:lstStyle>
            <a:lvl1pPr algn="r">
              <a:defRPr lang="en-US" sz="1100" b="0" smtClean="0">
                <a:solidFill>
                  <a:schemeClr val="tx2"/>
                </a:solidFill>
              </a:defRPr>
            </a:lvl1pPr>
          </a:lstStyle>
          <a:p>
            <a:fld id="{0579006F-4184-524E-A90C-3FC2A416496D}" type="slidenum">
              <a:rPr lang="fr-FR" smtClean="0"/>
              <a:pPr/>
              <a:t>‹N°›</a:t>
            </a:fld>
            <a:endParaRPr lang="fr-FR" dirty="0"/>
          </a:p>
        </p:txBody>
      </p:sp>
      <p:sp>
        <p:nvSpPr>
          <p:cNvPr id="4" name="Date Placeholder 3"/>
          <p:cNvSpPr>
            <a:spLocks noGrp="1"/>
          </p:cNvSpPr>
          <p:nvPr>
            <p:ph type="dt" sz="half" idx="2"/>
          </p:nvPr>
        </p:nvSpPr>
        <p:spPr>
          <a:xfrm>
            <a:off x="4857517" y="6330968"/>
            <a:ext cx="1184909" cy="292554"/>
          </a:xfrm>
          <a:prstGeom prst="rect">
            <a:avLst/>
          </a:prstGeom>
        </p:spPr>
        <p:txBody>
          <a:bodyPr vert="horz" lIns="91440" tIns="45720" rIns="91440" bIns="45720" rtlCol="0" anchor="b"/>
          <a:lstStyle>
            <a:lvl1pPr algn="r">
              <a:defRPr sz="1100" b="0">
                <a:solidFill>
                  <a:schemeClr val="tx2"/>
                </a:solidFill>
              </a:defRPr>
            </a:lvl1pPr>
          </a:lstStyle>
          <a:p>
            <a:fld id="{A236C716-DEEC-44F8-9CD7-1B8233E8BB2C}" type="datetime1">
              <a:rPr lang="en-US" smtClean="0"/>
              <a:t>2/9/2026</a:t>
            </a:fld>
            <a:endParaRPr lang="fr-FR" dirty="0"/>
          </a:p>
        </p:txBody>
      </p:sp>
      <p:pic>
        <p:nvPicPr>
          <p:cNvPr id="13" name="Graphic 12">
            <a:extLst>
              <a:ext uri="{FF2B5EF4-FFF2-40B4-BE49-F238E27FC236}">
                <a16:creationId xmlns:a16="http://schemas.microsoft.com/office/drawing/2014/main" id="{3DE2817A-3634-41C4-BE77-0740C5A7811D}"/>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31556" y="6094699"/>
            <a:ext cx="990025" cy="763207"/>
          </a:xfrm>
          <a:prstGeom prst="rect">
            <a:avLst/>
          </a:prstGeom>
        </p:spPr>
      </p:pic>
      <p:sp>
        <p:nvSpPr>
          <p:cNvPr id="9" name="Rectangle 8">
            <a:extLst>
              <a:ext uri="{FF2B5EF4-FFF2-40B4-BE49-F238E27FC236}">
                <a16:creationId xmlns:a16="http://schemas.microsoft.com/office/drawing/2014/main" id="{57CD4E90-0AD7-41F7-BEF4-B339EC998E49}"/>
              </a:ext>
            </a:extLst>
          </p:cNvPr>
          <p:cNvSpPr/>
          <p:nvPr/>
        </p:nvSpPr>
        <p:spPr>
          <a:xfrm>
            <a:off x="12004894" y="0"/>
            <a:ext cx="187105"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578906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2" r:id="rId9"/>
  </p:sldLayoutIdLst>
  <p:hf hdr="0" ftr="0"/>
  <p:txStyles>
    <p:titleStyle>
      <a:lvl1pPr algn="r" defTabSz="914400" rtl="0" eaLnBrk="1" latinLnBrk="0" hangingPunct="1">
        <a:lnSpc>
          <a:spcPct val="90000"/>
        </a:lnSpc>
        <a:spcBef>
          <a:spcPct val="0"/>
        </a:spcBef>
        <a:buNone/>
        <a:defRPr lang="en-US" sz="3600" b="0" kern="1200" baseline="0">
          <a:solidFill>
            <a:schemeClr val="tx1"/>
          </a:solidFill>
          <a:latin typeface="+mj-lt"/>
          <a:ea typeface="+mj-ea"/>
          <a:cs typeface="+mj-cs"/>
        </a:defRPr>
      </a:lvl1pPr>
    </p:titleStyle>
    <p:bodyStyle>
      <a:lvl1pPr marL="261938" indent="-261938" algn="l" defTabSz="914400" rtl="0" eaLnBrk="1" latinLnBrk="0" hangingPunct="1">
        <a:lnSpc>
          <a:spcPct val="100000"/>
        </a:lnSpc>
        <a:spcBef>
          <a:spcPts val="1000"/>
        </a:spcBef>
        <a:buClr>
          <a:schemeClr val="tx1"/>
        </a:buClr>
        <a:buFont typeface="Arial" panose="020B0604020202020204" pitchFamily="34" charset="0"/>
        <a:buChar char="•"/>
        <a:defRPr lang="en-US" sz="2400" kern="1200" smtClean="0">
          <a:solidFill>
            <a:schemeClr val="tx1"/>
          </a:solidFill>
          <a:latin typeface="+mn-lt"/>
          <a:ea typeface="+mn-ea"/>
          <a:cs typeface="+mn-cs"/>
        </a:defRPr>
      </a:lvl1pPr>
      <a:lvl2pPr marL="536575" indent="-266700" algn="l" defTabSz="914400" rtl="0" eaLnBrk="1" latinLnBrk="0" hangingPunct="1">
        <a:lnSpc>
          <a:spcPct val="100000"/>
        </a:lnSpc>
        <a:spcBef>
          <a:spcPts val="600"/>
        </a:spcBef>
        <a:buClr>
          <a:schemeClr val="tx1"/>
        </a:buClr>
        <a:buFont typeface="Arial" panose="020B0604020202020204" pitchFamily="34" charset="0"/>
        <a:buChar char="•"/>
        <a:defRPr lang="en-US" sz="2000" kern="1200" smtClean="0">
          <a:solidFill>
            <a:schemeClr val="tx1"/>
          </a:solidFill>
          <a:latin typeface="+mn-lt"/>
          <a:ea typeface="+mn-ea"/>
          <a:cs typeface="+mn-cs"/>
        </a:defRPr>
      </a:lvl2pPr>
      <a:lvl3pPr marL="812800" indent="-273050" algn="l" defTabSz="914400" rtl="0" eaLnBrk="1" latinLnBrk="0" hangingPunct="1">
        <a:lnSpc>
          <a:spcPct val="100000"/>
        </a:lnSpc>
        <a:spcBef>
          <a:spcPts val="600"/>
        </a:spcBef>
        <a:buClr>
          <a:schemeClr val="tx1"/>
        </a:buClr>
        <a:buFont typeface="Arial" panose="020B0604020202020204" pitchFamily="34" charset="0"/>
        <a:buChar char="•"/>
        <a:defRPr lang="en-US" sz="1800" kern="1200" smtClean="0">
          <a:solidFill>
            <a:schemeClr val="tx1"/>
          </a:solidFill>
          <a:latin typeface="+mn-lt"/>
          <a:ea typeface="+mn-ea"/>
          <a:cs typeface="+mn-cs"/>
        </a:defRPr>
      </a:lvl3pPr>
      <a:lvl4pPr marL="987425" indent="-268288" algn="l" defTabSz="914400" rtl="0" eaLnBrk="1" latinLnBrk="0" hangingPunct="1">
        <a:lnSpc>
          <a:spcPct val="100000"/>
        </a:lnSpc>
        <a:spcBef>
          <a:spcPts val="400"/>
        </a:spcBef>
        <a:buClr>
          <a:schemeClr val="tx2"/>
        </a:buClr>
        <a:buFont typeface="Arial" panose="020B0604020202020204" pitchFamily="34" charset="0"/>
        <a:buChar char="•"/>
        <a:defRPr lang="en-US" sz="1600" kern="1200" smtClean="0">
          <a:solidFill>
            <a:schemeClr val="tx2"/>
          </a:solidFill>
          <a:latin typeface="+mn-lt"/>
          <a:ea typeface="+mn-ea"/>
          <a:cs typeface="+mn-cs"/>
        </a:defRPr>
      </a:lvl4pPr>
      <a:lvl5pPr marL="1160463" indent="-261938" algn="l" defTabSz="914400" rtl="0" eaLnBrk="1" latinLnBrk="0" hangingPunct="1">
        <a:lnSpc>
          <a:spcPct val="100000"/>
        </a:lnSpc>
        <a:spcBef>
          <a:spcPts val="400"/>
        </a:spcBef>
        <a:buClr>
          <a:schemeClr val="tx2"/>
        </a:buClr>
        <a:buFont typeface="Arial" panose="020B0604020202020204" pitchFamily="34" charset="0"/>
        <a:buChar char="•"/>
        <a:defRPr lang="en-U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pos="7491">
          <p15:clr>
            <a:srgbClr val="F26B43"/>
          </p15:clr>
        </p15:guide>
        <p15:guide id="3" orient="horz" pos="2160">
          <p15:clr>
            <a:srgbClr val="F26B43"/>
          </p15:clr>
        </p15:guide>
        <p15:guide id="4" orient="horz" pos="935">
          <p15:clr>
            <a:srgbClr val="F26B43"/>
          </p15:clr>
        </p15:guide>
        <p15:guide id="5" orient="horz" pos="3838">
          <p15:clr>
            <a:srgbClr val="F26B43"/>
          </p15:clr>
        </p15:guide>
        <p15:guide id="6" orient="horz" pos="822">
          <p15:clr>
            <a:srgbClr val="F26B43"/>
          </p15:clr>
        </p15:guide>
        <p15:guide id="7" pos="3840">
          <p15:clr>
            <a:srgbClr val="F26B43"/>
          </p15:clr>
        </p15:guide>
        <p15:guide id="8" orient="horz" pos="131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266_2A151BBB.xml"/><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microsoft.com/office/2018/10/relationships/comments" Target="../comments/modernComment_250_C3E9E5E2.xml"/><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microsoft.com/office/2018/10/relationships/comments" Target="../comments/modernComment_262_F8A234D4.xml"/><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microsoft.com/office/2018/10/relationships/comments" Target="../comments/modernComment_263_901E4835.xml"/><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microsoft.com/office/2018/10/relationships/comments" Target="../comments/modernComment_253_DD199E47.xml"/><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microsoft.com/office/2018/10/relationships/comments" Target="../comments/modernComment_264_BD51AEAA.xml"/><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microsoft.com/office/2018/10/relationships/comments" Target="../comments/modernComment_252_5D44958B.xml"/><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microsoft.com/office/2018/10/relationships/comments" Target="../comments/modernComment_255_123CA1B6.xml"/><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257_CA13B44.xml"/><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256_E9000E82.xml"/><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258_DECD0172.xml"/><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microsoft.com/office/2018/10/relationships/comments" Target="../comments/modernComment_25C_B5D95215.xml"/><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25F_4888FCF8.xml"/><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25D_B34FCE67.xml"/><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25E_AD2E0E4A.xml"/><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260_BC2C98AC.xml"/><Relationship Id="rId7"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261_4FD9A8B8.xml"/><Relationship Id="rId2" Type="http://schemas.openxmlformats.org/officeDocument/2006/relationships/notesSlide" Target="../notesSlides/notesSlide18.xml"/><Relationship Id="rId1" Type="http://schemas.openxmlformats.org/officeDocument/2006/relationships/slideLayout" Target="../slideLayouts/slideLayout9.xml"/><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a:off x="328809" y="3578305"/>
            <a:ext cx="9799639" cy="2767570"/>
          </a:xfrm>
          <a:prstGeom prst="rect">
            <a:avLst/>
          </a:prstGeom>
        </p:spPr>
        <p:txBody>
          <a:bodyPr>
            <a:noAutofit/>
          </a:bodyPr>
          <a:lstStyle>
            <a:lvl1pPr algn="l" defTabSz="914400" rtl="0" eaLnBrk="1" latinLnBrk="0" hangingPunct="1">
              <a:lnSpc>
                <a:spcPct val="75000"/>
              </a:lnSpc>
              <a:spcBef>
                <a:spcPct val="0"/>
              </a:spcBef>
              <a:buNone/>
              <a:defRPr sz="4800" b="1" i="0" kern="1200">
                <a:solidFill>
                  <a:schemeClr val="tx1"/>
                </a:solidFill>
                <a:latin typeface="Bebas Neue" charset="0"/>
                <a:ea typeface="Bebas Neue" charset="0"/>
                <a:cs typeface="Bebas Neue" charset="0"/>
              </a:defRPr>
            </a:lvl1pPr>
          </a:lstStyle>
          <a:p>
            <a:r>
              <a:rPr lang="en-US" sz="6600" spc="-150" dirty="0">
                <a:solidFill>
                  <a:schemeClr val="bg1"/>
                </a:solidFill>
                <a:latin typeface="+mn-lt"/>
              </a:rPr>
              <a:t>TP 01 – GPIO</a:t>
            </a:r>
          </a:p>
          <a:p>
            <a:r>
              <a:rPr lang="en-US" sz="6600" spc="-150" dirty="0">
                <a:solidFill>
                  <a:srgbClr val="E6007E"/>
                </a:solidFill>
                <a:latin typeface="+mn-lt"/>
              </a:rPr>
              <a:t>STM32</a:t>
            </a:r>
          </a:p>
          <a:p>
            <a:r>
              <a:rPr lang="en-US" sz="2400" b="0" spc="-150" dirty="0">
                <a:solidFill>
                  <a:schemeClr val="bg1"/>
                </a:solidFill>
                <a:latin typeface="+mn-lt"/>
              </a:rPr>
              <a:t>Toulon</a:t>
            </a:r>
            <a:endParaRPr lang="en-US" b="0" spc="-150" dirty="0">
              <a:solidFill>
                <a:schemeClr val="bg1"/>
              </a:solidFill>
              <a:latin typeface="+mn-lt"/>
            </a:endParaRPr>
          </a:p>
        </p:txBody>
      </p:sp>
      <p:sp>
        <p:nvSpPr>
          <p:cNvPr id="4" name="Title 3">
            <a:extLst>
              <a:ext uri="{FF2B5EF4-FFF2-40B4-BE49-F238E27FC236}">
                <a16:creationId xmlns:a16="http://schemas.microsoft.com/office/drawing/2014/main" id="{B8F0D63A-0BCB-517D-9E66-1881168EA0F0}"/>
              </a:ext>
            </a:extLst>
          </p:cNvPr>
          <p:cNvSpPr>
            <a:spLocks noGrp="1"/>
          </p:cNvSpPr>
          <p:nvPr>
            <p:ph type="ctrTitle"/>
          </p:nvPr>
        </p:nvSpPr>
        <p:spPr/>
        <p:txBody>
          <a:bodyPr/>
          <a:lstStyle/>
          <a:p>
            <a:r>
              <a:rPr lang="en-US" dirty="0"/>
              <a:t>TP03 – TIMERS STM32 </a:t>
            </a:r>
          </a:p>
        </p:txBody>
      </p:sp>
      <p:sp>
        <p:nvSpPr>
          <p:cNvPr id="9" name="Subtitle 8">
            <a:extLst>
              <a:ext uri="{FF2B5EF4-FFF2-40B4-BE49-F238E27FC236}">
                <a16:creationId xmlns:a16="http://schemas.microsoft.com/office/drawing/2014/main" id="{EA454EB8-1F31-8290-4B9F-61D96BDBDC47}"/>
              </a:ext>
            </a:extLst>
          </p:cNvPr>
          <p:cNvSpPr>
            <a:spLocks noGrp="1"/>
          </p:cNvSpPr>
          <p:nvPr>
            <p:ph type="subTitle" idx="1"/>
          </p:nvPr>
        </p:nvSpPr>
        <p:spPr/>
        <p:txBody>
          <a:bodyPr/>
          <a:lstStyle/>
          <a:p>
            <a:r>
              <a:rPr lang="en-US" dirty="0"/>
              <a:t>Julien Terrier (COOLab Rousset)</a:t>
            </a:r>
          </a:p>
        </p:txBody>
      </p:sp>
      <p:pic>
        <p:nvPicPr>
          <p:cNvPr id="12" name="Picture Placeholder 11">
            <a:extLst>
              <a:ext uri="{FF2B5EF4-FFF2-40B4-BE49-F238E27FC236}">
                <a16:creationId xmlns:a16="http://schemas.microsoft.com/office/drawing/2014/main" id="{9F5DE147-3F1A-D59B-729F-47919CE5D84B}"/>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19462" r="19462"/>
          <a:stretch/>
        </p:blipFill>
        <p:spPr/>
      </p:pic>
      <p:sp>
        <p:nvSpPr>
          <p:cNvPr id="3" name="Slide Number Placeholder 2">
            <a:extLst>
              <a:ext uri="{FF2B5EF4-FFF2-40B4-BE49-F238E27FC236}">
                <a16:creationId xmlns:a16="http://schemas.microsoft.com/office/drawing/2014/main" id="{B818E403-8488-6E6A-4753-C967BA5EA0FA}"/>
              </a:ext>
            </a:extLst>
          </p:cNvPr>
          <p:cNvSpPr>
            <a:spLocks noGrp="1"/>
          </p:cNvSpPr>
          <p:nvPr>
            <p:ph type="sldNum" sz="quarter" idx="4294967295"/>
          </p:nvPr>
        </p:nvSpPr>
        <p:spPr>
          <a:xfrm>
            <a:off x="10991850" y="6524625"/>
            <a:ext cx="1200150" cy="333375"/>
          </a:xfrm>
        </p:spPr>
        <p:txBody>
          <a:bodyPr>
            <a:normAutofit/>
          </a:bodyPr>
          <a:lstStyle/>
          <a:p>
            <a:fld id="{0579006F-4184-524E-A90C-3FC2A416496D}" type="slidenum">
              <a:rPr lang="en-US" smtClean="0"/>
              <a:pPr/>
              <a:t>1</a:t>
            </a:fld>
            <a:endParaRPr lang="en-US" dirty="0"/>
          </a:p>
        </p:txBody>
      </p:sp>
    </p:spTree>
    <p:extLst>
      <p:ext uri="{BB962C8B-B14F-4D97-AF65-F5344CB8AC3E}">
        <p14:creationId xmlns:p14="http://schemas.microsoft.com/office/powerpoint/2010/main" val="4256988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70259200-FB13-83B8-F8CF-CD1242FEB50C}"/>
              </a:ext>
            </a:extLst>
          </p:cNvPr>
          <p:cNvSpPr>
            <a:spLocks noGrp="1"/>
          </p:cNvSpPr>
          <p:nvPr>
            <p:ph type="sldNum" sz="quarter" idx="10"/>
          </p:nvPr>
        </p:nvSpPr>
        <p:spPr>
          <a:xfrm>
            <a:off x="11610261" y="6330968"/>
            <a:ext cx="411004" cy="292554"/>
          </a:xfrm>
        </p:spPr>
        <p:txBody>
          <a:bodyPr>
            <a:normAutofit/>
          </a:bodyPr>
          <a:lstStyle/>
          <a:p>
            <a:fld id="{0579006F-4184-524E-A90C-3FC2A416496D}" type="slidenum">
              <a:rPr lang="en-US" smtClean="0"/>
              <a:pPr/>
              <a:t>2</a:t>
            </a:fld>
            <a:endParaRPr lang="en-US" dirty="0"/>
          </a:p>
        </p:txBody>
      </p:sp>
      <p:sp>
        <p:nvSpPr>
          <p:cNvPr id="4" name="Text Placeholder 3">
            <a:extLst>
              <a:ext uri="{FF2B5EF4-FFF2-40B4-BE49-F238E27FC236}">
                <a16:creationId xmlns:a16="http://schemas.microsoft.com/office/drawing/2014/main" id="{5E110484-7C01-4617-903A-503AD67ED395}"/>
              </a:ext>
            </a:extLst>
          </p:cNvPr>
          <p:cNvSpPr>
            <a:spLocks noGrp="1"/>
          </p:cNvSpPr>
          <p:nvPr>
            <p:ph type="body" sz="quarter" idx="12"/>
          </p:nvPr>
        </p:nvSpPr>
        <p:spPr>
          <a:xfrm>
            <a:off x="119063" y="115888"/>
            <a:ext cx="10153650" cy="720725"/>
          </a:xfrm>
        </p:spPr>
        <p:txBody>
          <a:bodyPr>
            <a:normAutofit/>
          </a:bodyPr>
          <a:lstStyle/>
          <a:p>
            <a:r>
              <a:rPr lang="fr-FR" sz="3200" dirty="0"/>
              <a:t>Objectifs du TP 03</a:t>
            </a:r>
          </a:p>
        </p:txBody>
      </p:sp>
      <p:sp>
        <p:nvSpPr>
          <p:cNvPr id="5" name="Text Placeholder 4">
            <a:extLst>
              <a:ext uri="{FF2B5EF4-FFF2-40B4-BE49-F238E27FC236}">
                <a16:creationId xmlns:a16="http://schemas.microsoft.com/office/drawing/2014/main" id="{4A0BAB5A-BB55-46E0-9F57-B6937674FD25}"/>
              </a:ext>
            </a:extLst>
          </p:cNvPr>
          <p:cNvSpPr>
            <a:spLocks noGrp="1"/>
          </p:cNvSpPr>
          <p:nvPr>
            <p:ph type="body" sz="quarter" idx="13"/>
          </p:nvPr>
        </p:nvSpPr>
        <p:spPr>
          <a:xfrm>
            <a:off x="119063" y="981074"/>
            <a:ext cx="8065169" cy="1799854"/>
          </a:xfrm>
        </p:spPr>
        <p:txBody>
          <a:bodyPr>
            <a:noAutofit/>
          </a:bodyPr>
          <a:lstStyle/>
          <a:p>
            <a:r>
              <a:rPr lang="fr-FR" u="sng" dirty="0"/>
              <a:t>Objectifs:</a:t>
            </a:r>
          </a:p>
          <a:p>
            <a:r>
              <a:rPr lang="fr-FR" dirty="0"/>
              <a:t>Configurer les Timers et les bases de temps</a:t>
            </a:r>
          </a:p>
          <a:p>
            <a:r>
              <a:rPr lang="fr-FR" dirty="0"/>
              <a:t>Utiliser les Timers du STM32</a:t>
            </a:r>
          </a:p>
          <a:p>
            <a:r>
              <a:rPr lang="fr-FR" dirty="0"/>
              <a:t>Générer</a:t>
            </a:r>
            <a:r>
              <a:rPr lang="en-US" dirty="0"/>
              <a:t> </a:t>
            </a:r>
            <a:r>
              <a:rPr lang="fr-FR" dirty="0"/>
              <a:t>des graphes dans l’IDE</a:t>
            </a:r>
          </a:p>
          <a:p>
            <a:pPr marL="0" indent="0">
              <a:buNone/>
            </a:pPr>
            <a:endParaRPr lang="fr-FR" dirty="0"/>
          </a:p>
        </p:txBody>
      </p:sp>
      <p:pic>
        <p:nvPicPr>
          <p:cNvPr id="13" name="Picture 12" descr="A close-up of a computer chip&#10;&#10;Description automatically generated">
            <a:extLst>
              <a:ext uri="{FF2B5EF4-FFF2-40B4-BE49-F238E27FC236}">
                <a16:creationId xmlns:a16="http://schemas.microsoft.com/office/drawing/2014/main" id="{BCBC4A12-D535-FDF0-F3D9-1583F31B8C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4375" y="-4370"/>
            <a:ext cx="3857625" cy="6858000"/>
          </a:xfrm>
          <a:prstGeom prst="rect">
            <a:avLst/>
          </a:prstGeom>
        </p:spPr>
      </p:pic>
    </p:spTree>
    <p:extLst>
      <p:ext uri="{BB962C8B-B14F-4D97-AF65-F5344CB8AC3E}">
        <p14:creationId xmlns:p14="http://schemas.microsoft.com/office/powerpoint/2010/main" val="706026427"/>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0BB058D-39D3-43FF-824D-1F68BD4F4A3C}"/>
              </a:ext>
            </a:extLst>
          </p:cNvPr>
          <p:cNvSpPr>
            <a:spLocks noGrp="1"/>
          </p:cNvSpPr>
          <p:nvPr>
            <p:ph type="body" sz="quarter" idx="12"/>
          </p:nvPr>
        </p:nvSpPr>
        <p:spPr>
          <a:xfrm>
            <a:off x="119063" y="115888"/>
            <a:ext cx="10153650" cy="720725"/>
          </a:xfrm>
        </p:spPr>
        <p:txBody>
          <a:bodyPr>
            <a:normAutofit/>
          </a:bodyPr>
          <a:lstStyle/>
          <a:p>
            <a:r>
              <a:rPr lang="fr-FR" sz="3200" dirty="0"/>
              <a:t>Qu’est-ce qu’un Timer ?</a:t>
            </a:r>
          </a:p>
        </p:txBody>
      </p:sp>
      <p:sp>
        <p:nvSpPr>
          <p:cNvPr id="5" name="Text Placeholder 4">
            <a:extLst>
              <a:ext uri="{FF2B5EF4-FFF2-40B4-BE49-F238E27FC236}">
                <a16:creationId xmlns:a16="http://schemas.microsoft.com/office/drawing/2014/main" id="{D9A35CE6-19E0-43F1-92ED-BC09A1FB896D}"/>
              </a:ext>
            </a:extLst>
          </p:cNvPr>
          <p:cNvSpPr>
            <a:spLocks noGrp="1"/>
          </p:cNvSpPr>
          <p:nvPr>
            <p:ph type="body" sz="quarter" idx="13"/>
          </p:nvPr>
        </p:nvSpPr>
        <p:spPr>
          <a:xfrm>
            <a:off x="119063" y="2924944"/>
            <a:ext cx="5097028" cy="3168352"/>
          </a:xfrm>
        </p:spPr>
        <p:txBody>
          <a:bodyPr>
            <a:normAutofit lnSpcReduction="10000"/>
          </a:bodyPr>
          <a:lstStyle/>
          <a:p>
            <a:pPr marL="0" indent="0">
              <a:buNone/>
            </a:pPr>
            <a:r>
              <a:rPr lang="fr-FR" sz="1800" dirty="0"/>
              <a:t>Le timer est utilisé: </a:t>
            </a:r>
          </a:p>
          <a:p>
            <a:r>
              <a:rPr lang="fr-FR" sz="1800" dirty="0"/>
              <a:t>comme générateur de base de 	temps </a:t>
            </a:r>
          </a:p>
          <a:p>
            <a:r>
              <a:rPr lang="fr-FR" sz="1800" dirty="0"/>
              <a:t>pour créer des interruptions à intervalle régulier </a:t>
            </a:r>
          </a:p>
          <a:p>
            <a:r>
              <a:rPr lang="fr-FR" sz="1800" dirty="0"/>
              <a:t>pour mesurer la fréquence d’un 	événement externe.(Input Capture Mode) </a:t>
            </a:r>
          </a:p>
          <a:p>
            <a:r>
              <a:rPr lang="fr-FR" sz="1800" dirty="0"/>
              <a:t>pour générer des formes (Output Capture Mode)	</a:t>
            </a:r>
          </a:p>
          <a:p>
            <a:r>
              <a:rPr lang="fr-FR" sz="1800" dirty="0"/>
              <a:t>pour travailler en PWM (Pulse Width Modulation)</a:t>
            </a:r>
          </a:p>
        </p:txBody>
      </p:sp>
      <p:pic>
        <p:nvPicPr>
          <p:cNvPr id="7" name="Image 2">
            <a:extLst>
              <a:ext uri="{FF2B5EF4-FFF2-40B4-BE49-F238E27FC236}">
                <a16:creationId xmlns:a16="http://schemas.microsoft.com/office/drawing/2014/main" id="{45B666BE-1DBE-452A-0957-CAD4B95D28C0}"/>
              </a:ext>
            </a:extLst>
          </p:cNvPr>
          <p:cNvPicPr>
            <a:picLocks noChangeAspect="1"/>
          </p:cNvPicPr>
          <p:nvPr/>
        </p:nvPicPr>
        <p:blipFill>
          <a:blip r:embed="rId4"/>
          <a:stretch>
            <a:fillRect/>
          </a:stretch>
        </p:blipFill>
        <p:spPr>
          <a:xfrm>
            <a:off x="5216091" y="2708920"/>
            <a:ext cx="6969071" cy="3168352"/>
          </a:xfrm>
          <a:prstGeom prst="rect">
            <a:avLst/>
          </a:prstGeom>
        </p:spPr>
      </p:pic>
      <p:sp>
        <p:nvSpPr>
          <p:cNvPr id="10" name="Text Placeholder 4">
            <a:extLst>
              <a:ext uri="{FF2B5EF4-FFF2-40B4-BE49-F238E27FC236}">
                <a16:creationId xmlns:a16="http://schemas.microsoft.com/office/drawing/2014/main" id="{5595FE06-0A36-43A4-1746-5C31766310B3}"/>
              </a:ext>
            </a:extLst>
          </p:cNvPr>
          <p:cNvSpPr txBox="1">
            <a:spLocks/>
          </p:cNvSpPr>
          <p:nvPr/>
        </p:nvSpPr>
        <p:spPr>
          <a:xfrm>
            <a:off x="119063" y="1170593"/>
            <a:ext cx="11769525" cy="1512167"/>
          </a:xfrm>
          <a:prstGeom prst="rect">
            <a:avLst/>
          </a:prstGeom>
        </p:spPr>
        <p:txBody>
          <a:bodyPr>
            <a:noAutofit/>
          </a:bodyPr>
          <a:lstStyle>
            <a:lvl1pPr marL="0" indent="0" algn="l" defTabSz="914400" rtl="0" eaLnBrk="1" latinLnBrk="0" hangingPunct="1">
              <a:spcBef>
                <a:spcPts val="600"/>
              </a:spcBef>
              <a:buFont typeface="Arial" panose="020B0604020202020204" pitchFamily="34" charset="0"/>
              <a:buNone/>
              <a:defRPr sz="2000" kern="1200">
                <a:solidFill>
                  <a:schemeClr val="tx1"/>
                </a:solidFill>
                <a:latin typeface="+mn-lt"/>
                <a:ea typeface="+mn-ea"/>
                <a:cs typeface="Arial" panose="020B0604020202020204" pitchFamily="34" charset="0"/>
              </a:defRPr>
            </a:lvl1pPr>
            <a:lvl2pPr marL="742950" indent="-285750" algn="l" defTabSz="914400" rtl="0" eaLnBrk="1" latinLnBrk="0" hangingPunct="1">
              <a:spcBef>
                <a:spcPts val="600"/>
              </a:spcBef>
              <a:buFont typeface="Arial" panose="020B0604020202020204" pitchFamily="34" charset="0"/>
              <a:buChar char="•"/>
              <a:defRPr sz="18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ts val="6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fr-FR" sz="1800" dirty="0">
                <a:solidFill>
                  <a:srgbClr val="03234B"/>
                </a:solidFill>
              </a:rPr>
              <a:t>Un Timer est un compteur interne au µC qui peut être incrémenté par un signal d’horloge externe ou interne.</a:t>
            </a:r>
            <a:endParaRPr lang="fr-FR" sz="1800" dirty="0">
              <a:solidFill>
                <a:srgbClr val="03234B"/>
              </a:solidFill>
              <a:cs typeface="Trebuchet MS"/>
            </a:endParaRPr>
          </a:p>
          <a:p>
            <a:pPr marL="287020" indent="-274320">
              <a:spcBef>
                <a:spcPts val="1639"/>
              </a:spcBef>
              <a:buSzPct val="83333"/>
              <a:buFont typeface="Arial MT"/>
              <a:buChar char="•"/>
              <a:tabLst>
                <a:tab pos="286385" algn="l"/>
                <a:tab pos="287020" algn="l"/>
              </a:tabLst>
            </a:pPr>
            <a:r>
              <a:rPr lang="fr-FR" sz="1800" spc="-25" dirty="0">
                <a:solidFill>
                  <a:srgbClr val="03234B"/>
                </a:solidFill>
                <a:cs typeface="Trebuchet MS"/>
              </a:rPr>
              <a:t>Le</a:t>
            </a:r>
            <a:r>
              <a:rPr lang="fr-FR" sz="1800" spc="-145" dirty="0">
                <a:solidFill>
                  <a:srgbClr val="03234B"/>
                </a:solidFill>
                <a:cs typeface="Trebuchet MS"/>
              </a:rPr>
              <a:t> </a:t>
            </a:r>
            <a:r>
              <a:rPr lang="fr-FR" sz="1800" spc="-80" dirty="0">
                <a:solidFill>
                  <a:srgbClr val="03234B"/>
                </a:solidFill>
                <a:cs typeface="Trebuchet MS"/>
              </a:rPr>
              <a:t>timer</a:t>
            </a:r>
            <a:r>
              <a:rPr lang="fr-FR" sz="1800" spc="-150" dirty="0">
                <a:solidFill>
                  <a:srgbClr val="03234B"/>
                </a:solidFill>
                <a:cs typeface="Trebuchet MS"/>
              </a:rPr>
              <a:t> </a:t>
            </a:r>
            <a:r>
              <a:rPr lang="fr-FR" sz="1800" spc="-45" dirty="0">
                <a:solidFill>
                  <a:srgbClr val="03234B"/>
                </a:solidFill>
                <a:cs typeface="Trebuchet MS"/>
              </a:rPr>
              <a:t>est</a:t>
            </a:r>
            <a:r>
              <a:rPr lang="fr-FR" sz="1800" spc="-145" dirty="0">
                <a:solidFill>
                  <a:srgbClr val="03234B"/>
                </a:solidFill>
                <a:cs typeface="Trebuchet MS"/>
              </a:rPr>
              <a:t> </a:t>
            </a:r>
            <a:r>
              <a:rPr lang="fr-FR" sz="1800" spc="-70" dirty="0">
                <a:solidFill>
                  <a:srgbClr val="03234B"/>
                </a:solidFill>
                <a:cs typeface="Trebuchet MS"/>
              </a:rPr>
              <a:t>l’organe</a:t>
            </a:r>
            <a:r>
              <a:rPr lang="fr-FR" sz="1800" spc="-140" dirty="0">
                <a:solidFill>
                  <a:srgbClr val="03234B"/>
                </a:solidFill>
                <a:cs typeface="Trebuchet MS"/>
              </a:rPr>
              <a:t> </a:t>
            </a:r>
            <a:r>
              <a:rPr lang="fr-FR" sz="1800" spc="-25" dirty="0">
                <a:solidFill>
                  <a:srgbClr val="03234B"/>
                </a:solidFill>
                <a:cs typeface="Trebuchet MS"/>
              </a:rPr>
              <a:t>de</a:t>
            </a:r>
            <a:r>
              <a:rPr lang="fr-FR" sz="1800" spc="-135" dirty="0">
                <a:solidFill>
                  <a:srgbClr val="03234B"/>
                </a:solidFill>
                <a:cs typeface="Trebuchet MS"/>
              </a:rPr>
              <a:t> </a:t>
            </a:r>
            <a:r>
              <a:rPr lang="fr-FR" sz="1800" spc="-40" dirty="0">
                <a:solidFill>
                  <a:srgbClr val="03234B"/>
                </a:solidFill>
                <a:cs typeface="Trebuchet MS"/>
              </a:rPr>
              <a:t>gestion</a:t>
            </a:r>
            <a:r>
              <a:rPr lang="fr-FR" sz="1800" spc="-155" dirty="0">
                <a:solidFill>
                  <a:srgbClr val="03234B"/>
                </a:solidFill>
                <a:cs typeface="Trebuchet MS"/>
              </a:rPr>
              <a:t> </a:t>
            </a:r>
            <a:r>
              <a:rPr lang="fr-FR" sz="1800" spc="-25" dirty="0">
                <a:solidFill>
                  <a:srgbClr val="03234B"/>
                </a:solidFill>
                <a:cs typeface="Trebuchet MS"/>
              </a:rPr>
              <a:t>de</a:t>
            </a:r>
            <a:r>
              <a:rPr lang="fr-FR" sz="1800" spc="-140" dirty="0">
                <a:solidFill>
                  <a:srgbClr val="03234B"/>
                </a:solidFill>
                <a:cs typeface="Trebuchet MS"/>
              </a:rPr>
              <a:t> </a:t>
            </a:r>
            <a:r>
              <a:rPr lang="fr-FR" sz="1800" spc="-20" dirty="0">
                <a:solidFill>
                  <a:srgbClr val="03234B"/>
                </a:solidFill>
                <a:cs typeface="Trebuchet MS"/>
              </a:rPr>
              <a:t>mesure</a:t>
            </a:r>
            <a:r>
              <a:rPr lang="fr-FR" sz="1800" spc="-135" dirty="0">
                <a:solidFill>
                  <a:srgbClr val="03234B"/>
                </a:solidFill>
                <a:cs typeface="Trebuchet MS"/>
              </a:rPr>
              <a:t> </a:t>
            </a:r>
            <a:r>
              <a:rPr lang="fr-FR" sz="1800" spc="-105" dirty="0">
                <a:solidFill>
                  <a:srgbClr val="03234B"/>
                </a:solidFill>
                <a:cs typeface="Trebuchet MS"/>
              </a:rPr>
              <a:t>et</a:t>
            </a:r>
            <a:r>
              <a:rPr lang="fr-FR" sz="1800" spc="-145" dirty="0">
                <a:solidFill>
                  <a:srgbClr val="03234B"/>
                </a:solidFill>
                <a:cs typeface="Trebuchet MS"/>
              </a:rPr>
              <a:t> </a:t>
            </a:r>
            <a:r>
              <a:rPr lang="fr-FR" sz="1800" spc="-55" dirty="0">
                <a:solidFill>
                  <a:srgbClr val="03234B"/>
                </a:solidFill>
                <a:cs typeface="Trebuchet MS"/>
              </a:rPr>
              <a:t>maitrise</a:t>
            </a:r>
            <a:r>
              <a:rPr lang="fr-FR" sz="1800" spc="-150" dirty="0">
                <a:solidFill>
                  <a:srgbClr val="03234B"/>
                </a:solidFill>
                <a:cs typeface="Trebuchet MS"/>
              </a:rPr>
              <a:t> </a:t>
            </a:r>
            <a:r>
              <a:rPr lang="fr-FR" sz="1800" dirty="0">
                <a:solidFill>
                  <a:srgbClr val="03234B"/>
                </a:solidFill>
                <a:cs typeface="Trebuchet MS"/>
              </a:rPr>
              <a:t>du</a:t>
            </a:r>
            <a:r>
              <a:rPr lang="fr-FR" sz="1800" spc="-140" dirty="0">
                <a:solidFill>
                  <a:srgbClr val="03234B"/>
                </a:solidFill>
                <a:cs typeface="Trebuchet MS"/>
              </a:rPr>
              <a:t> </a:t>
            </a:r>
            <a:r>
              <a:rPr lang="fr-FR" sz="1800" spc="-50" dirty="0">
                <a:solidFill>
                  <a:srgbClr val="03234B"/>
                </a:solidFill>
                <a:cs typeface="Trebuchet MS"/>
              </a:rPr>
              <a:t>temps.</a:t>
            </a:r>
            <a:endParaRPr lang="fr-FR" sz="1800" dirty="0">
              <a:solidFill>
                <a:srgbClr val="03234B"/>
              </a:solidFill>
              <a:cs typeface="Trebuchet MS"/>
            </a:endParaRPr>
          </a:p>
          <a:p>
            <a:pPr marL="286385" marR="434340" indent="-274320">
              <a:lnSpc>
                <a:spcPct val="130000"/>
              </a:lnSpc>
              <a:spcBef>
                <a:spcPts val="1000"/>
              </a:spcBef>
              <a:buSzPct val="83333"/>
              <a:buFont typeface="Arial MT"/>
              <a:buChar char="•"/>
              <a:tabLst>
                <a:tab pos="286385" algn="l"/>
                <a:tab pos="287020" algn="l"/>
              </a:tabLst>
            </a:pPr>
            <a:r>
              <a:rPr lang="fr-FR" sz="1800" spc="35" dirty="0">
                <a:solidFill>
                  <a:srgbClr val="03234B"/>
                </a:solidFill>
                <a:cs typeface="Trebuchet MS"/>
              </a:rPr>
              <a:t>A</a:t>
            </a:r>
            <a:r>
              <a:rPr lang="fr-FR" sz="1800" spc="-5" dirty="0">
                <a:solidFill>
                  <a:srgbClr val="03234B"/>
                </a:solidFill>
                <a:cs typeface="Trebuchet MS"/>
              </a:rPr>
              <a:t>u</a:t>
            </a:r>
            <a:r>
              <a:rPr lang="fr-FR" sz="1800" spc="15" dirty="0">
                <a:solidFill>
                  <a:srgbClr val="03234B"/>
                </a:solidFill>
                <a:cs typeface="Trebuchet MS"/>
              </a:rPr>
              <a:t>c</a:t>
            </a:r>
            <a:r>
              <a:rPr lang="fr-FR" sz="1800" spc="5" dirty="0">
                <a:solidFill>
                  <a:srgbClr val="03234B"/>
                </a:solidFill>
                <a:cs typeface="Trebuchet MS"/>
              </a:rPr>
              <a:t>un</a:t>
            </a:r>
            <a:r>
              <a:rPr lang="fr-FR" sz="1800" spc="-130" dirty="0">
                <a:solidFill>
                  <a:srgbClr val="03234B"/>
                </a:solidFill>
                <a:cs typeface="Trebuchet MS"/>
              </a:rPr>
              <a:t> </a:t>
            </a:r>
            <a:r>
              <a:rPr lang="fr-FR" sz="1800" spc="-155" dirty="0">
                <a:solidFill>
                  <a:srgbClr val="03234B"/>
                </a:solidFill>
                <a:cs typeface="Trebuchet MS"/>
              </a:rPr>
              <a:t>t</a:t>
            </a:r>
            <a:r>
              <a:rPr lang="fr-FR" sz="1800" spc="-20" dirty="0">
                <a:solidFill>
                  <a:srgbClr val="03234B"/>
                </a:solidFill>
                <a:cs typeface="Trebuchet MS"/>
              </a:rPr>
              <a:t>e</a:t>
            </a:r>
            <a:r>
              <a:rPr lang="fr-FR" sz="1800" spc="-30" dirty="0">
                <a:solidFill>
                  <a:srgbClr val="03234B"/>
                </a:solidFill>
                <a:cs typeface="Trebuchet MS"/>
              </a:rPr>
              <a:t>m</a:t>
            </a:r>
            <a:r>
              <a:rPr lang="fr-FR" sz="1800" dirty="0">
                <a:solidFill>
                  <a:srgbClr val="03234B"/>
                </a:solidFill>
                <a:cs typeface="Trebuchet MS"/>
              </a:rPr>
              <a:t>p</a:t>
            </a:r>
            <a:r>
              <a:rPr lang="fr-FR" sz="1800" spc="70" dirty="0">
                <a:solidFill>
                  <a:srgbClr val="03234B"/>
                </a:solidFill>
                <a:cs typeface="Trebuchet MS"/>
              </a:rPr>
              <a:t>s</a:t>
            </a:r>
            <a:r>
              <a:rPr lang="fr-FR" sz="1800" spc="-145" dirty="0">
                <a:solidFill>
                  <a:srgbClr val="03234B"/>
                </a:solidFill>
                <a:cs typeface="Trebuchet MS"/>
              </a:rPr>
              <a:t> </a:t>
            </a:r>
            <a:r>
              <a:rPr lang="fr-FR" sz="1800" spc="-5" dirty="0">
                <a:solidFill>
                  <a:srgbClr val="03234B"/>
                </a:solidFill>
                <a:cs typeface="Trebuchet MS"/>
              </a:rPr>
              <a:t>n</a:t>
            </a:r>
            <a:r>
              <a:rPr lang="fr-FR" sz="1800" spc="-50" dirty="0">
                <a:solidFill>
                  <a:srgbClr val="03234B"/>
                </a:solidFill>
                <a:cs typeface="Trebuchet MS"/>
              </a:rPr>
              <a:t>e</a:t>
            </a:r>
            <a:r>
              <a:rPr lang="fr-FR" sz="1800" spc="-135" dirty="0">
                <a:solidFill>
                  <a:srgbClr val="03234B"/>
                </a:solidFill>
                <a:cs typeface="Trebuchet MS"/>
              </a:rPr>
              <a:t> </a:t>
            </a:r>
            <a:r>
              <a:rPr lang="fr-FR" sz="1800" dirty="0">
                <a:solidFill>
                  <a:srgbClr val="03234B"/>
                </a:solidFill>
                <a:cs typeface="Trebuchet MS"/>
              </a:rPr>
              <a:t>d</a:t>
            </a:r>
            <a:r>
              <a:rPr lang="fr-FR" sz="1800" spc="-50" dirty="0">
                <a:solidFill>
                  <a:srgbClr val="03234B"/>
                </a:solidFill>
                <a:cs typeface="Trebuchet MS"/>
              </a:rPr>
              <a:t>o</a:t>
            </a:r>
            <a:r>
              <a:rPr lang="fr-FR" sz="1800" spc="-125" dirty="0">
                <a:solidFill>
                  <a:srgbClr val="03234B"/>
                </a:solidFill>
                <a:cs typeface="Trebuchet MS"/>
              </a:rPr>
              <a:t>it</a:t>
            </a:r>
            <a:r>
              <a:rPr lang="fr-FR" sz="1800" spc="-145" dirty="0">
                <a:solidFill>
                  <a:srgbClr val="03234B"/>
                </a:solidFill>
                <a:cs typeface="Trebuchet MS"/>
              </a:rPr>
              <a:t> </a:t>
            </a:r>
            <a:r>
              <a:rPr lang="fr-FR" sz="1800" spc="-105" dirty="0">
                <a:solidFill>
                  <a:srgbClr val="03234B"/>
                </a:solidFill>
                <a:cs typeface="Trebuchet MS"/>
              </a:rPr>
              <a:t>êt</a:t>
            </a:r>
            <a:r>
              <a:rPr lang="fr-FR" sz="1800" spc="-90" dirty="0">
                <a:solidFill>
                  <a:srgbClr val="03234B"/>
                </a:solidFill>
                <a:cs typeface="Trebuchet MS"/>
              </a:rPr>
              <a:t>r</a:t>
            </a:r>
            <a:r>
              <a:rPr lang="fr-FR" sz="1800" spc="-50" dirty="0">
                <a:solidFill>
                  <a:srgbClr val="03234B"/>
                </a:solidFill>
                <a:cs typeface="Trebuchet MS"/>
              </a:rPr>
              <a:t>e</a:t>
            </a:r>
            <a:r>
              <a:rPr lang="fr-FR" sz="1800" spc="-135" dirty="0">
                <a:solidFill>
                  <a:srgbClr val="03234B"/>
                </a:solidFill>
                <a:cs typeface="Trebuchet MS"/>
              </a:rPr>
              <a:t> </a:t>
            </a:r>
            <a:r>
              <a:rPr lang="fr-FR" sz="1800" spc="-45" dirty="0">
                <a:solidFill>
                  <a:srgbClr val="03234B"/>
                </a:solidFill>
                <a:cs typeface="Trebuchet MS"/>
              </a:rPr>
              <a:t>gé</a:t>
            </a:r>
            <a:r>
              <a:rPr lang="fr-FR" sz="1800" spc="-40" dirty="0">
                <a:solidFill>
                  <a:srgbClr val="03234B"/>
                </a:solidFill>
                <a:cs typeface="Trebuchet MS"/>
              </a:rPr>
              <a:t>r</a:t>
            </a:r>
            <a:r>
              <a:rPr lang="fr-FR" sz="1800" spc="-50" dirty="0">
                <a:solidFill>
                  <a:srgbClr val="03234B"/>
                </a:solidFill>
                <a:cs typeface="Trebuchet MS"/>
              </a:rPr>
              <a:t>é</a:t>
            </a:r>
            <a:r>
              <a:rPr lang="fr-FR" sz="1800" spc="-145" dirty="0">
                <a:solidFill>
                  <a:srgbClr val="03234B"/>
                </a:solidFill>
                <a:cs typeface="Trebuchet MS"/>
              </a:rPr>
              <a:t> </a:t>
            </a:r>
            <a:r>
              <a:rPr lang="fr-FR" sz="1800" dirty="0">
                <a:solidFill>
                  <a:srgbClr val="03234B"/>
                </a:solidFill>
                <a:cs typeface="Trebuchet MS"/>
              </a:rPr>
              <a:t>p</a:t>
            </a:r>
            <a:r>
              <a:rPr lang="fr-FR" sz="1800" spc="-25" dirty="0">
                <a:solidFill>
                  <a:srgbClr val="03234B"/>
                </a:solidFill>
                <a:cs typeface="Trebuchet MS"/>
              </a:rPr>
              <a:t>a</a:t>
            </a:r>
            <a:r>
              <a:rPr lang="fr-FR" sz="1800" spc="-90" dirty="0">
                <a:solidFill>
                  <a:srgbClr val="03234B"/>
                </a:solidFill>
                <a:cs typeface="Trebuchet MS"/>
              </a:rPr>
              <a:t>r</a:t>
            </a:r>
            <a:r>
              <a:rPr lang="fr-FR" sz="1800" spc="-135" dirty="0">
                <a:solidFill>
                  <a:srgbClr val="03234B"/>
                </a:solidFill>
                <a:cs typeface="Trebuchet MS"/>
              </a:rPr>
              <a:t> </a:t>
            </a:r>
            <a:r>
              <a:rPr lang="fr-FR" sz="1800" spc="-85" dirty="0">
                <a:solidFill>
                  <a:srgbClr val="03234B"/>
                </a:solidFill>
                <a:cs typeface="Trebuchet MS"/>
              </a:rPr>
              <a:t>le</a:t>
            </a:r>
            <a:r>
              <a:rPr lang="fr-FR" sz="1800" spc="-145" dirty="0">
                <a:solidFill>
                  <a:srgbClr val="03234B"/>
                </a:solidFill>
                <a:cs typeface="Trebuchet MS"/>
              </a:rPr>
              <a:t> </a:t>
            </a:r>
            <a:r>
              <a:rPr lang="fr-FR" sz="1800" spc="20" dirty="0">
                <a:solidFill>
                  <a:srgbClr val="03234B"/>
                </a:solidFill>
                <a:cs typeface="Trebuchet MS"/>
              </a:rPr>
              <a:t>C</a:t>
            </a:r>
            <a:r>
              <a:rPr lang="fr-FR" sz="1800" spc="70" dirty="0">
                <a:solidFill>
                  <a:srgbClr val="03234B"/>
                </a:solidFill>
                <a:cs typeface="Trebuchet MS"/>
              </a:rPr>
              <a:t>P</a:t>
            </a:r>
            <a:r>
              <a:rPr lang="fr-FR" sz="1800" spc="105" dirty="0">
                <a:solidFill>
                  <a:srgbClr val="03234B"/>
                </a:solidFill>
                <a:cs typeface="Trebuchet MS"/>
              </a:rPr>
              <a:t>U</a:t>
            </a:r>
            <a:r>
              <a:rPr lang="fr-FR" sz="1800" spc="-130" dirty="0">
                <a:solidFill>
                  <a:srgbClr val="03234B"/>
                </a:solidFill>
                <a:cs typeface="Trebuchet MS"/>
              </a:rPr>
              <a:t> </a:t>
            </a:r>
            <a:r>
              <a:rPr lang="fr-FR" sz="1800" spc="-30" dirty="0">
                <a:solidFill>
                  <a:srgbClr val="03234B"/>
                </a:solidFill>
                <a:cs typeface="Trebuchet MS"/>
              </a:rPr>
              <a:t>a</a:t>
            </a:r>
            <a:r>
              <a:rPr lang="fr-FR" sz="1800" spc="-5" dirty="0">
                <a:solidFill>
                  <a:srgbClr val="03234B"/>
                </a:solidFill>
                <a:cs typeface="Trebuchet MS"/>
              </a:rPr>
              <a:t>u</a:t>
            </a:r>
            <a:r>
              <a:rPr lang="fr-FR" sz="1800" spc="-155" dirty="0">
                <a:solidFill>
                  <a:srgbClr val="03234B"/>
                </a:solidFill>
                <a:cs typeface="Trebuchet MS"/>
              </a:rPr>
              <a:t>t</a:t>
            </a:r>
            <a:r>
              <a:rPr lang="fr-FR" sz="1800" spc="-90" dirty="0">
                <a:solidFill>
                  <a:srgbClr val="03234B"/>
                </a:solidFill>
                <a:cs typeface="Trebuchet MS"/>
              </a:rPr>
              <a:t>r</a:t>
            </a:r>
            <a:r>
              <a:rPr lang="fr-FR" sz="1800" spc="-20" dirty="0">
                <a:solidFill>
                  <a:srgbClr val="03234B"/>
                </a:solidFill>
                <a:cs typeface="Trebuchet MS"/>
              </a:rPr>
              <a:t>e</a:t>
            </a:r>
            <a:r>
              <a:rPr lang="fr-FR" sz="1800" spc="-30" dirty="0">
                <a:solidFill>
                  <a:srgbClr val="03234B"/>
                </a:solidFill>
                <a:cs typeface="Trebuchet MS"/>
              </a:rPr>
              <a:t>m</a:t>
            </a:r>
            <a:r>
              <a:rPr lang="fr-FR" sz="1800" spc="-25" dirty="0">
                <a:solidFill>
                  <a:srgbClr val="03234B"/>
                </a:solidFill>
                <a:cs typeface="Trebuchet MS"/>
              </a:rPr>
              <a:t>e</a:t>
            </a:r>
            <a:r>
              <a:rPr lang="fr-FR" sz="1800" spc="-35" dirty="0">
                <a:solidFill>
                  <a:srgbClr val="03234B"/>
                </a:solidFill>
                <a:cs typeface="Trebuchet MS"/>
              </a:rPr>
              <a:t>n</a:t>
            </a:r>
            <a:r>
              <a:rPr lang="fr-FR" sz="1800" spc="-155" dirty="0">
                <a:solidFill>
                  <a:srgbClr val="03234B"/>
                </a:solidFill>
                <a:cs typeface="Trebuchet MS"/>
              </a:rPr>
              <a:t>t</a:t>
            </a:r>
            <a:r>
              <a:rPr lang="fr-FR" sz="1800" spc="-135" dirty="0">
                <a:solidFill>
                  <a:srgbClr val="03234B"/>
                </a:solidFill>
                <a:cs typeface="Trebuchet MS"/>
              </a:rPr>
              <a:t> </a:t>
            </a:r>
            <a:r>
              <a:rPr lang="fr-FR" sz="1800" spc="-10" dirty="0">
                <a:solidFill>
                  <a:srgbClr val="03234B"/>
                </a:solidFill>
                <a:cs typeface="Trebuchet MS"/>
              </a:rPr>
              <a:t>q</a:t>
            </a:r>
            <a:r>
              <a:rPr lang="fr-FR" sz="1800" spc="-5" dirty="0">
                <a:solidFill>
                  <a:srgbClr val="03234B"/>
                </a:solidFill>
                <a:cs typeface="Trebuchet MS"/>
              </a:rPr>
              <a:t>u</a:t>
            </a:r>
            <a:r>
              <a:rPr lang="fr-FR" sz="1800" spc="-50" dirty="0">
                <a:solidFill>
                  <a:srgbClr val="03234B"/>
                </a:solidFill>
                <a:cs typeface="Trebuchet MS"/>
              </a:rPr>
              <a:t>e</a:t>
            </a:r>
            <a:r>
              <a:rPr lang="fr-FR" sz="1800" spc="-135" dirty="0">
                <a:solidFill>
                  <a:srgbClr val="03234B"/>
                </a:solidFill>
                <a:cs typeface="Trebuchet MS"/>
              </a:rPr>
              <a:t> </a:t>
            </a:r>
            <a:r>
              <a:rPr lang="fr-FR" sz="1800" dirty="0">
                <a:solidFill>
                  <a:srgbClr val="03234B"/>
                </a:solidFill>
                <a:cs typeface="Trebuchet MS"/>
              </a:rPr>
              <a:t>p</a:t>
            </a:r>
            <a:r>
              <a:rPr lang="fr-FR" sz="1800" spc="-25" dirty="0">
                <a:solidFill>
                  <a:srgbClr val="03234B"/>
                </a:solidFill>
                <a:cs typeface="Trebuchet MS"/>
              </a:rPr>
              <a:t>a</a:t>
            </a:r>
            <a:r>
              <a:rPr lang="fr-FR" sz="1800" spc="-75" dirty="0">
                <a:solidFill>
                  <a:srgbClr val="03234B"/>
                </a:solidFill>
                <a:cs typeface="Trebuchet MS"/>
              </a:rPr>
              <a:t>r  l’</a:t>
            </a:r>
            <a:r>
              <a:rPr lang="fr-FR" sz="1800" spc="-135" dirty="0">
                <a:solidFill>
                  <a:srgbClr val="03234B"/>
                </a:solidFill>
                <a:cs typeface="Trebuchet MS"/>
              </a:rPr>
              <a:t>u</a:t>
            </a:r>
            <a:r>
              <a:rPr lang="fr-FR" sz="1800" spc="20" dirty="0">
                <a:solidFill>
                  <a:srgbClr val="03234B"/>
                </a:solidFill>
                <a:cs typeface="Trebuchet MS"/>
              </a:rPr>
              <a:t>s</a:t>
            </a:r>
            <a:r>
              <a:rPr lang="fr-FR" sz="1800" spc="25" dirty="0">
                <a:solidFill>
                  <a:srgbClr val="03234B"/>
                </a:solidFill>
                <a:cs typeface="Trebuchet MS"/>
              </a:rPr>
              <a:t>a</a:t>
            </a:r>
            <a:r>
              <a:rPr lang="fr-FR" sz="1800" spc="-20" dirty="0">
                <a:solidFill>
                  <a:srgbClr val="03234B"/>
                </a:solidFill>
                <a:cs typeface="Trebuchet MS"/>
              </a:rPr>
              <a:t>ge</a:t>
            </a:r>
            <a:r>
              <a:rPr lang="fr-FR" sz="1800" spc="-145" dirty="0">
                <a:solidFill>
                  <a:srgbClr val="03234B"/>
                </a:solidFill>
                <a:cs typeface="Trebuchet MS"/>
              </a:rPr>
              <a:t> </a:t>
            </a:r>
            <a:r>
              <a:rPr lang="fr-FR" sz="1800" dirty="0">
                <a:solidFill>
                  <a:srgbClr val="03234B"/>
                </a:solidFill>
                <a:cs typeface="Trebuchet MS"/>
              </a:rPr>
              <a:t>d</a:t>
            </a:r>
            <a:r>
              <a:rPr lang="fr-FR" sz="1800" spc="-65" dirty="0">
                <a:solidFill>
                  <a:srgbClr val="03234B"/>
                </a:solidFill>
                <a:cs typeface="Trebuchet MS"/>
              </a:rPr>
              <a:t>’</a:t>
            </a:r>
            <a:r>
              <a:rPr lang="fr-FR" sz="1800" spc="-105" dirty="0">
                <a:solidFill>
                  <a:srgbClr val="03234B"/>
                </a:solidFill>
                <a:cs typeface="Trebuchet MS"/>
              </a:rPr>
              <a:t>u</a:t>
            </a:r>
            <a:r>
              <a:rPr lang="fr-FR" sz="1800" spc="5" dirty="0">
                <a:solidFill>
                  <a:srgbClr val="03234B"/>
                </a:solidFill>
                <a:cs typeface="Trebuchet MS"/>
              </a:rPr>
              <a:t>n</a:t>
            </a:r>
            <a:r>
              <a:rPr lang="fr-FR" sz="1800" spc="-140" dirty="0">
                <a:solidFill>
                  <a:srgbClr val="03234B"/>
                </a:solidFill>
                <a:cs typeface="Trebuchet MS"/>
              </a:rPr>
              <a:t> </a:t>
            </a:r>
            <a:r>
              <a:rPr lang="fr-FR" sz="1800" spc="-155" dirty="0">
                <a:solidFill>
                  <a:srgbClr val="03234B"/>
                </a:solidFill>
                <a:cs typeface="Trebuchet MS"/>
              </a:rPr>
              <a:t>t</a:t>
            </a:r>
            <a:r>
              <a:rPr lang="fr-FR" sz="1800" spc="-25" dirty="0">
                <a:solidFill>
                  <a:srgbClr val="03234B"/>
                </a:solidFill>
                <a:cs typeface="Trebuchet MS"/>
              </a:rPr>
              <a:t>i</a:t>
            </a:r>
            <a:r>
              <a:rPr lang="fr-FR" sz="1800" spc="-75" dirty="0">
                <a:solidFill>
                  <a:srgbClr val="03234B"/>
                </a:solidFill>
                <a:cs typeface="Trebuchet MS"/>
              </a:rPr>
              <a:t>m</a:t>
            </a:r>
            <a:r>
              <a:rPr lang="fr-FR" sz="1800" spc="-85" dirty="0">
                <a:solidFill>
                  <a:srgbClr val="03234B"/>
                </a:solidFill>
                <a:cs typeface="Trebuchet MS"/>
              </a:rPr>
              <a:t>e</a:t>
            </a:r>
            <a:r>
              <a:rPr lang="fr-FR" sz="1800" spc="-135" dirty="0">
                <a:solidFill>
                  <a:srgbClr val="03234B"/>
                </a:solidFill>
                <a:cs typeface="Trebuchet MS"/>
              </a:rPr>
              <a:t>r</a:t>
            </a:r>
            <a:r>
              <a:rPr lang="fr-FR" sz="1800" spc="-165" dirty="0">
                <a:solidFill>
                  <a:srgbClr val="03234B"/>
                </a:solidFill>
                <a:cs typeface="Trebuchet MS"/>
              </a:rPr>
              <a:t>.</a:t>
            </a:r>
            <a:endParaRPr lang="fr-FR" sz="1800" dirty="0">
              <a:solidFill>
                <a:srgbClr val="03234B"/>
              </a:solidFill>
              <a:cs typeface="Trebuchet MS"/>
            </a:endParaRPr>
          </a:p>
          <a:p>
            <a:endParaRPr lang="fr-FR" sz="1600" dirty="0"/>
          </a:p>
        </p:txBody>
      </p:sp>
    </p:spTree>
    <p:extLst>
      <p:ext uri="{BB962C8B-B14F-4D97-AF65-F5344CB8AC3E}">
        <p14:creationId xmlns:p14="http://schemas.microsoft.com/office/powerpoint/2010/main" val="3286885858"/>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D67CB0D5-8342-A287-9A86-9437EC2983EE}"/>
              </a:ext>
            </a:extLst>
          </p:cNvPr>
          <p:cNvSpPr>
            <a:spLocks noGrp="1"/>
          </p:cNvSpPr>
          <p:nvPr>
            <p:ph type="body" sz="quarter" idx="12"/>
          </p:nvPr>
        </p:nvSpPr>
        <p:spPr>
          <a:xfrm>
            <a:off x="119063" y="115888"/>
            <a:ext cx="7201074" cy="720725"/>
          </a:xfrm>
        </p:spPr>
        <p:txBody>
          <a:bodyPr>
            <a:normAutofit/>
          </a:bodyPr>
          <a:lstStyle/>
          <a:p>
            <a:r>
              <a:rPr lang="fr-FR" sz="3200" dirty="0"/>
              <a:t>Structure simplifiée d’un timer</a:t>
            </a:r>
          </a:p>
        </p:txBody>
      </p:sp>
      <p:sp>
        <p:nvSpPr>
          <p:cNvPr id="7" name="Rectangle 6">
            <a:extLst>
              <a:ext uri="{FF2B5EF4-FFF2-40B4-BE49-F238E27FC236}">
                <a16:creationId xmlns:a16="http://schemas.microsoft.com/office/drawing/2014/main" id="{F0CD4676-F6FA-291B-00B3-D3CF0A4C62D0}"/>
              </a:ext>
            </a:extLst>
          </p:cNvPr>
          <p:cNvSpPr/>
          <p:nvPr/>
        </p:nvSpPr>
        <p:spPr>
          <a:xfrm>
            <a:off x="1559496" y="1292780"/>
            <a:ext cx="864096" cy="2013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Rectangle 7">
            <a:extLst>
              <a:ext uri="{FF2B5EF4-FFF2-40B4-BE49-F238E27FC236}">
                <a16:creationId xmlns:a16="http://schemas.microsoft.com/office/drawing/2014/main" id="{10C14552-875A-4428-F48F-57C69AAACD2E}"/>
              </a:ext>
            </a:extLst>
          </p:cNvPr>
          <p:cNvSpPr/>
          <p:nvPr/>
        </p:nvSpPr>
        <p:spPr>
          <a:xfrm>
            <a:off x="9529764" y="1196752"/>
            <a:ext cx="310652" cy="18722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Rectangle 8">
            <a:extLst>
              <a:ext uri="{FF2B5EF4-FFF2-40B4-BE49-F238E27FC236}">
                <a16:creationId xmlns:a16="http://schemas.microsoft.com/office/drawing/2014/main" id="{FFC41106-E84A-7E45-4863-50659B7646F9}"/>
              </a:ext>
            </a:extLst>
          </p:cNvPr>
          <p:cNvSpPr/>
          <p:nvPr/>
        </p:nvSpPr>
        <p:spPr>
          <a:xfrm>
            <a:off x="9408368" y="5661248"/>
            <a:ext cx="454668" cy="6352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10" name="Image 9">
            <a:extLst>
              <a:ext uri="{FF2B5EF4-FFF2-40B4-BE49-F238E27FC236}">
                <a16:creationId xmlns:a16="http://schemas.microsoft.com/office/drawing/2014/main" id="{157CD285-0380-B00E-5A25-2F315FD5D006}"/>
              </a:ext>
            </a:extLst>
          </p:cNvPr>
          <p:cNvPicPr>
            <a:picLocks noChangeAspect="1"/>
          </p:cNvPicPr>
          <p:nvPr/>
        </p:nvPicPr>
        <p:blipFill rotWithShape="1">
          <a:blip r:embed="rId4"/>
          <a:srcRect t="5683" r="579"/>
          <a:stretch/>
        </p:blipFill>
        <p:spPr>
          <a:xfrm>
            <a:off x="1619688" y="1196751"/>
            <a:ext cx="8952650" cy="4572000"/>
          </a:xfrm>
          <a:prstGeom prst="rect">
            <a:avLst/>
          </a:prstGeom>
        </p:spPr>
      </p:pic>
    </p:spTree>
    <p:extLst>
      <p:ext uri="{BB962C8B-B14F-4D97-AF65-F5344CB8AC3E}">
        <p14:creationId xmlns:p14="http://schemas.microsoft.com/office/powerpoint/2010/main" val="417137992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963DC5D-B609-D3AC-5514-AEA5371A6516}"/>
              </a:ext>
            </a:extLst>
          </p:cNvPr>
          <p:cNvSpPr>
            <a:spLocks noGrp="1"/>
          </p:cNvSpPr>
          <p:nvPr>
            <p:ph type="body" sz="quarter" idx="12"/>
          </p:nvPr>
        </p:nvSpPr>
        <p:spPr>
          <a:xfrm>
            <a:off x="119063" y="115888"/>
            <a:ext cx="10153650" cy="720725"/>
          </a:xfrm>
        </p:spPr>
        <p:txBody>
          <a:bodyPr>
            <a:normAutofit/>
          </a:bodyPr>
          <a:lstStyle/>
          <a:p>
            <a:r>
              <a:rPr lang="fr-FR" sz="3200" dirty="0"/>
              <a:t>Choix de l’horloge</a:t>
            </a:r>
          </a:p>
        </p:txBody>
      </p:sp>
      <p:pic>
        <p:nvPicPr>
          <p:cNvPr id="7" name="Image 6">
            <a:extLst>
              <a:ext uri="{FF2B5EF4-FFF2-40B4-BE49-F238E27FC236}">
                <a16:creationId xmlns:a16="http://schemas.microsoft.com/office/drawing/2014/main" id="{916CEB76-DDB6-13A3-C949-76D0A959BD3F}"/>
              </a:ext>
            </a:extLst>
          </p:cNvPr>
          <p:cNvPicPr>
            <a:picLocks noChangeAspect="1"/>
          </p:cNvPicPr>
          <p:nvPr/>
        </p:nvPicPr>
        <p:blipFill>
          <a:blip r:embed="rId4"/>
          <a:stretch>
            <a:fillRect/>
          </a:stretch>
        </p:blipFill>
        <p:spPr>
          <a:xfrm>
            <a:off x="1895263" y="1186317"/>
            <a:ext cx="8401475" cy="5120640"/>
          </a:xfrm>
          <a:prstGeom prst="rect">
            <a:avLst/>
          </a:prstGeom>
        </p:spPr>
      </p:pic>
    </p:spTree>
    <p:extLst>
      <p:ext uri="{BB962C8B-B14F-4D97-AF65-F5344CB8AC3E}">
        <p14:creationId xmlns:p14="http://schemas.microsoft.com/office/powerpoint/2010/main" val="241790366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E94E934-5705-4F3F-8FB3-3D7AF4B00B51}"/>
              </a:ext>
            </a:extLst>
          </p:cNvPr>
          <p:cNvSpPr>
            <a:spLocks noGrp="1"/>
          </p:cNvSpPr>
          <p:nvPr>
            <p:ph type="body" sz="quarter" idx="12"/>
          </p:nvPr>
        </p:nvSpPr>
        <p:spPr>
          <a:xfrm>
            <a:off x="119063" y="115888"/>
            <a:ext cx="10153650" cy="720725"/>
          </a:xfrm>
        </p:spPr>
        <p:txBody>
          <a:bodyPr>
            <a:normAutofit/>
          </a:bodyPr>
          <a:lstStyle/>
          <a:p>
            <a:r>
              <a:rPr lang="fr-FR" sz="3200" dirty="0"/>
              <a:t>Basic Timer Exercice</a:t>
            </a:r>
          </a:p>
        </p:txBody>
      </p:sp>
      <p:sp>
        <p:nvSpPr>
          <p:cNvPr id="6" name="ZoneTexte 5">
            <a:extLst>
              <a:ext uri="{FF2B5EF4-FFF2-40B4-BE49-F238E27FC236}">
                <a16:creationId xmlns:a16="http://schemas.microsoft.com/office/drawing/2014/main" id="{B7FE2A71-CEF8-408B-A35D-D4E3B67963DC}"/>
              </a:ext>
            </a:extLst>
          </p:cNvPr>
          <p:cNvSpPr txBox="1"/>
          <p:nvPr/>
        </p:nvSpPr>
        <p:spPr>
          <a:xfrm>
            <a:off x="623392" y="1390712"/>
            <a:ext cx="4794069" cy="369332"/>
          </a:xfrm>
          <a:prstGeom prst="rect">
            <a:avLst/>
          </a:prstGeom>
          <a:noFill/>
        </p:spPr>
        <p:txBody>
          <a:bodyPr wrap="none" rtlCol="0">
            <a:noAutofit/>
          </a:bodyPr>
          <a:lstStyle/>
          <a:p>
            <a:r>
              <a:rPr lang="en-US" b="1">
                <a:solidFill>
                  <a:srgbClr val="03234B"/>
                </a:solidFill>
              </a:rPr>
              <a:t>Déclencher une interruption toutes les secondes</a:t>
            </a:r>
            <a:endParaRPr lang="en-US" b="1" dirty="0">
              <a:solidFill>
                <a:srgbClr val="03234B"/>
              </a:solidFill>
            </a:endParaRPr>
          </a:p>
        </p:txBody>
      </p:sp>
      <p:pic>
        <p:nvPicPr>
          <p:cNvPr id="7" name="Image 7">
            <a:extLst>
              <a:ext uri="{FF2B5EF4-FFF2-40B4-BE49-F238E27FC236}">
                <a16:creationId xmlns:a16="http://schemas.microsoft.com/office/drawing/2014/main" id="{3D6BD73B-FC1C-4F0F-8B22-72A4F1C9DA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392" y="1916832"/>
            <a:ext cx="5645150" cy="1612900"/>
          </a:xfrm>
          <a:prstGeom prst="rect">
            <a:avLst/>
          </a:prstGeom>
        </p:spPr>
      </p:pic>
      <p:pic>
        <p:nvPicPr>
          <p:cNvPr id="8" name="Image 9" descr="Une image contenant capture d’écran&#10;&#10;Description générée automatiquement">
            <a:extLst>
              <a:ext uri="{FF2B5EF4-FFF2-40B4-BE49-F238E27FC236}">
                <a16:creationId xmlns:a16="http://schemas.microsoft.com/office/drawing/2014/main" id="{42B79431-9F0C-43D8-8BC4-825F0AD436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0392" y="3558916"/>
            <a:ext cx="5500407" cy="1968500"/>
          </a:xfrm>
          <a:prstGeom prst="rect">
            <a:avLst/>
          </a:prstGeom>
        </p:spPr>
      </p:pic>
      <p:pic>
        <p:nvPicPr>
          <p:cNvPr id="9" name="Image 11" descr="Une image contenant capture d’écran&#10;&#10;Description générée automatiquement">
            <a:extLst>
              <a:ext uri="{FF2B5EF4-FFF2-40B4-BE49-F238E27FC236}">
                <a16:creationId xmlns:a16="http://schemas.microsoft.com/office/drawing/2014/main" id="{B397AF48-D98A-40E5-AD18-E9CD6921C0E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62193" y="3770214"/>
            <a:ext cx="5391083" cy="1790700"/>
          </a:xfrm>
          <a:prstGeom prst="rect">
            <a:avLst/>
          </a:prstGeom>
        </p:spPr>
      </p:pic>
      <p:sp>
        <p:nvSpPr>
          <p:cNvPr id="10" name="ZoneTexte 14">
            <a:extLst>
              <a:ext uri="{FF2B5EF4-FFF2-40B4-BE49-F238E27FC236}">
                <a16:creationId xmlns:a16="http://schemas.microsoft.com/office/drawing/2014/main" id="{FCAF16DC-D057-4C67-B7BC-B6D6A5EECB33}"/>
              </a:ext>
            </a:extLst>
          </p:cNvPr>
          <p:cNvSpPr txBox="1"/>
          <p:nvPr/>
        </p:nvSpPr>
        <p:spPr>
          <a:xfrm>
            <a:off x="7438864" y="1379565"/>
            <a:ext cx="3403496" cy="369332"/>
          </a:xfrm>
          <a:prstGeom prst="rect">
            <a:avLst/>
          </a:prstGeom>
          <a:noFill/>
        </p:spPr>
        <p:txBody>
          <a:bodyPr wrap="none" rtlCol="0">
            <a:noAutofit/>
          </a:bodyPr>
          <a:lstStyle/>
          <a:p>
            <a:r>
              <a:rPr lang="en-US">
                <a:solidFill>
                  <a:srgbClr val="E6007E"/>
                </a:solidFill>
              </a:rPr>
              <a:t>Registres ARR/PSC/CNT sur 16 bits</a:t>
            </a:r>
            <a:endParaRPr lang="en-US" dirty="0">
              <a:solidFill>
                <a:srgbClr val="E6007E"/>
              </a:solidFill>
            </a:endParaRPr>
          </a:p>
        </p:txBody>
      </p:sp>
      <p:sp>
        <p:nvSpPr>
          <p:cNvPr id="11" name="ZoneTexte 15">
            <a:extLst>
              <a:ext uri="{FF2B5EF4-FFF2-40B4-BE49-F238E27FC236}">
                <a16:creationId xmlns:a16="http://schemas.microsoft.com/office/drawing/2014/main" id="{8AE8D9D2-01D6-45C6-A162-D02E981A84FE}"/>
              </a:ext>
            </a:extLst>
          </p:cNvPr>
          <p:cNvSpPr txBox="1"/>
          <p:nvPr/>
        </p:nvSpPr>
        <p:spPr>
          <a:xfrm>
            <a:off x="8016201" y="1944538"/>
            <a:ext cx="2309735" cy="369332"/>
          </a:xfrm>
          <a:prstGeom prst="rect">
            <a:avLst/>
          </a:prstGeom>
          <a:noFill/>
        </p:spPr>
        <p:txBody>
          <a:bodyPr wrap="none" rtlCol="0">
            <a:noAutofit/>
          </a:bodyPr>
          <a:lstStyle/>
          <a:p>
            <a:r>
              <a:rPr lang="en-US">
                <a:solidFill>
                  <a:srgbClr val="03234B"/>
                </a:solidFill>
              </a:rPr>
              <a:t>Valeur max 2</a:t>
            </a:r>
            <a:r>
              <a:rPr lang="en-US" baseline="30000">
                <a:solidFill>
                  <a:srgbClr val="03234B"/>
                </a:solidFill>
              </a:rPr>
              <a:t>16</a:t>
            </a:r>
            <a:r>
              <a:rPr lang="en-US">
                <a:solidFill>
                  <a:srgbClr val="03234B"/>
                </a:solidFill>
              </a:rPr>
              <a:t>= 65535</a:t>
            </a:r>
            <a:endParaRPr lang="en-US" dirty="0">
              <a:solidFill>
                <a:srgbClr val="03234B"/>
              </a:solidFill>
            </a:endParaRPr>
          </a:p>
        </p:txBody>
      </p:sp>
    </p:spTree>
    <p:extLst>
      <p:ext uri="{BB962C8B-B14F-4D97-AF65-F5344CB8AC3E}">
        <p14:creationId xmlns:p14="http://schemas.microsoft.com/office/powerpoint/2010/main" val="3709443655"/>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2C1451DD-AE16-A217-3876-4126644F62F3}"/>
              </a:ext>
            </a:extLst>
          </p:cNvPr>
          <p:cNvSpPr>
            <a:spLocks noGrp="1"/>
          </p:cNvSpPr>
          <p:nvPr>
            <p:ph type="body" sz="quarter" idx="12"/>
          </p:nvPr>
        </p:nvSpPr>
        <p:spPr>
          <a:xfrm>
            <a:off x="119063" y="115888"/>
            <a:ext cx="10153650" cy="720725"/>
          </a:xfrm>
        </p:spPr>
        <p:txBody>
          <a:bodyPr>
            <a:normAutofit/>
          </a:bodyPr>
          <a:lstStyle/>
          <a:p>
            <a:r>
              <a:rPr lang="en-US"/>
              <a:t>Les réglages</a:t>
            </a:r>
            <a:endParaRPr lang="en-US" dirty="0"/>
          </a:p>
        </p:txBody>
      </p:sp>
      <p:sp>
        <p:nvSpPr>
          <p:cNvPr id="8" name="Rectangle 7">
            <a:extLst>
              <a:ext uri="{FF2B5EF4-FFF2-40B4-BE49-F238E27FC236}">
                <a16:creationId xmlns:a16="http://schemas.microsoft.com/office/drawing/2014/main" id="{E5DFDC62-AFE2-2D14-15DF-54C54879226D}"/>
              </a:ext>
            </a:extLst>
          </p:cNvPr>
          <p:cNvSpPr/>
          <p:nvPr/>
        </p:nvSpPr>
        <p:spPr>
          <a:xfrm>
            <a:off x="335360" y="980728"/>
            <a:ext cx="2880320" cy="10801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Flèche : droite 8">
            <a:extLst>
              <a:ext uri="{FF2B5EF4-FFF2-40B4-BE49-F238E27FC236}">
                <a16:creationId xmlns:a16="http://schemas.microsoft.com/office/drawing/2014/main" id="{B2014764-52C1-D246-ACA4-5A0A601633BE}"/>
              </a:ext>
            </a:extLst>
          </p:cNvPr>
          <p:cNvSpPr/>
          <p:nvPr/>
        </p:nvSpPr>
        <p:spPr>
          <a:xfrm>
            <a:off x="6240016" y="3933056"/>
            <a:ext cx="576064" cy="288032"/>
          </a:xfrm>
          <a:prstGeom prst="rightArrow">
            <a:avLst/>
          </a:prstGeom>
          <a:solidFill>
            <a:srgbClr val="03234B"/>
          </a:solidFill>
          <a:ln>
            <a:solidFill>
              <a:srgbClr val="03234B"/>
            </a:solidFill>
          </a:ln>
        </p:spPr>
        <p:style>
          <a:lnRef idx="2">
            <a:schemeClr val="dk1">
              <a:shade val="50000"/>
            </a:schemeClr>
          </a:lnRef>
          <a:fillRef idx="1">
            <a:schemeClr val="dk1"/>
          </a:fillRef>
          <a:effectRef idx="0">
            <a:schemeClr val="dk1"/>
          </a:effectRef>
          <a:fontRef idx="minor">
            <a:schemeClr val="lt1"/>
          </a:fontRef>
        </p:style>
        <p:txBody>
          <a:bodyPr rtlCol="0" anchor="ctr">
            <a:noAutofit/>
          </a:bodyPr>
          <a:lstStyle/>
          <a:p>
            <a:pPr algn="ctr"/>
            <a:endParaRPr lang="en-US" dirty="0"/>
          </a:p>
        </p:txBody>
      </p:sp>
      <p:pic>
        <p:nvPicPr>
          <p:cNvPr id="10" name="Image 9">
            <a:extLst>
              <a:ext uri="{FF2B5EF4-FFF2-40B4-BE49-F238E27FC236}">
                <a16:creationId xmlns:a16="http://schemas.microsoft.com/office/drawing/2014/main" id="{EF6814F1-43BC-63FA-FA72-EC7A6BBFF54F}"/>
              </a:ext>
            </a:extLst>
          </p:cNvPr>
          <p:cNvPicPr>
            <a:picLocks noChangeAspect="1"/>
          </p:cNvPicPr>
          <p:nvPr/>
        </p:nvPicPr>
        <p:blipFill rotWithShape="1">
          <a:blip r:embed="rId4"/>
          <a:srcRect l="5999" t="4009" r="2367" b="6100"/>
          <a:stretch/>
        </p:blipFill>
        <p:spPr>
          <a:xfrm>
            <a:off x="2796481" y="3284984"/>
            <a:ext cx="6599077" cy="3096345"/>
          </a:xfrm>
          <a:prstGeom prst="rect">
            <a:avLst/>
          </a:prstGeom>
        </p:spPr>
      </p:pic>
      <p:grpSp>
        <p:nvGrpSpPr>
          <p:cNvPr id="14" name="Groupe 13">
            <a:extLst>
              <a:ext uri="{FF2B5EF4-FFF2-40B4-BE49-F238E27FC236}">
                <a16:creationId xmlns:a16="http://schemas.microsoft.com/office/drawing/2014/main" id="{99411857-5350-0DB4-A50E-059577FB5AD2}"/>
              </a:ext>
            </a:extLst>
          </p:cNvPr>
          <p:cNvGrpSpPr>
            <a:grpSpLocks noChangeAspect="1"/>
          </p:cNvGrpSpPr>
          <p:nvPr/>
        </p:nvGrpSpPr>
        <p:grpSpPr>
          <a:xfrm>
            <a:off x="3326807" y="1257112"/>
            <a:ext cx="5538394" cy="1828800"/>
            <a:chOff x="289049" y="1257112"/>
            <a:chExt cx="4798846" cy="1584598"/>
          </a:xfrm>
        </p:grpSpPr>
        <p:pic>
          <p:nvPicPr>
            <p:cNvPr id="12" name="Image 11">
              <a:extLst>
                <a:ext uri="{FF2B5EF4-FFF2-40B4-BE49-F238E27FC236}">
                  <a16:creationId xmlns:a16="http://schemas.microsoft.com/office/drawing/2014/main" id="{1527B11F-9D1D-EB59-8425-E25EF5CA03F4}"/>
                </a:ext>
              </a:extLst>
            </p:cNvPr>
            <p:cNvPicPr>
              <a:picLocks noChangeAspect="1"/>
            </p:cNvPicPr>
            <p:nvPr/>
          </p:nvPicPr>
          <p:blipFill rotWithShape="1">
            <a:blip r:embed="rId5"/>
            <a:srcRect r="60725" b="33154"/>
            <a:stretch/>
          </p:blipFill>
          <p:spPr>
            <a:xfrm>
              <a:off x="289049" y="1257112"/>
              <a:ext cx="1918507" cy="1451808"/>
            </a:xfrm>
            <a:prstGeom prst="rect">
              <a:avLst/>
            </a:prstGeom>
          </p:spPr>
        </p:pic>
        <p:pic>
          <p:nvPicPr>
            <p:cNvPr id="13" name="Image 12">
              <a:extLst>
                <a:ext uri="{FF2B5EF4-FFF2-40B4-BE49-F238E27FC236}">
                  <a16:creationId xmlns:a16="http://schemas.microsoft.com/office/drawing/2014/main" id="{A8EFF3BD-63D2-7298-92A1-5BBABFF6397A}"/>
                </a:ext>
              </a:extLst>
            </p:cNvPr>
            <p:cNvPicPr>
              <a:picLocks noChangeAspect="1"/>
            </p:cNvPicPr>
            <p:nvPr/>
          </p:nvPicPr>
          <p:blipFill rotWithShape="1">
            <a:blip r:embed="rId5"/>
            <a:srcRect l="41036" t="66816"/>
            <a:stretch/>
          </p:blipFill>
          <p:spPr>
            <a:xfrm>
              <a:off x="2207567" y="2120984"/>
              <a:ext cx="2880328" cy="720726"/>
            </a:xfrm>
            <a:prstGeom prst="rect">
              <a:avLst/>
            </a:prstGeom>
          </p:spPr>
        </p:pic>
      </p:grpSp>
    </p:spTree>
    <p:extLst>
      <p:ext uri="{BB962C8B-B14F-4D97-AF65-F5344CB8AC3E}">
        <p14:creationId xmlns:p14="http://schemas.microsoft.com/office/powerpoint/2010/main" val="3176246954"/>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E94E934-5705-4F3F-8FB3-3D7AF4B00B51}"/>
              </a:ext>
            </a:extLst>
          </p:cNvPr>
          <p:cNvSpPr>
            <a:spLocks noGrp="1"/>
          </p:cNvSpPr>
          <p:nvPr>
            <p:ph type="body" sz="quarter" idx="12"/>
          </p:nvPr>
        </p:nvSpPr>
        <p:spPr>
          <a:xfrm>
            <a:off x="119063" y="115888"/>
            <a:ext cx="10153650" cy="720725"/>
          </a:xfrm>
        </p:spPr>
        <p:txBody>
          <a:bodyPr>
            <a:normAutofit/>
          </a:bodyPr>
          <a:lstStyle/>
          <a:p>
            <a:r>
              <a:rPr lang="en-US" sz="3200" dirty="0"/>
              <a:t>Architecture</a:t>
            </a:r>
          </a:p>
        </p:txBody>
      </p:sp>
      <p:grpSp>
        <p:nvGrpSpPr>
          <p:cNvPr id="6" name="Group 5">
            <a:extLst>
              <a:ext uri="{FF2B5EF4-FFF2-40B4-BE49-F238E27FC236}">
                <a16:creationId xmlns:a16="http://schemas.microsoft.com/office/drawing/2014/main" id="{1850B096-E074-457D-91AE-16B9E713E106}"/>
              </a:ext>
            </a:extLst>
          </p:cNvPr>
          <p:cNvGrpSpPr/>
          <p:nvPr/>
        </p:nvGrpSpPr>
        <p:grpSpPr>
          <a:xfrm>
            <a:off x="145714" y="802333"/>
            <a:ext cx="5099050" cy="4584700"/>
            <a:chOff x="1138116" y="1552819"/>
            <a:chExt cx="5099050" cy="4584700"/>
          </a:xfrm>
        </p:grpSpPr>
        <p:pic>
          <p:nvPicPr>
            <p:cNvPr id="7" name="Image 7" descr="Une image contenant capture d’écran&#10;&#10;Description générée automatiquement">
              <a:extLst>
                <a:ext uri="{FF2B5EF4-FFF2-40B4-BE49-F238E27FC236}">
                  <a16:creationId xmlns:a16="http://schemas.microsoft.com/office/drawing/2014/main" id="{1DAD70AE-03A7-4972-82A9-6E17D4AB4A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8116" y="1552819"/>
              <a:ext cx="5099050" cy="4584700"/>
            </a:xfrm>
            <a:prstGeom prst="rect">
              <a:avLst/>
            </a:prstGeom>
          </p:spPr>
        </p:pic>
        <p:sp>
          <p:nvSpPr>
            <p:cNvPr id="8" name="ZoneTexte 6">
              <a:extLst>
                <a:ext uri="{FF2B5EF4-FFF2-40B4-BE49-F238E27FC236}">
                  <a16:creationId xmlns:a16="http://schemas.microsoft.com/office/drawing/2014/main" id="{C65C7EDC-BCF5-474D-81AF-14E0313F9D42}"/>
                </a:ext>
              </a:extLst>
            </p:cNvPr>
            <p:cNvSpPr txBox="1"/>
            <p:nvPr/>
          </p:nvSpPr>
          <p:spPr>
            <a:xfrm>
              <a:off x="2745565" y="3215730"/>
              <a:ext cx="1218603" cy="215444"/>
            </a:xfrm>
            <a:prstGeom prst="rect">
              <a:avLst/>
            </a:prstGeom>
            <a:noFill/>
          </p:spPr>
          <p:txBody>
            <a:bodyPr wrap="none" rtlCol="0">
              <a:noAutofit/>
            </a:bodyPr>
            <a:lstStyle/>
            <a:p>
              <a:r>
                <a:rPr lang="en-US" sz="800">
                  <a:solidFill>
                    <a:srgbClr val="E6007E"/>
                  </a:solidFill>
                </a:rPr>
                <a:t>Source d’incrémentation</a:t>
              </a:r>
              <a:endParaRPr lang="en-US" sz="800" dirty="0">
                <a:solidFill>
                  <a:srgbClr val="E6007E"/>
                </a:solidFill>
              </a:endParaRPr>
            </a:p>
          </p:txBody>
        </p:sp>
        <p:sp>
          <p:nvSpPr>
            <p:cNvPr id="9" name="ZoneTexte 8">
              <a:extLst>
                <a:ext uri="{FF2B5EF4-FFF2-40B4-BE49-F238E27FC236}">
                  <a16:creationId xmlns:a16="http://schemas.microsoft.com/office/drawing/2014/main" id="{94B495DD-4EEF-4FE0-9C2D-8895032712CB}"/>
                </a:ext>
              </a:extLst>
            </p:cNvPr>
            <p:cNvSpPr txBox="1"/>
            <p:nvPr/>
          </p:nvSpPr>
          <p:spPr>
            <a:xfrm>
              <a:off x="2640621" y="4729398"/>
              <a:ext cx="522900" cy="215444"/>
            </a:xfrm>
            <a:prstGeom prst="rect">
              <a:avLst/>
            </a:prstGeom>
            <a:noFill/>
          </p:spPr>
          <p:txBody>
            <a:bodyPr wrap="none" rtlCol="0">
              <a:noAutofit/>
            </a:bodyPr>
            <a:lstStyle/>
            <a:p>
              <a:r>
                <a:rPr lang="en-US" sz="800">
                  <a:solidFill>
                    <a:srgbClr val="E6007E"/>
                  </a:solidFill>
                </a:rPr>
                <a:t>Diviseur</a:t>
              </a:r>
              <a:endParaRPr lang="en-US" sz="800" dirty="0">
                <a:solidFill>
                  <a:srgbClr val="E6007E"/>
                </a:solidFill>
              </a:endParaRPr>
            </a:p>
          </p:txBody>
        </p:sp>
        <p:sp>
          <p:nvSpPr>
            <p:cNvPr id="10" name="ZoneTexte 9">
              <a:extLst>
                <a:ext uri="{FF2B5EF4-FFF2-40B4-BE49-F238E27FC236}">
                  <a16:creationId xmlns:a16="http://schemas.microsoft.com/office/drawing/2014/main" id="{DD5A2022-1865-4D02-B05B-7E787D33AD51}"/>
                </a:ext>
              </a:extLst>
            </p:cNvPr>
            <p:cNvSpPr txBox="1"/>
            <p:nvPr/>
          </p:nvSpPr>
          <p:spPr>
            <a:xfrm>
              <a:off x="4744913" y="4729398"/>
              <a:ext cx="453970" cy="215444"/>
            </a:xfrm>
            <a:prstGeom prst="rect">
              <a:avLst/>
            </a:prstGeom>
            <a:noFill/>
          </p:spPr>
          <p:txBody>
            <a:bodyPr wrap="none" rtlCol="0">
              <a:noAutofit/>
            </a:bodyPr>
            <a:lstStyle/>
            <a:p>
              <a:r>
                <a:rPr lang="en-US" sz="800">
                  <a:solidFill>
                    <a:srgbClr val="E6007E"/>
                  </a:solidFill>
                </a:rPr>
                <a:t>Action</a:t>
              </a:r>
              <a:endParaRPr lang="en-US" sz="800" dirty="0">
                <a:solidFill>
                  <a:srgbClr val="E6007E"/>
                </a:solidFill>
              </a:endParaRPr>
            </a:p>
          </p:txBody>
        </p:sp>
        <p:sp>
          <p:nvSpPr>
            <p:cNvPr id="11" name="ZoneTexte 10">
              <a:extLst>
                <a:ext uri="{FF2B5EF4-FFF2-40B4-BE49-F238E27FC236}">
                  <a16:creationId xmlns:a16="http://schemas.microsoft.com/office/drawing/2014/main" id="{548E3B89-72CA-436F-93E6-79AA9F5EBA14}"/>
                </a:ext>
              </a:extLst>
            </p:cNvPr>
            <p:cNvSpPr txBox="1"/>
            <p:nvPr/>
          </p:nvSpPr>
          <p:spPr>
            <a:xfrm>
              <a:off x="3418988" y="5098529"/>
              <a:ext cx="1090363" cy="215444"/>
            </a:xfrm>
            <a:prstGeom prst="rect">
              <a:avLst/>
            </a:prstGeom>
            <a:noFill/>
          </p:spPr>
          <p:txBody>
            <a:bodyPr wrap="none" rtlCol="0">
              <a:noAutofit/>
            </a:bodyPr>
            <a:lstStyle/>
            <a:p>
              <a:r>
                <a:rPr lang="en-US" sz="800">
                  <a:solidFill>
                    <a:srgbClr val="E6007E"/>
                  </a:solidFill>
                </a:rPr>
                <a:t>Résultat du compteur</a:t>
              </a:r>
              <a:endParaRPr lang="en-US" sz="800" dirty="0">
                <a:solidFill>
                  <a:srgbClr val="E6007E"/>
                </a:solidFill>
              </a:endParaRPr>
            </a:p>
          </p:txBody>
        </p:sp>
        <p:sp>
          <p:nvSpPr>
            <p:cNvPr id="12" name="ZoneTexte 11">
              <a:extLst>
                <a:ext uri="{FF2B5EF4-FFF2-40B4-BE49-F238E27FC236}">
                  <a16:creationId xmlns:a16="http://schemas.microsoft.com/office/drawing/2014/main" id="{7CD18985-9AAD-44AC-A783-B0AB50CC8B6F}"/>
                </a:ext>
              </a:extLst>
            </p:cNvPr>
            <p:cNvSpPr txBox="1"/>
            <p:nvPr/>
          </p:nvSpPr>
          <p:spPr>
            <a:xfrm>
              <a:off x="3445437" y="4408407"/>
              <a:ext cx="1037463" cy="215444"/>
            </a:xfrm>
            <a:prstGeom prst="rect">
              <a:avLst/>
            </a:prstGeom>
            <a:noFill/>
          </p:spPr>
          <p:txBody>
            <a:bodyPr wrap="none" rtlCol="0">
              <a:noAutofit/>
            </a:bodyPr>
            <a:lstStyle/>
            <a:p>
              <a:r>
                <a:rPr lang="en-US" sz="800">
                  <a:solidFill>
                    <a:srgbClr val="E6007E"/>
                  </a:solidFill>
                </a:rPr>
                <a:t>Valeur de remise à 0</a:t>
              </a:r>
              <a:endParaRPr lang="en-US" sz="800" dirty="0">
                <a:solidFill>
                  <a:srgbClr val="E6007E"/>
                </a:solidFill>
              </a:endParaRPr>
            </a:p>
          </p:txBody>
        </p:sp>
      </p:grpSp>
      <p:sp>
        <p:nvSpPr>
          <p:cNvPr id="13" name="ZoneTexte 12">
            <a:extLst>
              <a:ext uri="{FF2B5EF4-FFF2-40B4-BE49-F238E27FC236}">
                <a16:creationId xmlns:a16="http://schemas.microsoft.com/office/drawing/2014/main" id="{266A1DD0-3603-4518-9516-B3A0D63C9AA1}"/>
              </a:ext>
            </a:extLst>
          </p:cNvPr>
          <p:cNvSpPr txBox="1"/>
          <p:nvPr/>
        </p:nvSpPr>
        <p:spPr>
          <a:xfrm>
            <a:off x="1307017" y="5366245"/>
            <a:ext cx="4428943" cy="954107"/>
          </a:xfrm>
          <a:prstGeom prst="rect">
            <a:avLst/>
          </a:prstGeom>
          <a:noFill/>
        </p:spPr>
        <p:txBody>
          <a:bodyPr wrap="square" rtlCol="0">
            <a:noAutofit/>
          </a:bodyPr>
          <a:lstStyle/>
          <a:p>
            <a:pPr marL="285750" indent="-285750">
              <a:buFont typeface="Wingdings" panose="05000000000000000000" pitchFamily="2" charset="2"/>
              <a:buChar char="Ø"/>
            </a:pPr>
            <a:r>
              <a:rPr lang="fr-FR" sz="1400" dirty="0">
                <a:solidFill>
                  <a:srgbClr val="03234B"/>
                </a:solidFill>
              </a:rPr>
              <a:t>Compte à partir de l’horloge interne « Core »</a:t>
            </a:r>
          </a:p>
          <a:p>
            <a:pPr marL="285750" indent="-285750">
              <a:buFont typeface="Wingdings" panose="05000000000000000000" pitchFamily="2" charset="2"/>
              <a:buChar char="Ø"/>
            </a:pPr>
            <a:r>
              <a:rPr lang="fr-FR" sz="1400" dirty="0">
                <a:solidFill>
                  <a:srgbClr val="03234B"/>
                </a:solidFill>
              </a:rPr>
              <a:t>Valeur du compteur dans Count Register</a:t>
            </a:r>
          </a:p>
          <a:p>
            <a:pPr marL="285750" indent="-285750">
              <a:buFont typeface="Wingdings" panose="05000000000000000000" pitchFamily="2" charset="2"/>
              <a:buChar char="Ø"/>
            </a:pPr>
            <a:r>
              <a:rPr lang="fr-FR" sz="1400" dirty="0">
                <a:solidFill>
                  <a:srgbClr val="03234B"/>
                </a:solidFill>
              </a:rPr>
              <a:t>Compte jusqu’à ARR</a:t>
            </a:r>
          </a:p>
          <a:p>
            <a:pPr marL="285750" indent="-285750">
              <a:buFont typeface="Wingdings" panose="05000000000000000000" pitchFamily="2" charset="2"/>
              <a:buChar char="Ø"/>
            </a:pPr>
            <a:r>
              <a:rPr lang="fr-FR" sz="1400" dirty="0">
                <a:solidFill>
                  <a:srgbClr val="03234B"/>
                </a:solidFill>
              </a:rPr>
              <a:t>Si count =ARR -&gt; action</a:t>
            </a:r>
          </a:p>
        </p:txBody>
      </p:sp>
      <p:grpSp>
        <p:nvGrpSpPr>
          <p:cNvPr id="5" name="Group 4">
            <a:extLst>
              <a:ext uri="{FF2B5EF4-FFF2-40B4-BE49-F238E27FC236}">
                <a16:creationId xmlns:a16="http://schemas.microsoft.com/office/drawing/2014/main" id="{88AFA89E-6224-45A9-8BDE-BB88F455EC87}"/>
              </a:ext>
            </a:extLst>
          </p:cNvPr>
          <p:cNvGrpSpPr/>
          <p:nvPr/>
        </p:nvGrpSpPr>
        <p:grpSpPr>
          <a:xfrm>
            <a:off x="6175094" y="3956503"/>
            <a:ext cx="5803788" cy="2437934"/>
            <a:chOff x="6175094" y="3956503"/>
            <a:chExt cx="5803788" cy="2437934"/>
          </a:xfrm>
        </p:grpSpPr>
        <p:cxnSp>
          <p:nvCxnSpPr>
            <p:cNvPr id="14" name="Connecteur droit 31">
              <a:extLst>
                <a:ext uri="{FF2B5EF4-FFF2-40B4-BE49-F238E27FC236}">
                  <a16:creationId xmlns:a16="http://schemas.microsoft.com/office/drawing/2014/main" id="{929303F3-E112-4A49-83C8-E7AF3726003C}"/>
                </a:ext>
              </a:extLst>
            </p:cNvPr>
            <p:cNvCxnSpPr/>
            <p:nvPr/>
          </p:nvCxnSpPr>
          <p:spPr>
            <a:xfrm flipV="1">
              <a:off x="8744396" y="4818404"/>
              <a:ext cx="0" cy="144016"/>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15" name="Connecteur droit 32">
              <a:extLst>
                <a:ext uri="{FF2B5EF4-FFF2-40B4-BE49-F238E27FC236}">
                  <a16:creationId xmlns:a16="http://schemas.microsoft.com/office/drawing/2014/main" id="{B1AC9998-1E78-4071-B332-F95FF81D054E}"/>
                </a:ext>
              </a:extLst>
            </p:cNvPr>
            <p:cNvCxnSpPr/>
            <p:nvPr/>
          </p:nvCxnSpPr>
          <p:spPr>
            <a:xfrm flipV="1">
              <a:off x="8875693" y="4818404"/>
              <a:ext cx="0" cy="144016"/>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16" name="Connecteur droit 33">
              <a:extLst>
                <a:ext uri="{FF2B5EF4-FFF2-40B4-BE49-F238E27FC236}">
                  <a16:creationId xmlns:a16="http://schemas.microsoft.com/office/drawing/2014/main" id="{366F3F37-3C0C-4244-A051-2D20DC0B8B21}"/>
                </a:ext>
              </a:extLst>
            </p:cNvPr>
            <p:cNvCxnSpPr/>
            <p:nvPr/>
          </p:nvCxnSpPr>
          <p:spPr>
            <a:xfrm>
              <a:off x="8742547" y="4818404"/>
              <a:ext cx="131297" cy="0"/>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17" name="Connecteur droit 34">
              <a:extLst>
                <a:ext uri="{FF2B5EF4-FFF2-40B4-BE49-F238E27FC236}">
                  <a16:creationId xmlns:a16="http://schemas.microsoft.com/office/drawing/2014/main" id="{50065521-A948-46B1-91DD-60EFBD3089B5}"/>
                </a:ext>
              </a:extLst>
            </p:cNvPr>
            <p:cNvCxnSpPr/>
            <p:nvPr/>
          </p:nvCxnSpPr>
          <p:spPr>
            <a:xfrm>
              <a:off x="8875693" y="4962420"/>
              <a:ext cx="131297" cy="0"/>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sp>
          <p:nvSpPr>
            <p:cNvPr id="18" name="Rectangle : coins arrondis 36">
              <a:extLst>
                <a:ext uri="{FF2B5EF4-FFF2-40B4-BE49-F238E27FC236}">
                  <a16:creationId xmlns:a16="http://schemas.microsoft.com/office/drawing/2014/main" id="{010F2161-7F20-44AB-8E04-28209FB8558F}"/>
                </a:ext>
              </a:extLst>
            </p:cNvPr>
            <p:cNvSpPr/>
            <p:nvPr/>
          </p:nvSpPr>
          <p:spPr>
            <a:xfrm>
              <a:off x="7658739" y="4563487"/>
              <a:ext cx="909716" cy="582400"/>
            </a:xfrm>
            <a:prstGeom prst="rect">
              <a:avLst/>
            </a:prstGeom>
            <a:solidFill>
              <a:srgbClr val="00529B"/>
            </a:solidFill>
            <a:ln>
              <a:solidFill>
                <a:srgbClr val="0323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200"/>
                <a:t>Diviseur par N</a:t>
              </a:r>
              <a:endParaRPr lang="en-US" sz="1200" dirty="0"/>
            </a:p>
          </p:txBody>
        </p:sp>
        <p:sp>
          <p:nvSpPr>
            <p:cNvPr id="19" name="Rectangle : coins arrondis 37">
              <a:extLst>
                <a:ext uri="{FF2B5EF4-FFF2-40B4-BE49-F238E27FC236}">
                  <a16:creationId xmlns:a16="http://schemas.microsoft.com/office/drawing/2014/main" id="{AA853B51-4515-4E08-AAC1-A08A7F25809E}"/>
                </a:ext>
              </a:extLst>
            </p:cNvPr>
            <p:cNvSpPr/>
            <p:nvPr/>
          </p:nvSpPr>
          <p:spPr>
            <a:xfrm>
              <a:off x="9231535" y="4563487"/>
              <a:ext cx="909716" cy="582400"/>
            </a:xfrm>
            <a:prstGeom prst="rect">
              <a:avLst/>
            </a:prstGeom>
            <a:solidFill>
              <a:srgbClr val="00529B"/>
            </a:solidFill>
            <a:ln>
              <a:solidFill>
                <a:srgbClr val="0323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200"/>
                <a:t>compteur</a:t>
              </a:r>
              <a:endParaRPr lang="en-US" sz="1200" dirty="0"/>
            </a:p>
          </p:txBody>
        </p:sp>
        <p:grpSp>
          <p:nvGrpSpPr>
            <p:cNvPr id="20" name="Group 19">
              <a:extLst>
                <a:ext uri="{FF2B5EF4-FFF2-40B4-BE49-F238E27FC236}">
                  <a16:creationId xmlns:a16="http://schemas.microsoft.com/office/drawing/2014/main" id="{62D87170-0907-4806-9DD0-6804369A382B}"/>
                </a:ext>
              </a:extLst>
            </p:cNvPr>
            <p:cNvGrpSpPr/>
            <p:nvPr/>
          </p:nvGrpSpPr>
          <p:grpSpPr>
            <a:xfrm>
              <a:off x="6318411" y="4231144"/>
              <a:ext cx="999744" cy="811747"/>
              <a:chOff x="5957609" y="3806024"/>
              <a:chExt cx="999744" cy="811747"/>
            </a:xfrm>
          </p:grpSpPr>
          <p:cxnSp>
            <p:nvCxnSpPr>
              <p:cNvPr id="21" name="Connecteur droit 19">
                <a:extLst>
                  <a:ext uri="{FF2B5EF4-FFF2-40B4-BE49-F238E27FC236}">
                    <a16:creationId xmlns:a16="http://schemas.microsoft.com/office/drawing/2014/main" id="{733BB97A-0CCD-474C-9DEC-BF33753F7C86}"/>
                  </a:ext>
                </a:extLst>
              </p:cNvPr>
              <p:cNvCxnSpPr/>
              <p:nvPr/>
            </p:nvCxnSpPr>
            <p:spPr>
              <a:xfrm flipV="1">
                <a:off x="6432166" y="4473755"/>
                <a:ext cx="0" cy="144016"/>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22" name="Connecteur droit 20">
                <a:extLst>
                  <a:ext uri="{FF2B5EF4-FFF2-40B4-BE49-F238E27FC236}">
                    <a16:creationId xmlns:a16="http://schemas.microsoft.com/office/drawing/2014/main" id="{42D40FEB-2F1B-4D58-80FE-DA681D35CEE5}"/>
                  </a:ext>
                </a:extLst>
              </p:cNvPr>
              <p:cNvCxnSpPr/>
              <p:nvPr/>
            </p:nvCxnSpPr>
            <p:spPr>
              <a:xfrm flipV="1">
                <a:off x="6563463" y="4473755"/>
                <a:ext cx="0" cy="144016"/>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23" name="Connecteur droit 21">
                <a:extLst>
                  <a:ext uri="{FF2B5EF4-FFF2-40B4-BE49-F238E27FC236}">
                    <a16:creationId xmlns:a16="http://schemas.microsoft.com/office/drawing/2014/main" id="{13BCCEDC-FF50-4458-8A7F-287CFB14BF86}"/>
                  </a:ext>
                </a:extLst>
              </p:cNvPr>
              <p:cNvCxnSpPr/>
              <p:nvPr/>
            </p:nvCxnSpPr>
            <p:spPr>
              <a:xfrm flipV="1">
                <a:off x="6694760" y="4473755"/>
                <a:ext cx="0" cy="144016"/>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24" name="Connecteur droit 22">
                <a:extLst>
                  <a:ext uri="{FF2B5EF4-FFF2-40B4-BE49-F238E27FC236}">
                    <a16:creationId xmlns:a16="http://schemas.microsoft.com/office/drawing/2014/main" id="{064BDC69-0878-4799-B4DD-96FEBE17C6CD}"/>
                  </a:ext>
                </a:extLst>
              </p:cNvPr>
              <p:cNvCxnSpPr/>
              <p:nvPr/>
            </p:nvCxnSpPr>
            <p:spPr>
              <a:xfrm>
                <a:off x="6441468" y="4473755"/>
                <a:ext cx="131297" cy="0"/>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25" name="Connecteur droit 23">
                <a:extLst>
                  <a:ext uri="{FF2B5EF4-FFF2-40B4-BE49-F238E27FC236}">
                    <a16:creationId xmlns:a16="http://schemas.microsoft.com/office/drawing/2014/main" id="{D2253D37-B73D-4F8A-8161-EE8A50E1B232}"/>
                  </a:ext>
                </a:extLst>
              </p:cNvPr>
              <p:cNvCxnSpPr/>
              <p:nvPr/>
            </p:nvCxnSpPr>
            <p:spPr>
              <a:xfrm>
                <a:off x="6563463" y="4617771"/>
                <a:ext cx="131297" cy="0"/>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26" name="Connecteur droit 24">
                <a:extLst>
                  <a:ext uri="{FF2B5EF4-FFF2-40B4-BE49-F238E27FC236}">
                    <a16:creationId xmlns:a16="http://schemas.microsoft.com/office/drawing/2014/main" id="{39406AA6-71B8-4AA4-AF58-E8A7D52BDFCE}"/>
                  </a:ext>
                </a:extLst>
              </p:cNvPr>
              <p:cNvCxnSpPr/>
              <p:nvPr/>
            </p:nvCxnSpPr>
            <p:spPr>
              <a:xfrm>
                <a:off x="6694760" y="4473755"/>
                <a:ext cx="131297" cy="0"/>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27" name="Connecteur droit 25">
                <a:extLst>
                  <a:ext uri="{FF2B5EF4-FFF2-40B4-BE49-F238E27FC236}">
                    <a16:creationId xmlns:a16="http://schemas.microsoft.com/office/drawing/2014/main" id="{930216E4-6149-42AA-A13A-C0489BCBAEB8}"/>
                  </a:ext>
                </a:extLst>
              </p:cNvPr>
              <p:cNvCxnSpPr/>
              <p:nvPr/>
            </p:nvCxnSpPr>
            <p:spPr>
              <a:xfrm>
                <a:off x="6826056" y="4617771"/>
                <a:ext cx="131297" cy="0"/>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28" name="Connecteur droit 26">
                <a:extLst>
                  <a:ext uri="{FF2B5EF4-FFF2-40B4-BE49-F238E27FC236}">
                    <a16:creationId xmlns:a16="http://schemas.microsoft.com/office/drawing/2014/main" id="{E543F6D9-052B-4ECB-B2B9-EEE8E3A1D89B}"/>
                  </a:ext>
                </a:extLst>
              </p:cNvPr>
              <p:cNvCxnSpPr/>
              <p:nvPr/>
            </p:nvCxnSpPr>
            <p:spPr>
              <a:xfrm flipV="1">
                <a:off x="6826056" y="4473755"/>
                <a:ext cx="0" cy="144016"/>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29" name="Connecteur droit 27">
                <a:extLst>
                  <a:ext uri="{FF2B5EF4-FFF2-40B4-BE49-F238E27FC236}">
                    <a16:creationId xmlns:a16="http://schemas.microsoft.com/office/drawing/2014/main" id="{48F4E617-B192-4F89-919F-BBAF46130BF0}"/>
                  </a:ext>
                </a:extLst>
              </p:cNvPr>
              <p:cNvCxnSpPr/>
              <p:nvPr/>
            </p:nvCxnSpPr>
            <p:spPr>
              <a:xfrm flipV="1">
                <a:off x="5995481" y="4469244"/>
                <a:ext cx="0" cy="144016"/>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30" name="Connecteur droit 28">
                <a:extLst>
                  <a:ext uri="{FF2B5EF4-FFF2-40B4-BE49-F238E27FC236}">
                    <a16:creationId xmlns:a16="http://schemas.microsoft.com/office/drawing/2014/main" id="{1C8368D3-7C72-43B8-B6D9-8679965DF55A}"/>
                  </a:ext>
                </a:extLst>
              </p:cNvPr>
              <p:cNvCxnSpPr/>
              <p:nvPr/>
            </p:nvCxnSpPr>
            <p:spPr>
              <a:xfrm flipV="1">
                <a:off x="6126778" y="4469244"/>
                <a:ext cx="0" cy="144016"/>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31" name="Connecteur droit 29">
                <a:extLst>
                  <a:ext uri="{FF2B5EF4-FFF2-40B4-BE49-F238E27FC236}">
                    <a16:creationId xmlns:a16="http://schemas.microsoft.com/office/drawing/2014/main" id="{FE9A3864-D147-415A-BED9-25A991EAD765}"/>
                  </a:ext>
                </a:extLst>
              </p:cNvPr>
              <p:cNvCxnSpPr/>
              <p:nvPr/>
            </p:nvCxnSpPr>
            <p:spPr>
              <a:xfrm>
                <a:off x="5993632" y="4469244"/>
                <a:ext cx="131297" cy="0"/>
              </a:xfrm>
              <a:prstGeom prst="line">
                <a:avLst/>
              </a:prstGeom>
              <a:ln>
                <a:solidFill>
                  <a:srgbClr val="800000"/>
                </a:solidFill>
              </a:ln>
            </p:spPr>
            <p:style>
              <a:lnRef idx="2">
                <a:schemeClr val="accent1"/>
              </a:lnRef>
              <a:fillRef idx="0">
                <a:schemeClr val="accent1"/>
              </a:fillRef>
              <a:effectRef idx="1">
                <a:schemeClr val="accent1"/>
              </a:effectRef>
              <a:fontRef idx="minor">
                <a:schemeClr val="tx1"/>
              </a:fontRef>
            </p:style>
          </p:cxnSp>
          <p:cxnSp>
            <p:nvCxnSpPr>
              <p:cNvPr id="32" name="Connecteur droit 30">
                <a:extLst>
                  <a:ext uri="{FF2B5EF4-FFF2-40B4-BE49-F238E27FC236}">
                    <a16:creationId xmlns:a16="http://schemas.microsoft.com/office/drawing/2014/main" id="{BABEFDDB-0B34-4842-803A-51A9C45288B4}"/>
                  </a:ext>
                </a:extLst>
              </p:cNvPr>
              <p:cNvCxnSpPr>
                <a:cxnSpLocks/>
              </p:cNvCxnSpPr>
              <p:nvPr/>
            </p:nvCxnSpPr>
            <p:spPr>
              <a:xfrm>
                <a:off x="6126778" y="4613260"/>
                <a:ext cx="303539" cy="0"/>
              </a:xfrm>
              <a:prstGeom prst="line">
                <a:avLst/>
              </a:prstGeom>
              <a:ln>
                <a:solidFill>
                  <a:srgbClr val="800000"/>
                </a:solidFill>
                <a:prstDash val="sysDash"/>
              </a:ln>
            </p:spPr>
            <p:style>
              <a:lnRef idx="2">
                <a:schemeClr val="accent1"/>
              </a:lnRef>
              <a:fillRef idx="0">
                <a:schemeClr val="accent1"/>
              </a:fillRef>
              <a:effectRef idx="1">
                <a:schemeClr val="accent1"/>
              </a:effectRef>
              <a:fontRef idx="minor">
                <a:schemeClr val="tx1"/>
              </a:fontRef>
            </p:style>
          </p:cxnSp>
          <p:sp>
            <p:nvSpPr>
              <p:cNvPr id="33" name="Accolade fermante 38">
                <a:extLst>
                  <a:ext uri="{FF2B5EF4-FFF2-40B4-BE49-F238E27FC236}">
                    <a16:creationId xmlns:a16="http://schemas.microsoft.com/office/drawing/2014/main" id="{9D870E6F-6430-4E28-AD35-60C9D968E93F}"/>
                  </a:ext>
                </a:extLst>
              </p:cNvPr>
              <p:cNvSpPr/>
              <p:nvPr/>
            </p:nvSpPr>
            <p:spPr>
              <a:xfrm rot="16200000">
                <a:off x="6252902" y="3761819"/>
                <a:ext cx="369132" cy="959718"/>
              </a:xfrm>
              <a:prstGeom prst="rightBrace">
                <a:avLst/>
              </a:prstGeom>
              <a:ln>
                <a:solidFill>
                  <a:srgbClr val="03234B"/>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US" dirty="0"/>
              </a:p>
            </p:txBody>
          </p:sp>
          <p:sp>
            <p:nvSpPr>
              <p:cNvPr id="34" name="ZoneTexte 39">
                <a:extLst>
                  <a:ext uri="{FF2B5EF4-FFF2-40B4-BE49-F238E27FC236}">
                    <a16:creationId xmlns:a16="http://schemas.microsoft.com/office/drawing/2014/main" id="{4FF1D33B-007E-49AC-ABE6-CEB91D6EA170}"/>
                  </a:ext>
                </a:extLst>
              </p:cNvPr>
              <p:cNvSpPr txBox="1"/>
              <p:nvPr/>
            </p:nvSpPr>
            <p:spPr>
              <a:xfrm>
                <a:off x="6104079" y="3806024"/>
                <a:ext cx="713657" cy="276999"/>
              </a:xfrm>
              <a:prstGeom prst="rect">
                <a:avLst/>
              </a:prstGeom>
              <a:noFill/>
            </p:spPr>
            <p:txBody>
              <a:bodyPr wrap="none" rtlCol="0">
                <a:noAutofit/>
              </a:bodyPr>
              <a:lstStyle/>
              <a:p>
                <a:r>
                  <a:rPr lang="en-US" sz="1200">
                    <a:solidFill>
                      <a:srgbClr val="03234B"/>
                    </a:solidFill>
                  </a:rPr>
                  <a:t>N pulses</a:t>
                </a:r>
                <a:endParaRPr lang="en-US" sz="1200" dirty="0">
                  <a:solidFill>
                    <a:srgbClr val="03234B"/>
                  </a:solidFill>
                </a:endParaRPr>
              </a:p>
            </p:txBody>
          </p:sp>
        </p:grpSp>
        <p:sp>
          <p:nvSpPr>
            <p:cNvPr id="35" name="ZoneTexte 41">
              <a:extLst>
                <a:ext uri="{FF2B5EF4-FFF2-40B4-BE49-F238E27FC236}">
                  <a16:creationId xmlns:a16="http://schemas.microsoft.com/office/drawing/2014/main" id="{F2073941-E846-4F83-B740-58E7132A6AAC}"/>
                </a:ext>
              </a:extLst>
            </p:cNvPr>
            <p:cNvSpPr txBox="1"/>
            <p:nvPr/>
          </p:nvSpPr>
          <p:spPr>
            <a:xfrm>
              <a:off x="6175094" y="5150968"/>
              <a:ext cx="1286379" cy="461665"/>
            </a:xfrm>
            <a:prstGeom prst="rect">
              <a:avLst/>
            </a:prstGeom>
            <a:noFill/>
          </p:spPr>
          <p:txBody>
            <a:bodyPr wrap="square" rtlCol="0">
              <a:noAutofit/>
            </a:bodyPr>
            <a:lstStyle/>
            <a:p>
              <a:pPr algn="ctr"/>
              <a:r>
                <a:rPr lang="en-US" sz="1200" i="1">
                  <a:solidFill>
                    <a:srgbClr val="03234B"/>
                  </a:solidFill>
                </a:rPr>
                <a:t>Source</a:t>
              </a:r>
            </a:p>
            <a:p>
              <a:pPr algn="ctr"/>
              <a:r>
                <a:rPr lang="en-US" sz="1200" i="1">
                  <a:solidFill>
                    <a:srgbClr val="03234B"/>
                  </a:solidFill>
                </a:rPr>
                <a:t>d’incrémentation</a:t>
              </a:r>
              <a:endParaRPr lang="en-US" sz="1200" i="1" dirty="0">
                <a:solidFill>
                  <a:srgbClr val="03234B"/>
                </a:solidFill>
              </a:endParaRPr>
            </a:p>
          </p:txBody>
        </p:sp>
        <p:sp>
          <p:nvSpPr>
            <p:cNvPr id="36" name="ZoneTexte 42">
              <a:extLst>
                <a:ext uri="{FF2B5EF4-FFF2-40B4-BE49-F238E27FC236}">
                  <a16:creationId xmlns:a16="http://schemas.microsoft.com/office/drawing/2014/main" id="{09B2EB38-6388-42DB-B13C-496B770FF186}"/>
                </a:ext>
              </a:extLst>
            </p:cNvPr>
            <p:cNvSpPr txBox="1"/>
            <p:nvPr/>
          </p:nvSpPr>
          <p:spPr>
            <a:xfrm>
              <a:off x="8638116" y="4143997"/>
              <a:ext cx="340158" cy="276999"/>
            </a:xfrm>
            <a:prstGeom prst="rect">
              <a:avLst/>
            </a:prstGeom>
            <a:noFill/>
          </p:spPr>
          <p:txBody>
            <a:bodyPr wrap="none" rtlCol="0">
              <a:noAutofit/>
            </a:bodyPr>
            <a:lstStyle/>
            <a:p>
              <a:r>
                <a:rPr lang="en-US" sz="1200">
                  <a:solidFill>
                    <a:srgbClr val="03234B"/>
                  </a:solidFill>
                </a:rPr>
                <a:t>+1</a:t>
              </a:r>
              <a:endParaRPr lang="en-US" sz="1200" dirty="0">
                <a:solidFill>
                  <a:srgbClr val="03234B"/>
                </a:solidFill>
              </a:endParaRPr>
            </a:p>
          </p:txBody>
        </p:sp>
        <p:sp>
          <p:nvSpPr>
            <p:cNvPr id="37" name="Rectangle : coins arrondis 43">
              <a:extLst>
                <a:ext uri="{FF2B5EF4-FFF2-40B4-BE49-F238E27FC236}">
                  <a16:creationId xmlns:a16="http://schemas.microsoft.com/office/drawing/2014/main" id="{2E24E55A-3566-497C-8894-E0A611C89784}"/>
                </a:ext>
              </a:extLst>
            </p:cNvPr>
            <p:cNvSpPr/>
            <p:nvPr/>
          </p:nvSpPr>
          <p:spPr>
            <a:xfrm>
              <a:off x="9231535" y="5535546"/>
              <a:ext cx="909716" cy="582400"/>
            </a:xfrm>
            <a:prstGeom prst="rect">
              <a:avLst/>
            </a:prstGeom>
            <a:solidFill>
              <a:srgbClr val="00529B"/>
            </a:solidFill>
            <a:ln>
              <a:solidFill>
                <a:srgbClr val="0323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200"/>
                <a:t>Compare valeur max</a:t>
              </a:r>
              <a:endParaRPr lang="en-US" sz="1200" dirty="0"/>
            </a:p>
          </p:txBody>
        </p:sp>
        <p:sp>
          <p:nvSpPr>
            <p:cNvPr id="38" name="ZoneTexte 44">
              <a:extLst>
                <a:ext uri="{FF2B5EF4-FFF2-40B4-BE49-F238E27FC236}">
                  <a16:creationId xmlns:a16="http://schemas.microsoft.com/office/drawing/2014/main" id="{77401C0F-CED5-4665-8337-6234DE79817D}"/>
                </a:ext>
              </a:extLst>
            </p:cNvPr>
            <p:cNvSpPr txBox="1"/>
            <p:nvPr/>
          </p:nvSpPr>
          <p:spPr>
            <a:xfrm>
              <a:off x="7658738" y="5145887"/>
              <a:ext cx="909712" cy="461665"/>
            </a:xfrm>
            <a:prstGeom prst="rect">
              <a:avLst/>
            </a:prstGeom>
            <a:noFill/>
          </p:spPr>
          <p:txBody>
            <a:bodyPr wrap="square" rtlCol="0">
              <a:noAutofit/>
            </a:bodyPr>
            <a:lstStyle/>
            <a:p>
              <a:pPr algn="ctr"/>
              <a:r>
                <a:rPr lang="en-US" sz="1200" b="1" i="1">
                  <a:solidFill>
                    <a:srgbClr val="E6007E"/>
                  </a:solidFill>
                </a:rPr>
                <a:t>PSC</a:t>
              </a:r>
            </a:p>
            <a:p>
              <a:pPr algn="ctr"/>
              <a:r>
                <a:rPr lang="en-US" sz="1200" b="1" i="1">
                  <a:solidFill>
                    <a:srgbClr val="E6007E"/>
                  </a:solidFill>
                </a:rPr>
                <a:t>Prescaler</a:t>
              </a:r>
              <a:endParaRPr lang="en-US" sz="1200" b="1" i="1" dirty="0">
                <a:solidFill>
                  <a:srgbClr val="E6007E"/>
                </a:solidFill>
              </a:endParaRPr>
            </a:p>
          </p:txBody>
        </p:sp>
        <p:cxnSp>
          <p:nvCxnSpPr>
            <p:cNvPr id="39" name="Connecteur droit avec flèche 46">
              <a:extLst>
                <a:ext uri="{FF2B5EF4-FFF2-40B4-BE49-F238E27FC236}">
                  <a16:creationId xmlns:a16="http://schemas.microsoft.com/office/drawing/2014/main" id="{131CF3B2-BD5C-4CA8-A4C0-27C284A85CEA}"/>
                </a:ext>
              </a:extLst>
            </p:cNvPr>
            <p:cNvCxnSpPr/>
            <p:nvPr/>
          </p:nvCxnSpPr>
          <p:spPr>
            <a:xfrm>
              <a:off x="9686393" y="5145887"/>
              <a:ext cx="0" cy="389659"/>
            </a:xfrm>
            <a:prstGeom prst="straightConnector1">
              <a:avLst/>
            </a:prstGeom>
            <a:ln>
              <a:solidFill>
                <a:srgbClr val="03234B"/>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48">
              <a:extLst>
                <a:ext uri="{FF2B5EF4-FFF2-40B4-BE49-F238E27FC236}">
                  <a16:creationId xmlns:a16="http://schemas.microsoft.com/office/drawing/2014/main" id="{58AC4E37-1F27-415B-BAA9-B571A52617FB}"/>
                </a:ext>
              </a:extLst>
            </p:cNvPr>
            <p:cNvCxnSpPr/>
            <p:nvPr/>
          </p:nvCxnSpPr>
          <p:spPr>
            <a:xfrm>
              <a:off x="9686393" y="5340716"/>
              <a:ext cx="1477585" cy="0"/>
            </a:xfrm>
            <a:prstGeom prst="straightConnector1">
              <a:avLst/>
            </a:prstGeom>
            <a:ln>
              <a:solidFill>
                <a:srgbClr val="03234B"/>
              </a:solidFill>
              <a:tailEnd type="triangle"/>
            </a:ln>
          </p:spPr>
          <p:style>
            <a:lnRef idx="1">
              <a:schemeClr val="accent1"/>
            </a:lnRef>
            <a:fillRef idx="0">
              <a:schemeClr val="accent1"/>
            </a:fillRef>
            <a:effectRef idx="0">
              <a:schemeClr val="accent1"/>
            </a:effectRef>
            <a:fontRef idx="minor">
              <a:schemeClr val="tx1"/>
            </a:fontRef>
          </p:style>
        </p:cxnSp>
        <p:sp>
          <p:nvSpPr>
            <p:cNvPr id="41" name="ZoneTexte 50">
              <a:extLst>
                <a:ext uri="{FF2B5EF4-FFF2-40B4-BE49-F238E27FC236}">
                  <a16:creationId xmlns:a16="http://schemas.microsoft.com/office/drawing/2014/main" id="{4FC3F189-735A-4F81-8DBC-5E6A361459D6}"/>
                </a:ext>
              </a:extLst>
            </p:cNvPr>
            <p:cNvSpPr txBox="1"/>
            <p:nvPr/>
          </p:nvSpPr>
          <p:spPr>
            <a:xfrm>
              <a:off x="9404377" y="4122656"/>
              <a:ext cx="561565" cy="461665"/>
            </a:xfrm>
            <a:prstGeom prst="rect">
              <a:avLst/>
            </a:prstGeom>
            <a:noFill/>
          </p:spPr>
          <p:txBody>
            <a:bodyPr wrap="none" rtlCol="0">
              <a:noAutofit/>
            </a:bodyPr>
            <a:lstStyle/>
            <a:p>
              <a:pPr algn="ctr"/>
              <a:r>
                <a:rPr lang="en-US" sz="1200" b="1" i="1">
                  <a:solidFill>
                    <a:srgbClr val="03234B"/>
                  </a:solidFill>
                </a:rPr>
                <a:t>CNT</a:t>
              </a:r>
            </a:p>
            <a:p>
              <a:pPr algn="ctr"/>
              <a:r>
                <a:rPr lang="en-US" sz="1200" b="1" i="1">
                  <a:solidFill>
                    <a:srgbClr val="03234B"/>
                  </a:solidFill>
                </a:rPr>
                <a:t>Count</a:t>
              </a:r>
              <a:endParaRPr lang="en-US" sz="1200" b="1" i="1" dirty="0">
                <a:solidFill>
                  <a:srgbClr val="03234B"/>
                </a:solidFill>
              </a:endParaRPr>
            </a:p>
          </p:txBody>
        </p:sp>
        <p:sp>
          <p:nvSpPr>
            <p:cNvPr id="42" name="ZoneTexte 51">
              <a:extLst>
                <a:ext uri="{FF2B5EF4-FFF2-40B4-BE49-F238E27FC236}">
                  <a16:creationId xmlns:a16="http://schemas.microsoft.com/office/drawing/2014/main" id="{25884004-8A0F-4702-BFCC-02513F3EF638}"/>
                </a:ext>
              </a:extLst>
            </p:cNvPr>
            <p:cNvSpPr txBox="1"/>
            <p:nvPr/>
          </p:nvSpPr>
          <p:spPr>
            <a:xfrm>
              <a:off x="9419910" y="6117438"/>
              <a:ext cx="450764" cy="276999"/>
            </a:xfrm>
            <a:prstGeom prst="rect">
              <a:avLst/>
            </a:prstGeom>
            <a:noFill/>
          </p:spPr>
          <p:txBody>
            <a:bodyPr wrap="none" rtlCol="0">
              <a:noAutofit/>
            </a:bodyPr>
            <a:lstStyle/>
            <a:p>
              <a:r>
                <a:rPr lang="en-US" sz="1200" b="1" i="1">
                  <a:solidFill>
                    <a:srgbClr val="03234B"/>
                  </a:solidFill>
                </a:rPr>
                <a:t>ARR</a:t>
              </a:r>
              <a:endParaRPr lang="en-US" sz="1200" b="1" i="1" dirty="0">
                <a:solidFill>
                  <a:srgbClr val="03234B"/>
                </a:solidFill>
              </a:endParaRPr>
            </a:p>
          </p:txBody>
        </p:sp>
        <p:sp>
          <p:nvSpPr>
            <p:cNvPr id="43" name="ZoneTexte 52">
              <a:extLst>
                <a:ext uri="{FF2B5EF4-FFF2-40B4-BE49-F238E27FC236}">
                  <a16:creationId xmlns:a16="http://schemas.microsoft.com/office/drawing/2014/main" id="{1FECE466-18C7-435C-9AA5-806A6E9DCF5D}"/>
                </a:ext>
              </a:extLst>
            </p:cNvPr>
            <p:cNvSpPr txBox="1"/>
            <p:nvPr/>
          </p:nvSpPr>
          <p:spPr>
            <a:xfrm>
              <a:off x="9966040" y="5104802"/>
              <a:ext cx="1076385" cy="276999"/>
            </a:xfrm>
            <a:prstGeom prst="rect">
              <a:avLst/>
            </a:prstGeom>
            <a:noFill/>
          </p:spPr>
          <p:txBody>
            <a:bodyPr wrap="none" rtlCol="0">
              <a:noAutofit/>
            </a:bodyPr>
            <a:lstStyle/>
            <a:p>
              <a:r>
                <a:rPr lang="en-US" sz="1200" i="1">
                  <a:solidFill>
                    <a:srgbClr val="03234B"/>
                  </a:solidFill>
                </a:rPr>
                <a:t>Si count = ARR</a:t>
              </a:r>
              <a:endParaRPr lang="en-US" sz="1200" i="1" dirty="0">
                <a:solidFill>
                  <a:srgbClr val="03234B"/>
                </a:solidFill>
              </a:endParaRPr>
            </a:p>
          </p:txBody>
        </p:sp>
        <p:sp>
          <p:nvSpPr>
            <p:cNvPr id="44" name="ZoneTexte 54">
              <a:extLst>
                <a:ext uri="{FF2B5EF4-FFF2-40B4-BE49-F238E27FC236}">
                  <a16:creationId xmlns:a16="http://schemas.microsoft.com/office/drawing/2014/main" id="{107C3F50-BF8B-436E-9414-A4F037A69526}"/>
                </a:ext>
              </a:extLst>
            </p:cNvPr>
            <p:cNvSpPr txBox="1"/>
            <p:nvPr/>
          </p:nvSpPr>
          <p:spPr>
            <a:xfrm>
              <a:off x="11273111" y="4827636"/>
              <a:ext cx="705771" cy="1015663"/>
            </a:xfrm>
            <a:prstGeom prst="rect">
              <a:avLst/>
            </a:prstGeom>
            <a:noFill/>
          </p:spPr>
          <p:txBody>
            <a:bodyPr wrap="none" rtlCol="0">
              <a:noAutofit/>
            </a:bodyPr>
            <a:lstStyle/>
            <a:p>
              <a:r>
                <a:rPr lang="en-US" sz="1200" i="1">
                  <a:solidFill>
                    <a:srgbClr val="03234B"/>
                  </a:solidFill>
                </a:rPr>
                <a:t>Event</a:t>
              </a:r>
            </a:p>
            <a:p>
              <a:r>
                <a:rPr lang="en-US" sz="1200" i="1">
                  <a:solidFill>
                    <a:srgbClr val="03234B"/>
                  </a:solidFill>
                </a:rPr>
                <a:t>IRQ</a:t>
              </a:r>
            </a:p>
            <a:p>
              <a:r>
                <a:rPr lang="en-US" sz="1200" i="1">
                  <a:solidFill>
                    <a:srgbClr val="03234B"/>
                  </a:solidFill>
                </a:rPr>
                <a:t>TRGx</a:t>
              </a:r>
            </a:p>
            <a:p>
              <a:r>
                <a:rPr lang="en-US" sz="1200" i="1">
                  <a:solidFill>
                    <a:srgbClr val="03234B"/>
                  </a:solidFill>
                </a:rPr>
                <a:t>Count=0</a:t>
              </a:r>
            </a:p>
            <a:p>
              <a:r>
                <a:rPr lang="en-US" sz="1200" i="1">
                  <a:solidFill>
                    <a:srgbClr val="03234B"/>
                  </a:solidFill>
                </a:rPr>
                <a:t>…</a:t>
              </a:r>
              <a:endParaRPr lang="en-US" sz="1200" i="1" dirty="0">
                <a:solidFill>
                  <a:srgbClr val="03234B"/>
                </a:solidFill>
              </a:endParaRPr>
            </a:p>
          </p:txBody>
        </p:sp>
        <p:pic>
          <p:nvPicPr>
            <p:cNvPr id="45" name="Picture 44">
              <a:extLst>
                <a:ext uri="{FF2B5EF4-FFF2-40B4-BE49-F238E27FC236}">
                  <a16:creationId xmlns:a16="http://schemas.microsoft.com/office/drawing/2014/main" id="{9AE22BF3-C682-4578-9A18-FD428B7A75A9}"/>
                </a:ext>
              </a:extLst>
            </p:cNvPr>
            <p:cNvPicPr>
              <a:picLocks noChangeAspect="1"/>
            </p:cNvPicPr>
            <p:nvPr/>
          </p:nvPicPr>
          <p:blipFill>
            <a:blip r:embed="rId5"/>
            <a:stretch>
              <a:fillRect/>
            </a:stretch>
          </p:blipFill>
          <p:spPr>
            <a:xfrm>
              <a:off x="10329626" y="3956503"/>
              <a:ext cx="791697" cy="714706"/>
            </a:xfrm>
            <a:prstGeom prst="rect">
              <a:avLst/>
            </a:prstGeom>
          </p:spPr>
        </p:pic>
      </p:grpSp>
      <p:grpSp>
        <p:nvGrpSpPr>
          <p:cNvPr id="46" name="Group 45">
            <a:extLst>
              <a:ext uri="{FF2B5EF4-FFF2-40B4-BE49-F238E27FC236}">
                <a16:creationId xmlns:a16="http://schemas.microsoft.com/office/drawing/2014/main" id="{9E236EEC-1212-4D8D-9041-B80EF396275B}"/>
              </a:ext>
            </a:extLst>
          </p:cNvPr>
          <p:cNvGrpSpPr/>
          <p:nvPr/>
        </p:nvGrpSpPr>
        <p:grpSpPr>
          <a:xfrm>
            <a:off x="6579783" y="320763"/>
            <a:ext cx="4510337" cy="3432836"/>
            <a:chOff x="7166358" y="1985163"/>
            <a:chExt cx="4510337" cy="3432836"/>
          </a:xfrm>
        </p:grpSpPr>
        <p:sp>
          <p:nvSpPr>
            <p:cNvPr id="47" name="ZoneTexte 12">
              <a:extLst>
                <a:ext uri="{FF2B5EF4-FFF2-40B4-BE49-F238E27FC236}">
                  <a16:creationId xmlns:a16="http://schemas.microsoft.com/office/drawing/2014/main" id="{D8F715CF-4FD3-4542-A5CF-8621AE627BCB}"/>
                </a:ext>
              </a:extLst>
            </p:cNvPr>
            <p:cNvSpPr txBox="1"/>
            <p:nvPr/>
          </p:nvSpPr>
          <p:spPr>
            <a:xfrm>
              <a:off x="7967327" y="1985163"/>
              <a:ext cx="2752485" cy="307777"/>
            </a:xfrm>
            <a:prstGeom prst="rect">
              <a:avLst/>
            </a:prstGeom>
            <a:noFill/>
          </p:spPr>
          <p:txBody>
            <a:bodyPr wrap="none" rtlCol="0">
              <a:noAutofit/>
            </a:bodyPr>
            <a:lstStyle/>
            <a:p>
              <a:r>
                <a:rPr lang="en-US" sz="1400" b="1">
                  <a:solidFill>
                    <a:srgbClr val="03234B"/>
                  </a:solidFill>
                </a:rPr>
                <a:t>Registres ARR/PSC/CNT sur 16 bits</a:t>
              </a:r>
              <a:endParaRPr lang="en-US" sz="1400" b="1" dirty="0">
                <a:solidFill>
                  <a:srgbClr val="03234B"/>
                </a:solidFill>
              </a:endParaRPr>
            </a:p>
          </p:txBody>
        </p:sp>
        <p:sp>
          <p:nvSpPr>
            <p:cNvPr id="48" name="ZoneTexte 13">
              <a:extLst>
                <a:ext uri="{FF2B5EF4-FFF2-40B4-BE49-F238E27FC236}">
                  <a16:creationId xmlns:a16="http://schemas.microsoft.com/office/drawing/2014/main" id="{E260A450-FD72-4C08-B8CC-F67C8E9D03CA}"/>
                </a:ext>
              </a:extLst>
            </p:cNvPr>
            <p:cNvSpPr txBox="1"/>
            <p:nvPr/>
          </p:nvSpPr>
          <p:spPr>
            <a:xfrm>
              <a:off x="8418635" y="2205565"/>
              <a:ext cx="1857881" cy="307777"/>
            </a:xfrm>
            <a:prstGeom prst="rect">
              <a:avLst/>
            </a:prstGeom>
            <a:noFill/>
          </p:spPr>
          <p:txBody>
            <a:bodyPr wrap="none" rtlCol="0">
              <a:noAutofit/>
            </a:bodyPr>
            <a:lstStyle/>
            <a:p>
              <a:r>
                <a:rPr lang="en-US" sz="1400" b="1">
                  <a:solidFill>
                    <a:srgbClr val="03234B"/>
                  </a:solidFill>
                </a:rPr>
                <a:t>Valeur max 2</a:t>
              </a:r>
              <a:r>
                <a:rPr lang="en-US" sz="1400" b="1" baseline="30000">
                  <a:solidFill>
                    <a:srgbClr val="03234B"/>
                  </a:solidFill>
                </a:rPr>
                <a:t>16</a:t>
              </a:r>
              <a:r>
                <a:rPr lang="en-US" sz="1400" b="1">
                  <a:solidFill>
                    <a:srgbClr val="03234B"/>
                  </a:solidFill>
                </a:rPr>
                <a:t>= 65535</a:t>
              </a:r>
              <a:endParaRPr lang="en-US" sz="1400" b="1" dirty="0">
                <a:solidFill>
                  <a:srgbClr val="03234B"/>
                </a:solidFill>
              </a:endParaRPr>
            </a:p>
          </p:txBody>
        </p:sp>
        <p:sp>
          <p:nvSpPr>
            <p:cNvPr id="49" name="ZoneTexte 10">
              <a:extLst>
                <a:ext uri="{FF2B5EF4-FFF2-40B4-BE49-F238E27FC236}">
                  <a16:creationId xmlns:a16="http://schemas.microsoft.com/office/drawing/2014/main" id="{A9F7C772-46B2-45A5-994D-CCD3D6D18378}"/>
                </a:ext>
              </a:extLst>
            </p:cNvPr>
            <p:cNvSpPr txBox="1"/>
            <p:nvPr/>
          </p:nvSpPr>
          <p:spPr>
            <a:xfrm>
              <a:off x="7808596" y="2479292"/>
              <a:ext cx="3077958" cy="954107"/>
            </a:xfrm>
            <a:prstGeom prst="rect">
              <a:avLst/>
            </a:prstGeom>
            <a:noFill/>
          </p:spPr>
          <p:txBody>
            <a:bodyPr wrap="square" rtlCol="0">
              <a:noAutofit/>
            </a:bodyPr>
            <a:lstStyle/>
            <a:p>
              <a:pPr algn="ctr"/>
              <a:r>
                <a:rPr lang="en-US" sz="1400">
                  <a:solidFill>
                    <a:srgbClr val="03234B"/>
                  </a:solidFill>
                </a:rPr>
                <a:t>Si l’horloge est à 32 MHz, en 1 seconde:</a:t>
              </a:r>
            </a:p>
            <a:p>
              <a:pPr algn="ctr"/>
              <a:r>
                <a:rPr lang="en-US" sz="1400">
                  <a:solidFill>
                    <a:srgbClr val="03234B"/>
                  </a:solidFill>
                </a:rPr>
                <a:t>-&gt; 32 000 000 de coups d’horloge</a:t>
              </a:r>
            </a:p>
            <a:p>
              <a:pPr algn="ctr"/>
              <a:r>
                <a:rPr lang="en-US" sz="1400">
                  <a:solidFill>
                    <a:srgbClr val="03234B"/>
                  </a:solidFill>
                </a:rPr>
                <a:t>-&gt; registre count et ARR trop petit</a:t>
              </a:r>
            </a:p>
            <a:p>
              <a:pPr algn="ctr"/>
              <a:r>
                <a:rPr lang="en-US" sz="1400">
                  <a:solidFill>
                    <a:srgbClr val="03234B"/>
                  </a:solidFill>
                </a:rPr>
                <a:t>-&gt; nécessité d’utiliser un Prescaler</a:t>
              </a:r>
              <a:endParaRPr lang="en-US" sz="1400" dirty="0">
                <a:solidFill>
                  <a:srgbClr val="03234B"/>
                </a:solidFill>
              </a:endParaRPr>
            </a:p>
          </p:txBody>
        </p:sp>
        <p:sp>
          <p:nvSpPr>
            <p:cNvPr id="50" name="Rectangle 49">
              <a:extLst>
                <a:ext uri="{FF2B5EF4-FFF2-40B4-BE49-F238E27FC236}">
                  <a16:creationId xmlns:a16="http://schemas.microsoft.com/office/drawing/2014/main" id="{0467244B-7A01-4B04-A94F-5A4D07AA5998}"/>
                </a:ext>
              </a:extLst>
            </p:cNvPr>
            <p:cNvSpPr/>
            <p:nvPr/>
          </p:nvSpPr>
          <p:spPr>
            <a:xfrm>
              <a:off x="8677338" y="3494816"/>
              <a:ext cx="1279517" cy="369332"/>
            </a:xfrm>
            <a:prstGeom prst="rect">
              <a:avLst/>
            </a:prstGeom>
          </p:spPr>
          <p:txBody>
            <a:bodyPr wrap="none">
              <a:noAutofit/>
            </a:bodyPr>
            <a:lstStyle/>
            <a:p>
              <a:r>
                <a:rPr lang="en-US">
                  <a:solidFill>
                    <a:srgbClr val="E6007E"/>
                  </a:solidFill>
                </a:rPr>
                <a:t>32 000 </a:t>
              </a:r>
              <a:r>
                <a:rPr lang="en-US">
                  <a:solidFill>
                    <a:srgbClr val="03234B"/>
                  </a:solidFill>
                </a:rPr>
                <a:t>000 </a:t>
              </a:r>
              <a:endParaRPr lang="en-US" dirty="0">
                <a:solidFill>
                  <a:srgbClr val="03234B"/>
                </a:solidFill>
              </a:endParaRPr>
            </a:p>
          </p:txBody>
        </p:sp>
        <p:sp>
          <p:nvSpPr>
            <p:cNvPr id="51" name="ZoneTexte 19">
              <a:extLst>
                <a:ext uri="{FF2B5EF4-FFF2-40B4-BE49-F238E27FC236}">
                  <a16:creationId xmlns:a16="http://schemas.microsoft.com/office/drawing/2014/main" id="{383D2F63-BB73-4163-94F9-795882D55840}"/>
                </a:ext>
              </a:extLst>
            </p:cNvPr>
            <p:cNvSpPr txBox="1"/>
            <p:nvPr/>
          </p:nvSpPr>
          <p:spPr>
            <a:xfrm>
              <a:off x="8682218" y="3761442"/>
              <a:ext cx="756810" cy="276999"/>
            </a:xfrm>
            <a:prstGeom prst="rect">
              <a:avLst/>
            </a:prstGeom>
            <a:noFill/>
          </p:spPr>
          <p:txBody>
            <a:bodyPr wrap="none" rtlCol="0">
              <a:noAutofit/>
            </a:bodyPr>
            <a:lstStyle/>
            <a:p>
              <a:pPr algn="ctr"/>
              <a:r>
                <a:rPr lang="en-US" sz="1200">
                  <a:solidFill>
                    <a:srgbClr val="E6007E"/>
                  </a:solidFill>
                </a:rPr>
                <a:t>prescaler</a:t>
              </a:r>
              <a:endParaRPr lang="en-US" sz="1200" dirty="0">
                <a:solidFill>
                  <a:srgbClr val="E6007E"/>
                </a:solidFill>
              </a:endParaRPr>
            </a:p>
          </p:txBody>
        </p:sp>
        <p:sp>
          <p:nvSpPr>
            <p:cNvPr id="52" name="ZoneTexte 21">
              <a:extLst>
                <a:ext uri="{FF2B5EF4-FFF2-40B4-BE49-F238E27FC236}">
                  <a16:creationId xmlns:a16="http://schemas.microsoft.com/office/drawing/2014/main" id="{4FA2AAF0-09D1-46EF-B2BA-2148B27839D8}"/>
                </a:ext>
              </a:extLst>
            </p:cNvPr>
            <p:cNvSpPr txBox="1"/>
            <p:nvPr/>
          </p:nvSpPr>
          <p:spPr>
            <a:xfrm>
              <a:off x="9405552" y="3761442"/>
              <a:ext cx="441146" cy="276999"/>
            </a:xfrm>
            <a:prstGeom prst="rect">
              <a:avLst/>
            </a:prstGeom>
            <a:noFill/>
          </p:spPr>
          <p:txBody>
            <a:bodyPr wrap="none" rtlCol="0">
              <a:noAutofit/>
            </a:bodyPr>
            <a:lstStyle/>
            <a:p>
              <a:r>
                <a:rPr lang="en-US" sz="1200" i="1">
                  <a:solidFill>
                    <a:srgbClr val="160079"/>
                  </a:solidFill>
                </a:rPr>
                <a:t>ARR</a:t>
              </a:r>
              <a:endParaRPr lang="en-US" sz="1200" i="1" dirty="0">
                <a:solidFill>
                  <a:srgbClr val="160079"/>
                </a:solidFill>
              </a:endParaRPr>
            </a:p>
          </p:txBody>
        </p:sp>
        <p:sp>
          <p:nvSpPr>
            <p:cNvPr id="53" name="ZoneTexte 22">
              <a:extLst>
                <a:ext uri="{FF2B5EF4-FFF2-40B4-BE49-F238E27FC236}">
                  <a16:creationId xmlns:a16="http://schemas.microsoft.com/office/drawing/2014/main" id="{03DA6F43-B2B1-4EC9-AEEE-A73202C16BCD}"/>
                </a:ext>
              </a:extLst>
            </p:cNvPr>
            <p:cNvSpPr txBox="1"/>
            <p:nvPr/>
          </p:nvSpPr>
          <p:spPr>
            <a:xfrm>
              <a:off x="7173469" y="4077410"/>
              <a:ext cx="4352345" cy="523220"/>
            </a:xfrm>
            <a:prstGeom prst="rect">
              <a:avLst/>
            </a:prstGeom>
            <a:noFill/>
          </p:spPr>
          <p:txBody>
            <a:bodyPr wrap="none" rtlCol="0">
              <a:noAutofit/>
            </a:bodyPr>
            <a:lstStyle/>
            <a:p>
              <a:pPr algn="ctr"/>
              <a:r>
                <a:rPr lang="en-US" sz="1400">
                  <a:solidFill>
                    <a:srgbClr val="03234B"/>
                  </a:solidFill>
                </a:rPr>
                <a:t>Configuration du Prescaler à </a:t>
              </a:r>
              <a:r>
                <a:rPr lang="en-US" sz="1400">
                  <a:solidFill>
                    <a:srgbClr val="E6007E"/>
                  </a:solidFill>
                </a:rPr>
                <a:t>32000</a:t>
              </a:r>
            </a:p>
            <a:p>
              <a:pPr algn="ctr"/>
              <a:r>
                <a:rPr lang="en-US" sz="1400">
                  <a:solidFill>
                    <a:srgbClr val="03234B"/>
                  </a:solidFill>
                </a:rPr>
                <a:t>-&gt; +1 au compteur tous les 32000 coups d’horloges (1ms)</a:t>
              </a:r>
              <a:endParaRPr lang="en-US" sz="1400" dirty="0">
                <a:solidFill>
                  <a:srgbClr val="03234B"/>
                </a:solidFill>
              </a:endParaRPr>
            </a:p>
          </p:txBody>
        </p:sp>
        <p:sp>
          <p:nvSpPr>
            <p:cNvPr id="54" name="ZoneTexte 23">
              <a:extLst>
                <a:ext uri="{FF2B5EF4-FFF2-40B4-BE49-F238E27FC236}">
                  <a16:creationId xmlns:a16="http://schemas.microsoft.com/office/drawing/2014/main" id="{247A86E8-DC83-4A84-A1BD-601BA831C19B}"/>
                </a:ext>
              </a:extLst>
            </p:cNvPr>
            <p:cNvSpPr txBox="1"/>
            <p:nvPr/>
          </p:nvSpPr>
          <p:spPr>
            <a:xfrm>
              <a:off x="7361775" y="4594995"/>
              <a:ext cx="3971600" cy="523220"/>
            </a:xfrm>
            <a:prstGeom prst="rect">
              <a:avLst/>
            </a:prstGeom>
            <a:noFill/>
          </p:spPr>
          <p:txBody>
            <a:bodyPr wrap="none" rtlCol="0">
              <a:noAutofit/>
            </a:bodyPr>
            <a:lstStyle/>
            <a:p>
              <a:pPr algn="ctr"/>
              <a:r>
                <a:rPr lang="fr-FR" sz="1400" dirty="0">
                  <a:solidFill>
                    <a:srgbClr val="03234B"/>
                  </a:solidFill>
                </a:rPr>
                <a:t>Configuration du registre ARR à 1000</a:t>
              </a:r>
            </a:p>
            <a:p>
              <a:pPr algn="ctr"/>
              <a:r>
                <a:rPr lang="fr-FR" sz="1400" dirty="0">
                  <a:solidFill>
                    <a:srgbClr val="03234B"/>
                  </a:solidFill>
                </a:rPr>
                <a:t>-&gt; action tous les 1000 incrémentation du compteur</a:t>
              </a:r>
            </a:p>
          </p:txBody>
        </p:sp>
        <p:sp>
          <p:nvSpPr>
            <p:cNvPr id="55" name="ZoneTexte 5">
              <a:extLst>
                <a:ext uri="{FF2B5EF4-FFF2-40B4-BE49-F238E27FC236}">
                  <a16:creationId xmlns:a16="http://schemas.microsoft.com/office/drawing/2014/main" id="{9187DAD0-1844-4315-9FD5-4AB2ED02D714}"/>
                </a:ext>
              </a:extLst>
            </p:cNvPr>
            <p:cNvSpPr txBox="1"/>
            <p:nvPr/>
          </p:nvSpPr>
          <p:spPr>
            <a:xfrm>
              <a:off x="7166358" y="5079445"/>
              <a:ext cx="4510337" cy="338554"/>
            </a:xfrm>
            <a:prstGeom prst="rect">
              <a:avLst/>
            </a:prstGeom>
            <a:noFill/>
          </p:spPr>
          <p:txBody>
            <a:bodyPr wrap="none" rtlCol="0">
              <a:noAutofit/>
            </a:bodyPr>
            <a:lstStyle/>
            <a:p>
              <a:r>
                <a:rPr lang="en-US" sz="1600" b="1" i="1">
                  <a:solidFill>
                    <a:srgbClr val="03234B"/>
                  </a:solidFill>
                  <a:sym typeface="Wingdings" panose="05000000000000000000" pitchFamily="2" charset="2"/>
                </a:rPr>
                <a:t> </a:t>
              </a:r>
              <a:r>
                <a:rPr lang="en-US" sz="1600" b="1" i="1">
                  <a:solidFill>
                    <a:srgbClr val="03234B"/>
                  </a:solidFill>
                </a:rPr>
                <a:t>Déclencher une interruption toutes les secondes</a:t>
              </a:r>
              <a:endParaRPr lang="en-US" sz="1600" b="1" i="1" dirty="0">
                <a:solidFill>
                  <a:srgbClr val="03234B"/>
                </a:solidFill>
              </a:endParaRPr>
            </a:p>
          </p:txBody>
        </p:sp>
      </p:grpSp>
    </p:spTree>
    <p:extLst>
      <p:ext uri="{BB962C8B-B14F-4D97-AF65-F5344CB8AC3E}">
        <p14:creationId xmlns:p14="http://schemas.microsoft.com/office/powerpoint/2010/main" val="1564775819"/>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E94E934-5705-4F3F-8FB3-3D7AF4B00B51}"/>
              </a:ext>
            </a:extLst>
          </p:cNvPr>
          <p:cNvSpPr>
            <a:spLocks noGrp="1"/>
          </p:cNvSpPr>
          <p:nvPr>
            <p:ph type="body" sz="quarter" idx="12"/>
          </p:nvPr>
        </p:nvSpPr>
        <p:spPr>
          <a:xfrm>
            <a:off x="119063" y="115888"/>
            <a:ext cx="10153650" cy="720725"/>
          </a:xfrm>
        </p:spPr>
        <p:txBody>
          <a:bodyPr>
            <a:normAutofit/>
          </a:bodyPr>
          <a:lstStyle/>
          <a:p>
            <a:r>
              <a:rPr lang="fr-FR" sz="3200" dirty="0"/>
              <a:t>Basic Timer Exercice</a:t>
            </a:r>
          </a:p>
        </p:txBody>
      </p:sp>
      <p:pic>
        <p:nvPicPr>
          <p:cNvPr id="6" name="Image 8" descr="Une image contenant capture d’écran&#10;&#10;Description générée automatiquement">
            <a:extLst>
              <a:ext uri="{FF2B5EF4-FFF2-40B4-BE49-F238E27FC236}">
                <a16:creationId xmlns:a16="http://schemas.microsoft.com/office/drawing/2014/main" id="{94F0A993-1C09-4C6E-8253-3A2A3D9333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7199" y="2708029"/>
            <a:ext cx="5662931" cy="2376671"/>
          </a:xfrm>
          <a:prstGeom prst="rect">
            <a:avLst/>
          </a:prstGeom>
        </p:spPr>
      </p:pic>
      <p:pic>
        <p:nvPicPr>
          <p:cNvPr id="7" name="Image 10" descr="Une image contenant capture d’écran, assis, rue&#10;&#10;Description générée automatiquement">
            <a:extLst>
              <a:ext uri="{FF2B5EF4-FFF2-40B4-BE49-F238E27FC236}">
                <a16:creationId xmlns:a16="http://schemas.microsoft.com/office/drawing/2014/main" id="{40479857-8071-4F96-96BB-507A5FD553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57200" y="5112577"/>
            <a:ext cx="5677599" cy="1408397"/>
          </a:xfrm>
          <a:prstGeom prst="rect">
            <a:avLst/>
          </a:prstGeom>
        </p:spPr>
      </p:pic>
      <p:pic>
        <p:nvPicPr>
          <p:cNvPr id="8" name="Picture 7">
            <a:extLst>
              <a:ext uri="{FF2B5EF4-FFF2-40B4-BE49-F238E27FC236}">
                <a16:creationId xmlns:a16="http://schemas.microsoft.com/office/drawing/2014/main" id="{FAA9EAC9-5911-4975-AC21-E552A49323C9}"/>
              </a:ext>
            </a:extLst>
          </p:cNvPr>
          <p:cNvPicPr>
            <a:picLocks noChangeAspect="1"/>
          </p:cNvPicPr>
          <p:nvPr/>
        </p:nvPicPr>
        <p:blipFill>
          <a:blip r:embed="rId6"/>
          <a:stretch>
            <a:fillRect/>
          </a:stretch>
        </p:blipFill>
        <p:spPr>
          <a:xfrm>
            <a:off x="707008" y="1105079"/>
            <a:ext cx="1704975" cy="2419350"/>
          </a:xfrm>
          <a:prstGeom prst="rect">
            <a:avLst/>
          </a:prstGeom>
        </p:spPr>
      </p:pic>
      <p:pic>
        <p:nvPicPr>
          <p:cNvPr id="9" name="Picture 8">
            <a:extLst>
              <a:ext uri="{FF2B5EF4-FFF2-40B4-BE49-F238E27FC236}">
                <a16:creationId xmlns:a16="http://schemas.microsoft.com/office/drawing/2014/main" id="{B8C017D9-8610-4F7D-91A3-668F1FFF10D5}"/>
              </a:ext>
            </a:extLst>
          </p:cNvPr>
          <p:cNvPicPr>
            <a:picLocks noChangeAspect="1"/>
          </p:cNvPicPr>
          <p:nvPr/>
        </p:nvPicPr>
        <p:blipFill>
          <a:blip r:embed="rId7"/>
          <a:stretch>
            <a:fillRect/>
          </a:stretch>
        </p:blipFill>
        <p:spPr>
          <a:xfrm>
            <a:off x="3575720" y="1105079"/>
            <a:ext cx="4733925" cy="1371600"/>
          </a:xfrm>
          <a:prstGeom prst="rect">
            <a:avLst/>
          </a:prstGeom>
        </p:spPr>
      </p:pic>
    </p:spTree>
    <p:extLst>
      <p:ext uri="{BB962C8B-B14F-4D97-AF65-F5344CB8AC3E}">
        <p14:creationId xmlns:p14="http://schemas.microsoft.com/office/powerpoint/2010/main" val="30596344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E94E934-5705-4F3F-8FB3-3D7AF4B00B51}"/>
              </a:ext>
            </a:extLst>
          </p:cNvPr>
          <p:cNvSpPr>
            <a:spLocks noGrp="1"/>
          </p:cNvSpPr>
          <p:nvPr>
            <p:ph type="body" sz="quarter" idx="12"/>
          </p:nvPr>
        </p:nvSpPr>
        <p:spPr>
          <a:xfrm>
            <a:off x="119063" y="115888"/>
            <a:ext cx="10153650" cy="720725"/>
          </a:xfrm>
        </p:spPr>
        <p:txBody>
          <a:bodyPr>
            <a:normAutofit/>
          </a:bodyPr>
          <a:lstStyle/>
          <a:p>
            <a:r>
              <a:rPr lang="fr-FR" sz="3200" dirty="0"/>
              <a:t>Partie 1 – Basic Timer</a:t>
            </a:r>
          </a:p>
        </p:txBody>
      </p:sp>
      <p:sp>
        <p:nvSpPr>
          <p:cNvPr id="7" name="TextBox 6">
            <a:extLst>
              <a:ext uri="{FF2B5EF4-FFF2-40B4-BE49-F238E27FC236}">
                <a16:creationId xmlns:a16="http://schemas.microsoft.com/office/drawing/2014/main" id="{1C1ACD4E-FC07-451B-9F93-CE476223DCD2}"/>
              </a:ext>
            </a:extLst>
          </p:cNvPr>
          <p:cNvSpPr txBox="1"/>
          <p:nvPr/>
        </p:nvSpPr>
        <p:spPr>
          <a:xfrm>
            <a:off x="119063" y="832717"/>
            <a:ext cx="8800125" cy="4680519"/>
          </a:xfrm>
          <a:prstGeom prst="rect">
            <a:avLst/>
          </a:prstGeom>
          <a:noFill/>
        </p:spPr>
        <p:txBody>
          <a:bodyPr wrap="square" rtlCol="0">
            <a:noAutofit/>
          </a:bodyPr>
          <a:lstStyle/>
          <a:p>
            <a:r>
              <a:rPr lang="fr-FR" sz="1200" b="1" u="sng" dirty="0">
                <a:solidFill>
                  <a:srgbClr val="03234B"/>
                </a:solidFill>
              </a:rPr>
              <a:t>A partir de l’IDE configurer:</a:t>
            </a:r>
          </a:p>
          <a:p>
            <a:pPr marL="285750" indent="-285750">
              <a:buFont typeface="Wingdings" panose="05000000000000000000" pitchFamily="2" charset="2"/>
              <a:buChar char="q"/>
            </a:pPr>
            <a:r>
              <a:rPr lang="fr-FR" sz="1200" dirty="0">
                <a:solidFill>
                  <a:srgbClr val="03234B"/>
                </a:solidFill>
              </a:rPr>
              <a:t>Le TIMER6 (voir slides précédents)</a:t>
            </a:r>
          </a:p>
          <a:p>
            <a:pPr marL="285750" indent="-285750">
              <a:buFont typeface="Wingdings" panose="05000000000000000000" pitchFamily="2" charset="2"/>
              <a:buChar char="q"/>
            </a:pPr>
            <a:r>
              <a:rPr lang="fr-FR" sz="1200" dirty="0">
                <a:solidFill>
                  <a:srgbClr val="03234B"/>
                </a:solidFill>
              </a:rPr>
              <a:t>Le printf </a:t>
            </a:r>
          </a:p>
          <a:p>
            <a:pPr marL="285750" indent="-285750">
              <a:buFont typeface="Wingdings" panose="05000000000000000000" pitchFamily="2" charset="2"/>
              <a:buChar char="q"/>
            </a:pPr>
            <a:r>
              <a:rPr lang="fr-FR" sz="1200" dirty="0">
                <a:solidFill>
                  <a:srgbClr val="03234B"/>
                </a:solidFill>
              </a:rPr>
              <a:t>La LED0 de la carte STM32</a:t>
            </a:r>
          </a:p>
          <a:p>
            <a:endParaRPr lang="fr-FR" sz="1200" dirty="0">
              <a:solidFill>
                <a:srgbClr val="03234B"/>
              </a:solidFill>
            </a:endParaRPr>
          </a:p>
          <a:p>
            <a:r>
              <a:rPr lang="fr-FR" sz="1200" b="1" u="sng" dirty="0">
                <a:solidFill>
                  <a:srgbClr val="03234B"/>
                </a:solidFill>
              </a:rPr>
              <a:t>Dans les fichiers .c :</a:t>
            </a:r>
          </a:p>
          <a:p>
            <a:r>
              <a:rPr lang="fr-FR" sz="1200" dirty="0">
                <a:solidFill>
                  <a:srgbClr val="03234B"/>
                </a:solidFill>
              </a:rPr>
              <a:t>Déclarer 3 variables dans la partie USER CODE BEGIN PV</a:t>
            </a:r>
          </a:p>
          <a:p>
            <a:pPr marL="171450" indent="-171450">
              <a:buFont typeface="Wingdings" panose="05000000000000000000" pitchFamily="2" charset="2"/>
              <a:buChar char="q"/>
            </a:pPr>
            <a:r>
              <a:rPr lang="fr-FR" sz="1200" dirty="0">
                <a:solidFill>
                  <a:srgbClr val="03234B"/>
                </a:solidFill>
              </a:rPr>
              <a:t>Uint8_t </a:t>
            </a:r>
            <a:r>
              <a:rPr lang="fr-FR" sz="1200" dirty="0" err="1">
                <a:solidFill>
                  <a:srgbClr val="03234B"/>
                </a:solidFill>
              </a:rPr>
              <a:t>flag_irq</a:t>
            </a:r>
            <a:r>
              <a:rPr lang="fr-FR" sz="1200" dirty="0">
                <a:solidFill>
                  <a:srgbClr val="03234B"/>
                </a:solidFill>
              </a:rPr>
              <a:t>=0;</a:t>
            </a:r>
          </a:p>
          <a:p>
            <a:pPr marL="171450" indent="-171450">
              <a:buFont typeface="Wingdings" panose="05000000000000000000" pitchFamily="2" charset="2"/>
              <a:buChar char="q"/>
            </a:pPr>
            <a:r>
              <a:rPr lang="fr-FR" sz="1200" dirty="0">
                <a:solidFill>
                  <a:srgbClr val="03234B"/>
                </a:solidFill>
              </a:rPr>
              <a:t>Uint32_t cpt=0;</a:t>
            </a:r>
          </a:p>
          <a:p>
            <a:pPr marL="171450" indent="-171450">
              <a:buFont typeface="Wingdings" panose="05000000000000000000" pitchFamily="2" charset="2"/>
              <a:buChar char="q"/>
            </a:pPr>
            <a:r>
              <a:rPr lang="fr-FR" sz="1200" dirty="0">
                <a:solidFill>
                  <a:srgbClr val="03234B"/>
                </a:solidFill>
              </a:rPr>
              <a:t>Uint32_t </a:t>
            </a:r>
            <a:r>
              <a:rPr lang="fr-FR" sz="1200" dirty="0" err="1">
                <a:solidFill>
                  <a:srgbClr val="03234B"/>
                </a:solidFill>
              </a:rPr>
              <a:t>cptCallback</a:t>
            </a:r>
            <a:r>
              <a:rPr lang="fr-FR" sz="1200" dirty="0">
                <a:solidFill>
                  <a:srgbClr val="03234B"/>
                </a:solidFill>
              </a:rPr>
              <a:t>=0;</a:t>
            </a:r>
          </a:p>
          <a:p>
            <a:endParaRPr lang="fr-FR" sz="1200" dirty="0">
              <a:solidFill>
                <a:srgbClr val="03234B"/>
              </a:solidFill>
            </a:endParaRPr>
          </a:p>
          <a:p>
            <a:r>
              <a:rPr lang="fr-FR" sz="1200" b="1" u="sng" dirty="0">
                <a:solidFill>
                  <a:srgbClr val="03234B"/>
                </a:solidFill>
              </a:rPr>
              <a:t>Dans le int main(), avant la boucle while(1): </a:t>
            </a:r>
          </a:p>
          <a:p>
            <a:pPr marL="171450" indent="-171450">
              <a:buFont typeface="Wingdings" panose="05000000000000000000" pitchFamily="2" charset="2"/>
              <a:buChar char="q"/>
            </a:pPr>
            <a:r>
              <a:rPr lang="fr-FR" sz="1200" dirty="0">
                <a:solidFill>
                  <a:srgbClr val="03234B"/>
                </a:solidFill>
              </a:rPr>
              <a:t>afficher 1 message " Hello TP03 Basic Timer !\n " et 1 message "Timer 6 initialized\n"</a:t>
            </a:r>
          </a:p>
          <a:p>
            <a:pPr marL="171450" indent="-171450">
              <a:buFont typeface="Wingdings" panose="05000000000000000000" pitchFamily="2" charset="2"/>
              <a:buChar char="q"/>
            </a:pPr>
            <a:r>
              <a:rPr lang="fr-FR" sz="1200" dirty="0">
                <a:solidFill>
                  <a:srgbClr val="03234B"/>
                </a:solidFill>
              </a:rPr>
              <a:t>Démarrer le Timer (fonction HAL à </a:t>
            </a:r>
            <a:r>
              <a:rPr lang="fr-FR" sz="1200" u="sng" dirty="0">
                <a:solidFill>
                  <a:srgbClr val="03234B"/>
                </a:solidFill>
              </a:rPr>
              <a:t>chercher</a:t>
            </a:r>
            <a:r>
              <a:rPr lang="fr-FR" sz="1200" dirty="0">
                <a:solidFill>
                  <a:srgbClr val="03234B"/>
                </a:solidFill>
              </a:rPr>
              <a:t>)</a:t>
            </a:r>
          </a:p>
          <a:p>
            <a:pPr marL="171450" indent="-171450">
              <a:buFont typeface="Wingdings" panose="05000000000000000000" pitchFamily="2" charset="2"/>
              <a:buChar char="q"/>
            </a:pPr>
            <a:r>
              <a:rPr lang="fr-FR" sz="1200" dirty="0">
                <a:solidFill>
                  <a:srgbClr val="03234B"/>
                </a:solidFill>
              </a:rPr>
              <a:t>Afficher 1 message "Timer 6 enabled\n"</a:t>
            </a:r>
          </a:p>
          <a:p>
            <a:endParaRPr lang="fr-FR" sz="1200" dirty="0">
              <a:solidFill>
                <a:srgbClr val="03234B"/>
              </a:solidFill>
            </a:endParaRPr>
          </a:p>
          <a:p>
            <a:r>
              <a:rPr lang="fr-FR" sz="1200" dirty="0">
                <a:solidFill>
                  <a:srgbClr val="03234B"/>
                </a:solidFill>
              </a:rPr>
              <a:t>Coder dans le main.c la fonction</a:t>
            </a:r>
            <a:endParaRPr lang="fr-FR" sz="1200" b="1" dirty="0">
              <a:solidFill>
                <a:srgbClr val="03234B"/>
              </a:solidFill>
            </a:endParaRPr>
          </a:p>
          <a:p>
            <a:pPr marL="285750" indent="-285750">
              <a:buFont typeface="Wingdings" panose="05000000000000000000" pitchFamily="2" charset="2"/>
              <a:buChar char="q"/>
            </a:pPr>
            <a:r>
              <a:rPr lang="fr-FR" sz="1200" dirty="0">
                <a:solidFill>
                  <a:srgbClr val="03234B"/>
                </a:solidFill>
              </a:rPr>
              <a:t>Cette fonction doit être appelé comme une interruption (fichier stm32l1xx_it.c)</a:t>
            </a:r>
          </a:p>
          <a:p>
            <a:pPr marL="285750" indent="-285750">
              <a:buFont typeface="Wingdings" panose="05000000000000000000" pitchFamily="2" charset="2"/>
              <a:buChar char="q"/>
            </a:pPr>
            <a:r>
              <a:rPr lang="fr-FR" sz="1200" dirty="0">
                <a:solidFill>
                  <a:srgbClr val="03234B"/>
                </a:solidFill>
              </a:rPr>
              <a:t>Incrémenter la variable cpt</a:t>
            </a:r>
          </a:p>
          <a:p>
            <a:pPr marL="285750" indent="-285750">
              <a:buFont typeface="Wingdings" panose="05000000000000000000" pitchFamily="2" charset="2"/>
              <a:buChar char="q"/>
            </a:pPr>
            <a:r>
              <a:rPr lang="fr-FR" sz="1200" dirty="0">
                <a:solidFill>
                  <a:srgbClr val="03234B"/>
                </a:solidFill>
              </a:rPr>
              <a:t>Afficher un message « TIM6 IRQ cpt # %d\n »  (%d est la variable cpt).</a:t>
            </a:r>
          </a:p>
          <a:p>
            <a:pPr marL="285750" indent="-285750">
              <a:buFont typeface="Wingdings" panose="05000000000000000000" pitchFamily="2" charset="2"/>
              <a:buChar char="q"/>
            </a:pPr>
            <a:r>
              <a:rPr lang="fr-FR" sz="1200" dirty="0">
                <a:solidFill>
                  <a:srgbClr val="03234B"/>
                </a:solidFill>
              </a:rPr>
              <a:t>Afficher un message « Compteur callback: %d\n »  (%d est la variable </a:t>
            </a:r>
            <a:r>
              <a:rPr lang="fr-FR" sz="1200" dirty="0" err="1">
                <a:solidFill>
                  <a:srgbClr val="03234B"/>
                </a:solidFill>
              </a:rPr>
              <a:t>cptCallback</a:t>
            </a:r>
            <a:r>
              <a:rPr lang="fr-FR" sz="1200" dirty="0">
                <a:solidFill>
                  <a:srgbClr val="03234B"/>
                </a:solidFill>
              </a:rPr>
              <a:t>).</a:t>
            </a:r>
          </a:p>
          <a:p>
            <a:pPr marL="285750" indent="-285750">
              <a:buFont typeface="Wingdings" panose="05000000000000000000" pitchFamily="2" charset="2"/>
              <a:buChar char="q"/>
            </a:pPr>
            <a:r>
              <a:rPr lang="fr-FR" sz="1200" dirty="0">
                <a:solidFill>
                  <a:srgbClr val="03234B"/>
                </a:solidFill>
              </a:rPr>
              <a:t>Allumer ou éteindre la LED en fonction de son état précèdent avec </a:t>
            </a:r>
            <a:r>
              <a:rPr lang="fr-FR" sz="1200" dirty="0" err="1">
                <a:solidFill>
                  <a:srgbClr val="03234B"/>
                </a:solidFill>
              </a:rPr>
              <a:t>HAL_GPIO_TogglePin</a:t>
            </a:r>
            <a:endParaRPr lang="fr-FR" sz="1200" dirty="0">
              <a:solidFill>
                <a:srgbClr val="03234B"/>
              </a:solidFill>
            </a:endParaRPr>
          </a:p>
          <a:p>
            <a:pPr marL="285750" indent="-285750">
              <a:buFont typeface="Wingdings" panose="05000000000000000000" pitchFamily="2" charset="2"/>
              <a:buChar char="q"/>
            </a:pPr>
            <a:r>
              <a:rPr lang="fr-FR" sz="1200" dirty="0">
                <a:solidFill>
                  <a:srgbClr val="03234B"/>
                </a:solidFill>
              </a:rPr>
              <a:t>Changer l'Etat de </a:t>
            </a:r>
            <a:r>
              <a:rPr lang="fr-FR" sz="1200" dirty="0" err="1">
                <a:solidFill>
                  <a:srgbClr val="03234B"/>
                </a:solidFill>
              </a:rPr>
              <a:t>flag_irq</a:t>
            </a:r>
            <a:r>
              <a:rPr lang="fr-FR" sz="1200" dirty="0">
                <a:solidFill>
                  <a:srgbClr val="03234B"/>
                </a:solidFill>
              </a:rPr>
              <a:t> en fonction de son état précèdent</a:t>
            </a:r>
          </a:p>
          <a:p>
            <a:pPr marL="742950" lvl="1" indent="-285750">
              <a:buFont typeface="Wingdings" panose="05000000000000000000" pitchFamily="2" charset="2"/>
              <a:buChar char="q"/>
            </a:pPr>
            <a:r>
              <a:rPr lang="fr-FR" sz="1200" dirty="0">
                <a:solidFill>
                  <a:srgbClr val="03234B"/>
                </a:solidFill>
              </a:rPr>
              <a:t>0-&gt;1</a:t>
            </a:r>
          </a:p>
          <a:p>
            <a:pPr marL="742950" lvl="1" indent="-285750">
              <a:buFont typeface="Wingdings" panose="05000000000000000000" pitchFamily="2" charset="2"/>
              <a:buChar char="q"/>
            </a:pPr>
            <a:r>
              <a:rPr lang="fr-FR" sz="1200" dirty="0">
                <a:solidFill>
                  <a:srgbClr val="03234B"/>
                </a:solidFill>
              </a:rPr>
              <a:t>1-&gt;0</a:t>
            </a:r>
          </a:p>
          <a:p>
            <a:endParaRPr lang="fr-FR" sz="1200" dirty="0">
              <a:solidFill>
                <a:srgbClr val="03234B"/>
              </a:solidFill>
            </a:endParaRPr>
          </a:p>
        </p:txBody>
      </p:sp>
      <p:pic>
        <p:nvPicPr>
          <p:cNvPr id="8" name="Picture 7">
            <a:extLst>
              <a:ext uri="{FF2B5EF4-FFF2-40B4-BE49-F238E27FC236}">
                <a16:creationId xmlns:a16="http://schemas.microsoft.com/office/drawing/2014/main" id="{BA74F2BE-B122-43B1-80EF-E824E0F61715}"/>
              </a:ext>
            </a:extLst>
          </p:cNvPr>
          <p:cNvPicPr>
            <a:picLocks noChangeAspect="1"/>
          </p:cNvPicPr>
          <p:nvPr/>
        </p:nvPicPr>
        <p:blipFill rotWithShape="1">
          <a:blip r:embed="rId4"/>
          <a:srcRect l="15874" t="12259" r="14903" b="11106"/>
          <a:stretch/>
        </p:blipFill>
        <p:spPr>
          <a:xfrm>
            <a:off x="2495600" y="3766185"/>
            <a:ext cx="1762134" cy="219075"/>
          </a:xfrm>
          <a:prstGeom prst="rect">
            <a:avLst/>
          </a:prstGeom>
        </p:spPr>
      </p:pic>
      <p:sp>
        <p:nvSpPr>
          <p:cNvPr id="6" name="TextBox 5">
            <a:extLst>
              <a:ext uri="{FF2B5EF4-FFF2-40B4-BE49-F238E27FC236}">
                <a16:creationId xmlns:a16="http://schemas.microsoft.com/office/drawing/2014/main" id="{8748DA4E-4157-EF1A-4818-9D7DE4971CC4}"/>
              </a:ext>
            </a:extLst>
          </p:cNvPr>
          <p:cNvSpPr txBox="1"/>
          <p:nvPr/>
        </p:nvSpPr>
        <p:spPr>
          <a:xfrm>
            <a:off x="2709403" y="5571237"/>
            <a:ext cx="6773194" cy="830997"/>
          </a:xfrm>
          <a:prstGeom prst="rect">
            <a:avLst/>
          </a:prstGeom>
          <a:noFill/>
        </p:spPr>
        <p:txBody>
          <a:bodyPr wrap="square">
            <a:spAutoFit/>
          </a:bodyPr>
          <a:lstStyle/>
          <a:p>
            <a:r>
              <a:rPr lang="fr-FR" sz="1200" b="1" u="sng" dirty="0">
                <a:solidFill>
                  <a:srgbClr val="03234B"/>
                </a:solidFill>
              </a:rPr>
              <a:t>Mode Debug:</a:t>
            </a:r>
          </a:p>
          <a:p>
            <a:r>
              <a:rPr lang="fr-FR" sz="1200" dirty="0">
                <a:solidFill>
                  <a:srgbClr val="03234B"/>
                </a:solidFill>
              </a:rPr>
              <a:t>Activer l’espionnage de la variable flag_irq (voir slide précèdent)</a:t>
            </a:r>
          </a:p>
          <a:p>
            <a:r>
              <a:rPr lang="fr-FR" sz="1200" dirty="0">
                <a:solidFill>
                  <a:srgbClr val="03234B"/>
                </a:solidFill>
              </a:rPr>
              <a:t>Utiliser la fenêtre SWV Data Trace Timeline Graph</a:t>
            </a:r>
          </a:p>
          <a:p>
            <a:r>
              <a:rPr lang="fr-FR" sz="1200" b="1" i="1" dirty="0">
                <a:solidFill>
                  <a:srgbClr val="03234B"/>
                </a:solidFill>
                <a:highlight>
                  <a:srgbClr val="FFFF00"/>
                </a:highlight>
              </a:rPr>
              <a:t>N’oubliez pas d’utiliser des points d’arrêt pour vous aider à debugger votre interruption </a:t>
            </a:r>
            <a:r>
              <a:rPr lang="fr-FR" sz="1200" b="1" i="1" dirty="0">
                <a:solidFill>
                  <a:srgbClr val="03234B"/>
                </a:solidFill>
                <a:highlight>
                  <a:srgbClr val="FFFF00"/>
                </a:highlight>
                <a:sym typeface="Wingdings" panose="05000000000000000000" pitchFamily="2" charset="2"/>
              </a:rPr>
              <a:t></a:t>
            </a:r>
            <a:endParaRPr lang="fr-FR" sz="1200" b="1" i="1" dirty="0">
              <a:solidFill>
                <a:srgbClr val="03234B"/>
              </a:solidFill>
              <a:highlight>
                <a:srgbClr val="FFFF00"/>
              </a:highlight>
            </a:endParaRPr>
          </a:p>
        </p:txBody>
      </p:sp>
    </p:spTree>
    <p:extLst>
      <p:ext uri="{BB962C8B-B14F-4D97-AF65-F5344CB8AC3E}">
        <p14:creationId xmlns:p14="http://schemas.microsoft.com/office/powerpoint/2010/main" val="211893060"/>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E94E934-5705-4F3F-8FB3-3D7AF4B00B51}"/>
              </a:ext>
            </a:extLst>
          </p:cNvPr>
          <p:cNvSpPr>
            <a:spLocks noGrp="1"/>
          </p:cNvSpPr>
          <p:nvPr>
            <p:ph type="body" sz="quarter" idx="12"/>
          </p:nvPr>
        </p:nvSpPr>
        <p:spPr>
          <a:xfrm>
            <a:off x="119063" y="115888"/>
            <a:ext cx="10153650" cy="720725"/>
          </a:xfrm>
        </p:spPr>
        <p:txBody>
          <a:bodyPr>
            <a:normAutofit/>
          </a:bodyPr>
          <a:lstStyle/>
          <a:p>
            <a:r>
              <a:rPr lang="fr-FR" sz="3200" dirty="0"/>
              <a:t>Espionner une variable</a:t>
            </a:r>
          </a:p>
        </p:txBody>
      </p:sp>
      <p:grpSp>
        <p:nvGrpSpPr>
          <p:cNvPr id="6" name="Group 5">
            <a:extLst>
              <a:ext uri="{FF2B5EF4-FFF2-40B4-BE49-F238E27FC236}">
                <a16:creationId xmlns:a16="http://schemas.microsoft.com/office/drawing/2014/main" id="{3F9494F2-8C72-4C3F-8D02-E9FC49845E6B}"/>
              </a:ext>
            </a:extLst>
          </p:cNvPr>
          <p:cNvGrpSpPr/>
          <p:nvPr/>
        </p:nvGrpSpPr>
        <p:grpSpPr>
          <a:xfrm>
            <a:off x="732362" y="638222"/>
            <a:ext cx="11268294" cy="5959130"/>
            <a:chOff x="65809" y="704156"/>
            <a:chExt cx="11268294" cy="5959130"/>
          </a:xfrm>
        </p:grpSpPr>
        <p:pic>
          <p:nvPicPr>
            <p:cNvPr id="7" name="Image 5">
              <a:extLst>
                <a:ext uri="{FF2B5EF4-FFF2-40B4-BE49-F238E27FC236}">
                  <a16:creationId xmlns:a16="http://schemas.microsoft.com/office/drawing/2014/main" id="{A7C80DBA-2025-49F3-A264-C92112FE76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09" y="998219"/>
              <a:ext cx="8886593" cy="5168310"/>
            </a:xfrm>
            <a:prstGeom prst="rect">
              <a:avLst/>
            </a:prstGeom>
          </p:spPr>
        </p:pic>
        <p:sp>
          <p:nvSpPr>
            <p:cNvPr id="8" name="Ellipse 6">
              <a:extLst>
                <a:ext uri="{FF2B5EF4-FFF2-40B4-BE49-F238E27FC236}">
                  <a16:creationId xmlns:a16="http://schemas.microsoft.com/office/drawing/2014/main" id="{D9AC592D-2BEE-4082-9CB2-F3AC29FECBFB}"/>
                </a:ext>
              </a:extLst>
            </p:cNvPr>
            <p:cNvSpPr/>
            <p:nvPr/>
          </p:nvSpPr>
          <p:spPr>
            <a:xfrm>
              <a:off x="189740" y="3066022"/>
              <a:ext cx="733049" cy="205683"/>
            </a:xfrm>
            <a:prstGeom prst="ellipse">
              <a:avLst/>
            </a:prstGeom>
            <a:noFill/>
            <a:ln w="25400">
              <a:solidFill>
                <a:srgbClr val="E60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9" name="Picture 8">
              <a:extLst>
                <a:ext uri="{FF2B5EF4-FFF2-40B4-BE49-F238E27FC236}">
                  <a16:creationId xmlns:a16="http://schemas.microsoft.com/office/drawing/2014/main" id="{34FD4330-C7F6-4D43-B459-923D0C9BEA2D}"/>
                </a:ext>
              </a:extLst>
            </p:cNvPr>
            <p:cNvPicPr>
              <a:picLocks noChangeAspect="1"/>
            </p:cNvPicPr>
            <p:nvPr/>
          </p:nvPicPr>
          <p:blipFill>
            <a:blip r:embed="rId5"/>
            <a:stretch>
              <a:fillRect/>
            </a:stretch>
          </p:blipFill>
          <p:spPr>
            <a:xfrm>
              <a:off x="4300258" y="704156"/>
              <a:ext cx="2019300" cy="333375"/>
            </a:xfrm>
            <a:prstGeom prst="rect">
              <a:avLst/>
            </a:prstGeom>
          </p:spPr>
        </p:pic>
        <p:grpSp>
          <p:nvGrpSpPr>
            <p:cNvPr id="10" name="Group 9">
              <a:extLst>
                <a:ext uri="{FF2B5EF4-FFF2-40B4-BE49-F238E27FC236}">
                  <a16:creationId xmlns:a16="http://schemas.microsoft.com/office/drawing/2014/main" id="{79EA0835-7BBC-4823-AC68-E4F2D0027471}"/>
                </a:ext>
              </a:extLst>
            </p:cNvPr>
            <p:cNvGrpSpPr/>
            <p:nvPr/>
          </p:nvGrpSpPr>
          <p:grpSpPr>
            <a:xfrm>
              <a:off x="5639300" y="5359506"/>
              <a:ext cx="5302561" cy="1303780"/>
              <a:chOff x="6517178" y="4928156"/>
              <a:chExt cx="5302561" cy="1303780"/>
            </a:xfrm>
          </p:grpSpPr>
          <p:pic>
            <p:nvPicPr>
              <p:cNvPr id="13" name="Picture 12">
                <a:extLst>
                  <a:ext uri="{FF2B5EF4-FFF2-40B4-BE49-F238E27FC236}">
                    <a16:creationId xmlns:a16="http://schemas.microsoft.com/office/drawing/2014/main" id="{B58F0E81-285D-4F2A-B0FD-36FFF65197A2}"/>
                  </a:ext>
                </a:extLst>
              </p:cNvPr>
              <p:cNvPicPr>
                <a:picLocks noChangeAspect="1"/>
              </p:cNvPicPr>
              <p:nvPr/>
            </p:nvPicPr>
            <p:blipFill>
              <a:blip r:embed="rId6"/>
              <a:stretch>
                <a:fillRect/>
              </a:stretch>
            </p:blipFill>
            <p:spPr>
              <a:xfrm>
                <a:off x="6517178" y="5011283"/>
                <a:ext cx="5302561" cy="1220653"/>
              </a:xfrm>
              <a:prstGeom prst="rect">
                <a:avLst/>
              </a:prstGeom>
            </p:spPr>
          </p:pic>
          <p:sp>
            <p:nvSpPr>
              <p:cNvPr id="14" name="Oval 13">
                <a:extLst>
                  <a:ext uri="{FF2B5EF4-FFF2-40B4-BE49-F238E27FC236}">
                    <a16:creationId xmlns:a16="http://schemas.microsoft.com/office/drawing/2014/main" id="{7D47C481-55BC-4794-94B8-8487C6E86E5C}"/>
                  </a:ext>
                </a:extLst>
              </p:cNvPr>
              <p:cNvSpPr/>
              <p:nvPr/>
            </p:nvSpPr>
            <p:spPr>
              <a:xfrm>
                <a:off x="7197436" y="4928156"/>
                <a:ext cx="1413164" cy="407323"/>
              </a:xfrm>
              <a:prstGeom prst="ellipse">
                <a:avLst/>
              </a:prstGeom>
              <a:noFill/>
              <a:ln>
                <a:solidFill>
                  <a:srgbClr val="E60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Oval 14">
                <a:extLst>
                  <a:ext uri="{FF2B5EF4-FFF2-40B4-BE49-F238E27FC236}">
                    <a16:creationId xmlns:a16="http://schemas.microsoft.com/office/drawing/2014/main" id="{7D1B2A2B-B227-4139-AC85-64DBC25085C8}"/>
                  </a:ext>
                </a:extLst>
              </p:cNvPr>
              <p:cNvSpPr>
                <a:spLocks noChangeAspect="1"/>
              </p:cNvSpPr>
              <p:nvPr/>
            </p:nvSpPr>
            <p:spPr>
              <a:xfrm>
                <a:off x="11237901" y="4956176"/>
                <a:ext cx="195640" cy="195640"/>
              </a:xfrm>
              <a:prstGeom prst="ellipse">
                <a:avLst/>
              </a:prstGeom>
              <a:noFill/>
              <a:ln>
                <a:solidFill>
                  <a:srgbClr val="E60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sp>
          <p:nvSpPr>
            <p:cNvPr id="11" name="TextBox 10">
              <a:extLst>
                <a:ext uri="{FF2B5EF4-FFF2-40B4-BE49-F238E27FC236}">
                  <a16:creationId xmlns:a16="http://schemas.microsoft.com/office/drawing/2014/main" id="{BE79505D-5167-4936-8718-35942E40F7EC}"/>
                </a:ext>
              </a:extLst>
            </p:cNvPr>
            <p:cNvSpPr txBox="1"/>
            <p:nvPr/>
          </p:nvSpPr>
          <p:spPr>
            <a:xfrm>
              <a:off x="9285315" y="4392852"/>
              <a:ext cx="2048788" cy="592554"/>
            </a:xfrm>
            <a:prstGeom prst="rect">
              <a:avLst/>
            </a:prstGeom>
            <a:noFill/>
          </p:spPr>
          <p:txBody>
            <a:bodyPr wrap="square" rtlCol="0">
              <a:noAutofit/>
            </a:bodyPr>
            <a:lstStyle/>
            <a:p>
              <a:r>
                <a:rPr lang="fr-FR" sz="1600" dirty="0">
                  <a:solidFill>
                    <a:srgbClr val="03234B"/>
                  </a:solidFill>
                </a:rPr>
                <a:t>Pensez à faire « Start Trace » </a:t>
              </a:r>
              <a:r>
                <a:rPr lang="fr-FR" sz="1600" dirty="0">
                  <a:solidFill>
                    <a:srgbClr val="03234B"/>
                  </a:solidFill>
                  <a:sym typeface="Wingdings" panose="05000000000000000000" pitchFamily="2" charset="2"/>
                </a:rPr>
                <a:t> </a:t>
              </a:r>
              <a:endParaRPr lang="fr-FR" sz="1600" dirty="0">
                <a:solidFill>
                  <a:srgbClr val="03234B"/>
                </a:solidFill>
              </a:endParaRPr>
            </a:p>
          </p:txBody>
        </p:sp>
        <p:cxnSp>
          <p:nvCxnSpPr>
            <p:cNvPr id="12" name="Straight Arrow Connector 11">
              <a:extLst>
                <a:ext uri="{FF2B5EF4-FFF2-40B4-BE49-F238E27FC236}">
                  <a16:creationId xmlns:a16="http://schemas.microsoft.com/office/drawing/2014/main" id="{0DD86003-5BD9-4FDB-913E-ED1367DFF084}"/>
                </a:ext>
              </a:extLst>
            </p:cNvPr>
            <p:cNvCxnSpPr>
              <a:cxnSpLocks/>
              <a:endCxn id="15" idx="0"/>
            </p:cNvCxnSpPr>
            <p:nvPr/>
          </p:nvCxnSpPr>
          <p:spPr>
            <a:xfrm>
              <a:off x="10360023" y="4985406"/>
              <a:ext cx="97820" cy="402120"/>
            </a:xfrm>
            <a:prstGeom prst="straightConnector1">
              <a:avLst/>
            </a:prstGeom>
            <a:ln>
              <a:solidFill>
                <a:srgbClr val="E6007E"/>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09095042"/>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E94E934-5705-4F3F-8FB3-3D7AF4B00B51}"/>
              </a:ext>
            </a:extLst>
          </p:cNvPr>
          <p:cNvSpPr>
            <a:spLocks noGrp="1"/>
          </p:cNvSpPr>
          <p:nvPr>
            <p:ph type="body" sz="quarter" idx="12"/>
          </p:nvPr>
        </p:nvSpPr>
        <p:spPr>
          <a:xfrm>
            <a:off x="119063" y="115888"/>
            <a:ext cx="10153650" cy="720725"/>
          </a:xfrm>
        </p:spPr>
        <p:txBody>
          <a:bodyPr>
            <a:normAutofit/>
          </a:bodyPr>
          <a:lstStyle/>
          <a:p>
            <a:r>
              <a:rPr lang="fr-FR" sz="3200" dirty="0"/>
              <a:t>Partie 1 – Basic Timer Résultats</a:t>
            </a:r>
          </a:p>
        </p:txBody>
      </p:sp>
      <p:pic>
        <p:nvPicPr>
          <p:cNvPr id="6" name="Image 10" descr="Une image contenant capture d’écran, blanc, cuisine&#10;&#10;Description générée automatiquement">
            <a:extLst>
              <a:ext uri="{FF2B5EF4-FFF2-40B4-BE49-F238E27FC236}">
                <a16:creationId xmlns:a16="http://schemas.microsoft.com/office/drawing/2014/main" id="{81A34569-AE87-41D9-B7A4-EA035DAA85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615" y="3661463"/>
            <a:ext cx="12192001" cy="2462424"/>
          </a:xfrm>
          <a:prstGeom prst="rect">
            <a:avLst/>
          </a:prstGeom>
        </p:spPr>
      </p:pic>
      <p:sp>
        <p:nvSpPr>
          <p:cNvPr id="7" name="ZoneTexte 11">
            <a:extLst>
              <a:ext uri="{FF2B5EF4-FFF2-40B4-BE49-F238E27FC236}">
                <a16:creationId xmlns:a16="http://schemas.microsoft.com/office/drawing/2014/main" id="{A89C6745-DC28-4102-8094-C0B3A4019609}"/>
              </a:ext>
            </a:extLst>
          </p:cNvPr>
          <p:cNvSpPr txBox="1"/>
          <p:nvPr/>
        </p:nvSpPr>
        <p:spPr>
          <a:xfrm>
            <a:off x="6846849" y="2297151"/>
            <a:ext cx="4284571" cy="646331"/>
          </a:xfrm>
          <a:prstGeom prst="rect">
            <a:avLst/>
          </a:prstGeom>
          <a:noFill/>
        </p:spPr>
        <p:txBody>
          <a:bodyPr wrap="none" rtlCol="0">
            <a:noAutofit/>
          </a:bodyPr>
          <a:lstStyle/>
          <a:p>
            <a:pPr algn="ctr"/>
            <a:r>
              <a:rPr lang="en-US" b="1">
                <a:solidFill>
                  <a:srgbClr val="160079"/>
                </a:solidFill>
              </a:rPr>
              <a:t>Une interruption toutes les secondes</a:t>
            </a:r>
          </a:p>
          <a:p>
            <a:r>
              <a:rPr lang="en-US">
                <a:solidFill>
                  <a:srgbClr val="03234B"/>
                </a:solidFill>
              </a:rPr>
              <a:t>-&gt;flag_irq change d’état toutes les secondes</a:t>
            </a:r>
            <a:endParaRPr lang="en-US" dirty="0">
              <a:solidFill>
                <a:srgbClr val="03234B"/>
              </a:solidFill>
            </a:endParaRPr>
          </a:p>
        </p:txBody>
      </p:sp>
      <p:pic>
        <p:nvPicPr>
          <p:cNvPr id="9" name="Image 8">
            <a:extLst>
              <a:ext uri="{FF2B5EF4-FFF2-40B4-BE49-F238E27FC236}">
                <a16:creationId xmlns:a16="http://schemas.microsoft.com/office/drawing/2014/main" id="{CDD54032-A4A4-9665-6362-85CDB65B5C76}"/>
              </a:ext>
            </a:extLst>
          </p:cNvPr>
          <p:cNvPicPr>
            <a:picLocks noChangeAspect="1"/>
          </p:cNvPicPr>
          <p:nvPr/>
        </p:nvPicPr>
        <p:blipFill>
          <a:blip r:embed="rId5"/>
          <a:stretch>
            <a:fillRect/>
          </a:stretch>
        </p:blipFill>
        <p:spPr>
          <a:xfrm>
            <a:off x="675499" y="863995"/>
            <a:ext cx="1767993" cy="2278577"/>
          </a:xfrm>
          <a:prstGeom prst="rect">
            <a:avLst/>
          </a:prstGeom>
        </p:spPr>
      </p:pic>
    </p:spTree>
    <p:extLst>
      <p:ext uri="{BB962C8B-B14F-4D97-AF65-F5344CB8AC3E}">
        <p14:creationId xmlns:p14="http://schemas.microsoft.com/office/powerpoint/2010/main" val="3737977202"/>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43B2774-C3EC-4F9C-A119-D9BF425635CA}"/>
              </a:ext>
            </a:extLst>
          </p:cNvPr>
          <p:cNvSpPr>
            <a:spLocks noGrp="1"/>
          </p:cNvSpPr>
          <p:nvPr>
            <p:ph type="body" sz="quarter" idx="12"/>
          </p:nvPr>
        </p:nvSpPr>
        <p:spPr>
          <a:xfrm>
            <a:off x="119063" y="115888"/>
            <a:ext cx="10153650" cy="720725"/>
          </a:xfrm>
        </p:spPr>
        <p:txBody>
          <a:bodyPr>
            <a:normAutofit/>
          </a:bodyPr>
          <a:lstStyle/>
          <a:p>
            <a:r>
              <a:rPr lang="en-US" sz="3200" dirty="0"/>
              <a:t>General Purpose Timer</a:t>
            </a:r>
          </a:p>
        </p:txBody>
      </p:sp>
      <p:grpSp>
        <p:nvGrpSpPr>
          <p:cNvPr id="9" name="Group 8">
            <a:extLst>
              <a:ext uri="{FF2B5EF4-FFF2-40B4-BE49-F238E27FC236}">
                <a16:creationId xmlns:a16="http://schemas.microsoft.com/office/drawing/2014/main" id="{580DA656-DD64-490B-A7DC-53F6E711E523}"/>
              </a:ext>
            </a:extLst>
          </p:cNvPr>
          <p:cNvGrpSpPr/>
          <p:nvPr/>
        </p:nvGrpSpPr>
        <p:grpSpPr>
          <a:xfrm>
            <a:off x="695400" y="766100"/>
            <a:ext cx="6079440" cy="4895148"/>
            <a:chOff x="-131227" y="0"/>
            <a:chExt cx="6978075" cy="5789278"/>
          </a:xfrm>
        </p:grpSpPr>
        <p:pic>
          <p:nvPicPr>
            <p:cNvPr id="10" name="Image 5" descr="Une image contenant texte&#10;&#10;Description générée automatiquement">
              <a:extLst>
                <a:ext uri="{FF2B5EF4-FFF2-40B4-BE49-F238E27FC236}">
                  <a16:creationId xmlns:a16="http://schemas.microsoft.com/office/drawing/2014/main" id="{40529614-4936-4BB6-8583-3A2BDC790AD2}"/>
                </a:ext>
              </a:extLst>
            </p:cNvPr>
            <p:cNvPicPr>
              <a:picLocks noChangeAspect="1"/>
            </p:cNvPicPr>
            <p:nvPr/>
          </p:nvPicPr>
          <p:blipFill rotWithShape="1">
            <a:blip r:embed="rId4">
              <a:extLst>
                <a:ext uri="{28A0092B-C50C-407E-A947-70E740481C1C}">
                  <a14:useLocalDpi xmlns:a14="http://schemas.microsoft.com/office/drawing/2010/main" val="0"/>
                </a:ext>
              </a:extLst>
            </a:blip>
            <a:srcRect b="15066"/>
            <a:stretch/>
          </p:blipFill>
          <p:spPr>
            <a:xfrm>
              <a:off x="-131227" y="0"/>
              <a:ext cx="6781228" cy="5789278"/>
            </a:xfrm>
            <a:prstGeom prst="rect">
              <a:avLst/>
            </a:prstGeom>
          </p:spPr>
        </p:pic>
        <p:sp>
          <p:nvSpPr>
            <p:cNvPr id="11" name="Rectangle : coins arrondis 6">
              <a:extLst>
                <a:ext uri="{FF2B5EF4-FFF2-40B4-BE49-F238E27FC236}">
                  <a16:creationId xmlns:a16="http://schemas.microsoft.com/office/drawing/2014/main" id="{D5283F76-AF44-4E37-9441-91F0834C1897}"/>
                </a:ext>
              </a:extLst>
            </p:cNvPr>
            <p:cNvSpPr/>
            <p:nvPr/>
          </p:nvSpPr>
          <p:spPr>
            <a:xfrm>
              <a:off x="546441" y="175603"/>
              <a:ext cx="4446749" cy="2143851"/>
            </a:xfrm>
            <a:prstGeom prst="rect">
              <a:avLst/>
            </a:prstGeom>
            <a:noFill/>
            <a:ln w="25400">
              <a:solidFill>
                <a:srgbClr val="E60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Rectangle : coins arrondis 7">
              <a:extLst>
                <a:ext uri="{FF2B5EF4-FFF2-40B4-BE49-F238E27FC236}">
                  <a16:creationId xmlns:a16="http://schemas.microsoft.com/office/drawing/2014/main" id="{E40FA687-49C2-4D17-B002-E09F94890A7D}"/>
                </a:ext>
              </a:extLst>
            </p:cNvPr>
            <p:cNvSpPr/>
            <p:nvPr/>
          </p:nvSpPr>
          <p:spPr>
            <a:xfrm>
              <a:off x="311105" y="3222702"/>
              <a:ext cx="6535743" cy="2230244"/>
            </a:xfrm>
            <a:prstGeom prst="rect">
              <a:avLst/>
            </a:prstGeom>
            <a:noFill/>
            <a:ln w="25400">
              <a:solidFill>
                <a:srgbClr val="397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sp>
        <p:nvSpPr>
          <p:cNvPr id="13" name="ZoneTexte 8">
            <a:extLst>
              <a:ext uri="{FF2B5EF4-FFF2-40B4-BE49-F238E27FC236}">
                <a16:creationId xmlns:a16="http://schemas.microsoft.com/office/drawing/2014/main" id="{690F4522-A483-42EE-B463-E5760A785B57}"/>
              </a:ext>
            </a:extLst>
          </p:cNvPr>
          <p:cNvSpPr txBox="1"/>
          <p:nvPr/>
        </p:nvSpPr>
        <p:spPr>
          <a:xfrm>
            <a:off x="6384032" y="742451"/>
            <a:ext cx="5976663" cy="1477328"/>
          </a:xfrm>
          <a:prstGeom prst="rect">
            <a:avLst/>
          </a:prstGeom>
          <a:noFill/>
        </p:spPr>
        <p:txBody>
          <a:bodyPr wrap="square" rtlCol="0">
            <a:noAutofit/>
          </a:bodyPr>
          <a:lstStyle/>
          <a:p>
            <a:r>
              <a:rPr lang="fr-FR" dirty="0">
                <a:solidFill>
                  <a:srgbClr val="E6007E"/>
                </a:solidFill>
              </a:rPr>
              <a:t>Plusieurs sources d’incrémentation du compteur</a:t>
            </a:r>
          </a:p>
          <a:p>
            <a:r>
              <a:rPr lang="fr-FR" dirty="0">
                <a:solidFill>
                  <a:schemeClr val="tx1">
                    <a:lumMod val="95000"/>
                    <a:lumOff val="5000"/>
                  </a:schemeClr>
                </a:solidFill>
              </a:rPr>
              <a:t>CK_INT </a:t>
            </a:r>
            <a:r>
              <a:rPr lang="fr-FR" i="1" dirty="0">
                <a:solidFill>
                  <a:schemeClr val="tx1">
                    <a:lumMod val="95000"/>
                    <a:lumOff val="5000"/>
                  </a:schemeClr>
                </a:solidFill>
              </a:rPr>
              <a:t>(comme le timer basique)</a:t>
            </a:r>
          </a:p>
          <a:p>
            <a:r>
              <a:rPr lang="fr-FR" dirty="0">
                <a:solidFill>
                  <a:schemeClr val="tx1">
                    <a:lumMod val="95000"/>
                    <a:lumOff val="5000"/>
                  </a:schemeClr>
                </a:solidFill>
              </a:rPr>
              <a:t>ETR </a:t>
            </a:r>
            <a:r>
              <a:rPr lang="fr-FR" i="1" dirty="0">
                <a:solidFill>
                  <a:schemeClr val="tx1">
                    <a:lumMod val="95000"/>
                    <a:lumOff val="5000"/>
                  </a:schemeClr>
                </a:solidFill>
              </a:rPr>
              <a:t>(source extérieure, bouton poussoir, CLK externe,…)</a:t>
            </a:r>
          </a:p>
          <a:p>
            <a:r>
              <a:rPr lang="fr-FR" dirty="0">
                <a:solidFill>
                  <a:schemeClr val="tx1">
                    <a:lumMod val="95000"/>
                    <a:lumOff val="5000"/>
                  </a:schemeClr>
                </a:solidFill>
              </a:rPr>
              <a:t>ITRx (trigger extérieurs, mode esclave)</a:t>
            </a:r>
          </a:p>
          <a:p>
            <a:r>
              <a:rPr lang="en-US" i="1" dirty="0">
                <a:solidFill>
                  <a:schemeClr val="tx1">
                    <a:lumMod val="95000"/>
                    <a:lumOff val="5000"/>
                  </a:schemeClr>
                </a:solidFill>
              </a:rPr>
              <a:t>…</a:t>
            </a:r>
          </a:p>
        </p:txBody>
      </p:sp>
      <p:sp>
        <p:nvSpPr>
          <p:cNvPr id="14" name="ZoneTexte 9">
            <a:extLst>
              <a:ext uri="{FF2B5EF4-FFF2-40B4-BE49-F238E27FC236}">
                <a16:creationId xmlns:a16="http://schemas.microsoft.com/office/drawing/2014/main" id="{441E4406-92B2-48FB-9CFE-40FAE7F10B1E}"/>
              </a:ext>
            </a:extLst>
          </p:cNvPr>
          <p:cNvSpPr txBox="1"/>
          <p:nvPr/>
        </p:nvSpPr>
        <p:spPr>
          <a:xfrm>
            <a:off x="6384032" y="2560103"/>
            <a:ext cx="3803870" cy="652873"/>
          </a:xfrm>
          <a:prstGeom prst="rect">
            <a:avLst/>
          </a:prstGeom>
          <a:noFill/>
        </p:spPr>
        <p:txBody>
          <a:bodyPr wrap="square" rtlCol="0">
            <a:noAutofit/>
          </a:bodyPr>
          <a:lstStyle/>
          <a:p>
            <a:r>
              <a:rPr lang="fr-FR" dirty="0">
                <a:solidFill>
                  <a:srgbClr val="397012"/>
                </a:solidFill>
              </a:rPr>
              <a:t>Plusieurs actionneurs</a:t>
            </a:r>
          </a:p>
          <a:p>
            <a:r>
              <a:rPr lang="fr-FR" dirty="0">
                <a:solidFill>
                  <a:schemeClr val="tx1">
                    <a:lumMod val="95000"/>
                    <a:lumOff val="5000"/>
                  </a:schemeClr>
                </a:solidFill>
              </a:rPr>
              <a:t>TimX _ChX pins physiques &amp; IRQ</a:t>
            </a:r>
            <a:endParaRPr lang="fr-FR" i="1" dirty="0">
              <a:solidFill>
                <a:schemeClr val="tx1">
                  <a:lumMod val="95000"/>
                  <a:lumOff val="5000"/>
                </a:schemeClr>
              </a:solidFill>
            </a:endParaRPr>
          </a:p>
        </p:txBody>
      </p:sp>
      <p:sp>
        <p:nvSpPr>
          <p:cNvPr id="19" name="ZoneTexte 8">
            <a:extLst>
              <a:ext uri="{FF2B5EF4-FFF2-40B4-BE49-F238E27FC236}">
                <a16:creationId xmlns:a16="http://schemas.microsoft.com/office/drawing/2014/main" id="{A80C84B3-3177-4345-923E-F1C6105F0CCB}"/>
              </a:ext>
            </a:extLst>
          </p:cNvPr>
          <p:cNvSpPr txBox="1"/>
          <p:nvPr/>
        </p:nvSpPr>
        <p:spPr>
          <a:xfrm>
            <a:off x="6888088" y="3458826"/>
            <a:ext cx="1065676" cy="369332"/>
          </a:xfrm>
          <a:prstGeom prst="rect">
            <a:avLst/>
          </a:prstGeom>
          <a:noFill/>
        </p:spPr>
        <p:txBody>
          <a:bodyPr wrap="none" rtlCol="0">
            <a:noAutofit/>
          </a:bodyPr>
          <a:lstStyle/>
          <a:p>
            <a:r>
              <a:rPr lang="fr-FR" i="1" dirty="0">
                <a:solidFill>
                  <a:srgbClr val="03234B"/>
                </a:solidFill>
              </a:rPr>
              <a:t>Centième</a:t>
            </a:r>
          </a:p>
        </p:txBody>
      </p:sp>
      <p:sp>
        <p:nvSpPr>
          <p:cNvPr id="20" name="ZoneTexte 10">
            <a:extLst>
              <a:ext uri="{FF2B5EF4-FFF2-40B4-BE49-F238E27FC236}">
                <a16:creationId xmlns:a16="http://schemas.microsoft.com/office/drawing/2014/main" id="{A89E91FF-4D68-4FDA-A9CF-737E830BC85F}"/>
              </a:ext>
            </a:extLst>
          </p:cNvPr>
          <p:cNvSpPr txBox="1"/>
          <p:nvPr/>
        </p:nvSpPr>
        <p:spPr>
          <a:xfrm>
            <a:off x="6888088" y="3890253"/>
            <a:ext cx="1008112" cy="369332"/>
          </a:xfrm>
          <a:prstGeom prst="rect">
            <a:avLst/>
          </a:prstGeom>
          <a:noFill/>
        </p:spPr>
        <p:txBody>
          <a:bodyPr wrap="none" rtlCol="0">
            <a:noAutofit/>
          </a:bodyPr>
          <a:lstStyle/>
          <a:p>
            <a:r>
              <a:rPr lang="fr-FR" i="1" dirty="0">
                <a:solidFill>
                  <a:srgbClr val="03234B"/>
                </a:solidFill>
              </a:rPr>
              <a:t>Dixième</a:t>
            </a:r>
          </a:p>
        </p:txBody>
      </p:sp>
      <p:sp>
        <p:nvSpPr>
          <p:cNvPr id="21" name="ZoneTexte 11">
            <a:extLst>
              <a:ext uri="{FF2B5EF4-FFF2-40B4-BE49-F238E27FC236}">
                <a16:creationId xmlns:a16="http://schemas.microsoft.com/office/drawing/2014/main" id="{ABECBFF2-0B89-4652-B9FE-815CC000FC53}"/>
              </a:ext>
            </a:extLst>
          </p:cNvPr>
          <p:cNvSpPr txBox="1"/>
          <p:nvPr/>
        </p:nvSpPr>
        <p:spPr>
          <a:xfrm>
            <a:off x="6888088" y="4342932"/>
            <a:ext cx="1065676" cy="369332"/>
          </a:xfrm>
          <a:prstGeom prst="rect">
            <a:avLst/>
          </a:prstGeom>
          <a:noFill/>
        </p:spPr>
        <p:txBody>
          <a:bodyPr wrap="none" rtlCol="0">
            <a:noAutofit/>
          </a:bodyPr>
          <a:lstStyle/>
          <a:p>
            <a:r>
              <a:rPr lang="fr-FR" i="1" dirty="0">
                <a:solidFill>
                  <a:srgbClr val="03234B"/>
                </a:solidFill>
              </a:rPr>
              <a:t>Seconde</a:t>
            </a:r>
          </a:p>
        </p:txBody>
      </p:sp>
      <p:sp>
        <p:nvSpPr>
          <p:cNvPr id="22" name="ZoneTexte 13">
            <a:extLst>
              <a:ext uri="{FF2B5EF4-FFF2-40B4-BE49-F238E27FC236}">
                <a16:creationId xmlns:a16="http://schemas.microsoft.com/office/drawing/2014/main" id="{402B134C-6185-49FE-AC5F-C1DEC88A2E47}"/>
              </a:ext>
            </a:extLst>
          </p:cNvPr>
          <p:cNvSpPr txBox="1"/>
          <p:nvPr/>
        </p:nvSpPr>
        <p:spPr>
          <a:xfrm>
            <a:off x="6888088" y="4814065"/>
            <a:ext cx="1872208" cy="369332"/>
          </a:xfrm>
          <a:prstGeom prst="rect">
            <a:avLst/>
          </a:prstGeom>
          <a:noFill/>
        </p:spPr>
        <p:txBody>
          <a:bodyPr wrap="none" rtlCol="0">
            <a:noAutofit/>
          </a:bodyPr>
          <a:lstStyle/>
          <a:p>
            <a:r>
              <a:rPr lang="fr-FR" i="1" dirty="0">
                <a:solidFill>
                  <a:srgbClr val="03234B"/>
                </a:solidFill>
              </a:rPr>
              <a:t>Dizaine seconde</a:t>
            </a:r>
          </a:p>
        </p:txBody>
      </p:sp>
    </p:spTree>
    <p:extLst>
      <p:ext uri="{BB962C8B-B14F-4D97-AF65-F5344CB8AC3E}">
        <p14:creationId xmlns:p14="http://schemas.microsoft.com/office/powerpoint/2010/main" val="3050918421"/>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55FA077-45F1-4D34-B584-6B0E324EFCE2}"/>
              </a:ext>
            </a:extLst>
          </p:cNvPr>
          <p:cNvSpPr>
            <a:spLocks noGrp="1"/>
          </p:cNvSpPr>
          <p:nvPr>
            <p:ph type="body" sz="quarter" idx="12"/>
          </p:nvPr>
        </p:nvSpPr>
        <p:spPr>
          <a:xfrm>
            <a:off x="119063" y="115888"/>
            <a:ext cx="10153650" cy="720725"/>
          </a:xfrm>
        </p:spPr>
        <p:txBody>
          <a:bodyPr>
            <a:normAutofit/>
          </a:bodyPr>
          <a:lstStyle/>
          <a:p>
            <a:r>
              <a:rPr lang="en-US"/>
              <a:t>Exercice General Purpose Timer</a:t>
            </a:r>
            <a:endParaRPr lang="en-US" dirty="0"/>
          </a:p>
        </p:txBody>
      </p:sp>
      <p:sp>
        <p:nvSpPr>
          <p:cNvPr id="6" name="ZoneTexte 5">
            <a:extLst>
              <a:ext uri="{FF2B5EF4-FFF2-40B4-BE49-F238E27FC236}">
                <a16:creationId xmlns:a16="http://schemas.microsoft.com/office/drawing/2014/main" id="{D8E4A192-1521-4B83-B05C-BC4FB00AB465}"/>
              </a:ext>
            </a:extLst>
          </p:cNvPr>
          <p:cNvSpPr txBox="1"/>
          <p:nvPr/>
        </p:nvSpPr>
        <p:spPr>
          <a:xfrm>
            <a:off x="349366" y="827088"/>
            <a:ext cx="11496329" cy="338554"/>
          </a:xfrm>
          <a:prstGeom prst="rect">
            <a:avLst/>
          </a:prstGeom>
          <a:noFill/>
        </p:spPr>
        <p:txBody>
          <a:bodyPr wrap="square" rtlCol="0">
            <a:noAutofit/>
          </a:bodyPr>
          <a:lstStyle/>
          <a:p>
            <a:r>
              <a:rPr lang="en-US" sz="1600" b="1">
                <a:solidFill>
                  <a:srgbClr val="03234B"/>
                </a:solidFill>
              </a:rPr>
              <a:t>Générer une interruption toutes les 10 millisecondes, puis toutes les 100 ms, toutes les Secondes et toutes les dizaines de Secondes</a:t>
            </a:r>
            <a:endParaRPr lang="en-US" sz="1600" b="1" dirty="0">
              <a:solidFill>
                <a:srgbClr val="03234B"/>
              </a:solidFill>
            </a:endParaRPr>
          </a:p>
        </p:txBody>
      </p:sp>
      <p:pic>
        <p:nvPicPr>
          <p:cNvPr id="7" name="Picture 6">
            <a:extLst>
              <a:ext uri="{FF2B5EF4-FFF2-40B4-BE49-F238E27FC236}">
                <a16:creationId xmlns:a16="http://schemas.microsoft.com/office/drawing/2014/main" id="{55F6322B-EFF9-43DF-8CAF-ACF6145BAD7D}"/>
              </a:ext>
            </a:extLst>
          </p:cNvPr>
          <p:cNvPicPr>
            <a:picLocks noChangeAspect="1"/>
          </p:cNvPicPr>
          <p:nvPr/>
        </p:nvPicPr>
        <p:blipFill>
          <a:blip r:embed="rId4"/>
          <a:stretch>
            <a:fillRect/>
          </a:stretch>
        </p:blipFill>
        <p:spPr>
          <a:xfrm>
            <a:off x="479377" y="1441932"/>
            <a:ext cx="5209173" cy="3113899"/>
          </a:xfrm>
          <a:prstGeom prst="rect">
            <a:avLst/>
          </a:prstGeom>
          <a:ln w="28575">
            <a:solidFill>
              <a:srgbClr val="E6007E"/>
            </a:solidFill>
            <a:prstDash val="dash"/>
          </a:ln>
        </p:spPr>
      </p:pic>
      <p:pic>
        <p:nvPicPr>
          <p:cNvPr id="8" name="Picture 7">
            <a:extLst>
              <a:ext uri="{FF2B5EF4-FFF2-40B4-BE49-F238E27FC236}">
                <a16:creationId xmlns:a16="http://schemas.microsoft.com/office/drawing/2014/main" id="{C3F5FB82-949D-4CA6-A29D-D25471CE8D65}"/>
              </a:ext>
            </a:extLst>
          </p:cNvPr>
          <p:cNvPicPr>
            <a:picLocks noChangeAspect="1"/>
          </p:cNvPicPr>
          <p:nvPr/>
        </p:nvPicPr>
        <p:blipFill>
          <a:blip r:embed="rId5"/>
          <a:stretch>
            <a:fillRect/>
          </a:stretch>
        </p:blipFill>
        <p:spPr>
          <a:xfrm>
            <a:off x="2384825" y="4774068"/>
            <a:ext cx="4352874" cy="1231803"/>
          </a:xfrm>
          <a:prstGeom prst="rect">
            <a:avLst/>
          </a:prstGeom>
          <a:ln w="19050">
            <a:solidFill>
              <a:srgbClr val="E6007E"/>
            </a:solidFill>
            <a:prstDash val="dash"/>
          </a:ln>
        </p:spPr>
      </p:pic>
      <p:pic>
        <p:nvPicPr>
          <p:cNvPr id="10" name="Picture 9">
            <a:extLst>
              <a:ext uri="{FF2B5EF4-FFF2-40B4-BE49-F238E27FC236}">
                <a16:creationId xmlns:a16="http://schemas.microsoft.com/office/drawing/2014/main" id="{AE075BB4-D6BC-4149-9F4C-1163321FADD0}"/>
              </a:ext>
            </a:extLst>
          </p:cNvPr>
          <p:cNvPicPr>
            <a:picLocks noChangeAspect="1"/>
          </p:cNvPicPr>
          <p:nvPr/>
        </p:nvPicPr>
        <p:blipFill>
          <a:blip r:embed="rId6"/>
          <a:stretch>
            <a:fillRect/>
          </a:stretch>
        </p:blipFill>
        <p:spPr>
          <a:xfrm>
            <a:off x="6855405" y="1261473"/>
            <a:ext cx="4150507" cy="5094698"/>
          </a:xfrm>
          <a:prstGeom prst="rect">
            <a:avLst/>
          </a:prstGeom>
          <a:ln w="28575">
            <a:solidFill>
              <a:srgbClr val="E6007E"/>
            </a:solidFill>
            <a:prstDash val="dash"/>
          </a:ln>
        </p:spPr>
      </p:pic>
      <p:sp>
        <p:nvSpPr>
          <p:cNvPr id="11" name="TextBox 10">
            <a:extLst>
              <a:ext uri="{FF2B5EF4-FFF2-40B4-BE49-F238E27FC236}">
                <a16:creationId xmlns:a16="http://schemas.microsoft.com/office/drawing/2014/main" id="{A74FB94A-1339-4194-B16A-A17C66191027}"/>
              </a:ext>
            </a:extLst>
          </p:cNvPr>
          <p:cNvSpPr txBox="1"/>
          <p:nvPr/>
        </p:nvSpPr>
        <p:spPr>
          <a:xfrm>
            <a:off x="9321569" y="2135961"/>
            <a:ext cx="1684343" cy="1169551"/>
          </a:xfrm>
          <a:prstGeom prst="rect">
            <a:avLst/>
          </a:prstGeom>
          <a:noFill/>
        </p:spPr>
        <p:txBody>
          <a:bodyPr wrap="square" rtlCol="0">
            <a:noAutofit/>
          </a:bodyPr>
          <a:lstStyle/>
          <a:p>
            <a:r>
              <a:rPr lang="fr-FR" sz="1400" b="1" dirty="0">
                <a:solidFill>
                  <a:srgbClr val="03234B"/>
                </a:solidFill>
              </a:rPr>
              <a:t>PSC = 32000</a:t>
            </a:r>
          </a:p>
          <a:p>
            <a:r>
              <a:rPr lang="fr-FR" sz="1400" b="1" dirty="0">
                <a:solidFill>
                  <a:srgbClr val="03234B"/>
                </a:solidFill>
              </a:rPr>
              <a:t>ARR = 15000</a:t>
            </a:r>
          </a:p>
          <a:p>
            <a:r>
              <a:rPr lang="fr-FR" sz="1400" b="1" dirty="0">
                <a:solidFill>
                  <a:srgbClr val="03234B"/>
                </a:solidFill>
                <a:sym typeface="Wingdings" panose="05000000000000000000" pitchFamily="2" charset="2"/>
              </a:rPr>
              <a:t></a:t>
            </a:r>
            <a:r>
              <a:rPr lang="fr-FR" sz="1400" b="1" dirty="0">
                <a:solidFill>
                  <a:srgbClr val="03234B"/>
                </a:solidFill>
              </a:rPr>
              <a:t>Remise à zéro du Timer toutes les 15 secondes</a:t>
            </a:r>
          </a:p>
        </p:txBody>
      </p:sp>
    </p:spTree>
    <p:extLst>
      <p:ext uri="{BB962C8B-B14F-4D97-AF65-F5344CB8AC3E}">
        <p14:creationId xmlns:p14="http://schemas.microsoft.com/office/powerpoint/2010/main" val="1216937208"/>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55FA077-45F1-4D34-B584-6B0E324EFCE2}"/>
              </a:ext>
            </a:extLst>
          </p:cNvPr>
          <p:cNvSpPr>
            <a:spLocks noGrp="1"/>
          </p:cNvSpPr>
          <p:nvPr>
            <p:ph type="body" sz="quarter" idx="12"/>
          </p:nvPr>
        </p:nvSpPr>
        <p:spPr>
          <a:xfrm>
            <a:off x="119063" y="115888"/>
            <a:ext cx="10153650" cy="720725"/>
          </a:xfrm>
        </p:spPr>
        <p:txBody>
          <a:bodyPr>
            <a:normAutofit/>
          </a:bodyPr>
          <a:lstStyle/>
          <a:p>
            <a:r>
              <a:rPr lang="fr-FR" sz="3200" dirty="0"/>
              <a:t>Exercice</a:t>
            </a:r>
            <a:r>
              <a:rPr lang="en-US" sz="3200" dirty="0"/>
              <a:t> General Purpose Timer</a:t>
            </a:r>
          </a:p>
        </p:txBody>
      </p:sp>
      <p:grpSp>
        <p:nvGrpSpPr>
          <p:cNvPr id="6" name="Group 5">
            <a:extLst>
              <a:ext uri="{FF2B5EF4-FFF2-40B4-BE49-F238E27FC236}">
                <a16:creationId xmlns:a16="http://schemas.microsoft.com/office/drawing/2014/main" id="{AEB66730-9E39-4785-B100-DB931AC1E2F3}"/>
              </a:ext>
            </a:extLst>
          </p:cNvPr>
          <p:cNvGrpSpPr/>
          <p:nvPr/>
        </p:nvGrpSpPr>
        <p:grpSpPr>
          <a:xfrm>
            <a:off x="119063" y="1231220"/>
            <a:ext cx="11487149" cy="4972050"/>
            <a:chOff x="119063" y="1231220"/>
            <a:chExt cx="11487149" cy="4972050"/>
          </a:xfrm>
        </p:grpSpPr>
        <p:pic>
          <p:nvPicPr>
            <p:cNvPr id="7" name="Picture 6">
              <a:extLst>
                <a:ext uri="{FF2B5EF4-FFF2-40B4-BE49-F238E27FC236}">
                  <a16:creationId xmlns:a16="http://schemas.microsoft.com/office/drawing/2014/main" id="{B54858F3-09B3-452C-B9D9-F01E5718FDC4}"/>
                </a:ext>
              </a:extLst>
            </p:cNvPr>
            <p:cNvPicPr>
              <a:picLocks noChangeAspect="1"/>
            </p:cNvPicPr>
            <p:nvPr/>
          </p:nvPicPr>
          <p:blipFill>
            <a:blip r:embed="rId4"/>
            <a:stretch>
              <a:fillRect/>
            </a:stretch>
          </p:blipFill>
          <p:spPr>
            <a:xfrm>
              <a:off x="3176587" y="1231220"/>
              <a:ext cx="8429625" cy="4972050"/>
            </a:xfrm>
            <a:prstGeom prst="rect">
              <a:avLst/>
            </a:prstGeom>
          </p:spPr>
        </p:pic>
        <p:sp>
          <p:nvSpPr>
            <p:cNvPr id="8" name="ZoneTexte 5">
              <a:extLst>
                <a:ext uri="{FF2B5EF4-FFF2-40B4-BE49-F238E27FC236}">
                  <a16:creationId xmlns:a16="http://schemas.microsoft.com/office/drawing/2014/main" id="{E460E9E1-CA37-4C66-B703-A267EB6B8FB2}"/>
                </a:ext>
              </a:extLst>
            </p:cNvPr>
            <p:cNvSpPr txBox="1"/>
            <p:nvPr/>
          </p:nvSpPr>
          <p:spPr>
            <a:xfrm>
              <a:off x="119063" y="2783066"/>
              <a:ext cx="2952601" cy="357902"/>
            </a:xfrm>
            <a:prstGeom prst="rect">
              <a:avLst/>
            </a:prstGeom>
            <a:noFill/>
            <a:ln>
              <a:solidFill>
                <a:srgbClr val="E6007E"/>
              </a:solidFill>
            </a:ln>
          </p:spPr>
          <p:txBody>
            <a:bodyPr wrap="square" rtlCol="0">
              <a:noAutofit/>
            </a:bodyPr>
            <a:lstStyle/>
            <a:p>
              <a:r>
                <a:rPr lang="en-US" b="1" dirty="0">
                  <a:solidFill>
                    <a:srgbClr val="03234B"/>
                  </a:solidFill>
                </a:rPr>
                <a:t>Espionner les 4 variables</a:t>
              </a:r>
            </a:p>
          </p:txBody>
        </p:sp>
        <p:cxnSp>
          <p:nvCxnSpPr>
            <p:cNvPr id="9" name="Connector: Elbow 8">
              <a:extLst>
                <a:ext uri="{FF2B5EF4-FFF2-40B4-BE49-F238E27FC236}">
                  <a16:creationId xmlns:a16="http://schemas.microsoft.com/office/drawing/2014/main" id="{33CF9D1E-FA00-456E-B954-0B27106EE3FB}"/>
                </a:ext>
              </a:extLst>
            </p:cNvPr>
            <p:cNvCxnSpPr>
              <a:cxnSpLocks/>
              <a:stCxn id="8" idx="3"/>
              <a:endCxn id="10" idx="0"/>
            </p:cNvCxnSpPr>
            <p:nvPr/>
          </p:nvCxnSpPr>
          <p:spPr>
            <a:xfrm>
              <a:off x="3071664" y="2962017"/>
              <a:ext cx="1507480" cy="424122"/>
            </a:xfrm>
            <a:prstGeom prst="bentConnector2">
              <a:avLst/>
            </a:prstGeom>
            <a:ln>
              <a:solidFill>
                <a:srgbClr val="E6007E"/>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CD0C614-F0D8-4D57-82AE-44FD87635C17}"/>
                </a:ext>
              </a:extLst>
            </p:cNvPr>
            <p:cNvSpPr/>
            <p:nvPr/>
          </p:nvSpPr>
          <p:spPr>
            <a:xfrm>
              <a:off x="3990975" y="3386139"/>
              <a:ext cx="1176337" cy="261936"/>
            </a:xfrm>
            <a:prstGeom prst="rect">
              <a:avLst/>
            </a:prstGeom>
            <a:noFill/>
            <a:ln>
              <a:solidFill>
                <a:srgbClr val="E6007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Rectangle 10">
              <a:extLst>
                <a:ext uri="{FF2B5EF4-FFF2-40B4-BE49-F238E27FC236}">
                  <a16:creationId xmlns:a16="http://schemas.microsoft.com/office/drawing/2014/main" id="{6D01DC4C-4BF3-4137-BC21-9D7310D6282C}"/>
                </a:ext>
              </a:extLst>
            </p:cNvPr>
            <p:cNvSpPr/>
            <p:nvPr/>
          </p:nvSpPr>
          <p:spPr>
            <a:xfrm>
              <a:off x="5981700" y="3386139"/>
              <a:ext cx="1176337" cy="261936"/>
            </a:xfrm>
            <a:prstGeom prst="rect">
              <a:avLst/>
            </a:prstGeom>
            <a:noFill/>
            <a:ln>
              <a:solidFill>
                <a:srgbClr val="E6007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Rectangle 11">
              <a:extLst>
                <a:ext uri="{FF2B5EF4-FFF2-40B4-BE49-F238E27FC236}">
                  <a16:creationId xmlns:a16="http://schemas.microsoft.com/office/drawing/2014/main" id="{0B0057C5-8732-48A8-A7AE-EBA73D74BC69}"/>
                </a:ext>
              </a:extLst>
            </p:cNvPr>
            <p:cNvSpPr/>
            <p:nvPr/>
          </p:nvSpPr>
          <p:spPr>
            <a:xfrm>
              <a:off x="7886700" y="3377293"/>
              <a:ext cx="1176337" cy="261936"/>
            </a:xfrm>
            <a:prstGeom prst="rect">
              <a:avLst/>
            </a:prstGeom>
            <a:noFill/>
            <a:ln>
              <a:solidFill>
                <a:srgbClr val="E6007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Rectangle 12">
              <a:extLst>
                <a:ext uri="{FF2B5EF4-FFF2-40B4-BE49-F238E27FC236}">
                  <a16:creationId xmlns:a16="http://schemas.microsoft.com/office/drawing/2014/main" id="{46DCDF17-7BED-4AE0-BF70-24DE6AA12789}"/>
                </a:ext>
              </a:extLst>
            </p:cNvPr>
            <p:cNvSpPr/>
            <p:nvPr/>
          </p:nvSpPr>
          <p:spPr>
            <a:xfrm>
              <a:off x="9877425" y="3377293"/>
              <a:ext cx="1176337" cy="261936"/>
            </a:xfrm>
            <a:prstGeom prst="rect">
              <a:avLst/>
            </a:prstGeom>
            <a:noFill/>
            <a:ln>
              <a:solidFill>
                <a:srgbClr val="E6007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14" name="Connector: Elbow 13">
              <a:extLst>
                <a:ext uri="{FF2B5EF4-FFF2-40B4-BE49-F238E27FC236}">
                  <a16:creationId xmlns:a16="http://schemas.microsoft.com/office/drawing/2014/main" id="{CE2B8A49-7C1C-4DDC-A47E-497401A4F1A3}"/>
                </a:ext>
              </a:extLst>
            </p:cNvPr>
            <p:cNvCxnSpPr>
              <a:cxnSpLocks/>
              <a:stCxn id="8" idx="3"/>
              <a:endCxn id="11" idx="0"/>
            </p:cNvCxnSpPr>
            <p:nvPr/>
          </p:nvCxnSpPr>
          <p:spPr>
            <a:xfrm>
              <a:off x="3071664" y="2962017"/>
              <a:ext cx="3498205" cy="424122"/>
            </a:xfrm>
            <a:prstGeom prst="bentConnector2">
              <a:avLst/>
            </a:prstGeom>
            <a:ln>
              <a:solidFill>
                <a:srgbClr val="E6007E"/>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BDF9C7E8-2134-4A04-B7AB-A4A7DD458146}"/>
                </a:ext>
              </a:extLst>
            </p:cNvPr>
            <p:cNvCxnSpPr>
              <a:cxnSpLocks/>
              <a:stCxn id="8" idx="3"/>
              <a:endCxn id="12" idx="0"/>
            </p:cNvCxnSpPr>
            <p:nvPr/>
          </p:nvCxnSpPr>
          <p:spPr>
            <a:xfrm>
              <a:off x="3071664" y="2962017"/>
              <a:ext cx="5403205" cy="415276"/>
            </a:xfrm>
            <a:prstGeom prst="bentConnector2">
              <a:avLst/>
            </a:prstGeom>
            <a:ln>
              <a:solidFill>
                <a:srgbClr val="E6007E"/>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A6DD04C5-98C0-49C1-BE89-9D13B26AA454}"/>
                </a:ext>
              </a:extLst>
            </p:cNvPr>
            <p:cNvCxnSpPr>
              <a:cxnSpLocks/>
              <a:stCxn id="8" idx="3"/>
              <a:endCxn id="13" idx="0"/>
            </p:cNvCxnSpPr>
            <p:nvPr/>
          </p:nvCxnSpPr>
          <p:spPr>
            <a:xfrm>
              <a:off x="3071664" y="2962017"/>
              <a:ext cx="7393930" cy="415276"/>
            </a:xfrm>
            <a:prstGeom prst="bentConnector2">
              <a:avLst/>
            </a:prstGeom>
            <a:ln>
              <a:solidFill>
                <a:srgbClr val="E6007E"/>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8351847"/>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55FA077-45F1-4D34-B584-6B0E324EFCE2}"/>
              </a:ext>
            </a:extLst>
          </p:cNvPr>
          <p:cNvSpPr>
            <a:spLocks noGrp="1"/>
          </p:cNvSpPr>
          <p:nvPr>
            <p:ph type="body" sz="quarter" idx="12"/>
          </p:nvPr>
        </p:nvSpPr>
        <p:spPr>
          <a:xfrm>
            <a:off x="119063" y="115888"/>
            <a:ext cx="10153650" cy="720725"/>
          </a:xfrm>
        </p:spPr>
        <p:txBody>
          <a:bodyPr>
            <a:normAutofit/>
          </a:bodyPr>
          <a:lstStyle/>
          <a:p>
            <a:r>
              <a:rPr lang="fr-FR" sz="3200" dirty="0"/>
              <a:t>Exercice</a:t>
            </a:r>
            <a:r>
              <a:rPr lang="en-US" sz="3200" dirty="0"/>
              <a:t> General Purpose Timer: Timer 2 (1/2)</a:t>
            </a:r>
          </a:p>
        </p:txBody>
      </p:sp>
      <p:sp>
        <p:nvSpPr>
          <p:cNvPr id="6" name="TextBox 5">
            <a:extLst>
              <a:ext uri="{FF2B5EF4-FFF2-40B4-BE49-F238E27FC236}">
                <a16:creationId xmlns:a16="http://schemas.microsoft.com/office/drawing/2014/main" id="{41937BEE-8830-4898-B899-59CDBE7150DE}"/>
              </a:ext>
            </a:extLst>
          </p:cNvPr>
          <p:cNvSpPr txBox="1"/>
          <p:nvPr/>
        </p:nvSpPr>
        <p:spPr>
          <a:xfrm>
            <a:off x="324196" y="1772816"/>
            <a:ext cx="8508108" cy="3887852"/>
          </a:xfrm>
          <a:prstGeom prst="rect">
            <a:avLst/>
          </a:prstGeom>
          <a:noFill/>
        </p:spPr>
        <p:txBody>
          <a:bodyPr wrap="square" rtlCol="0">
            <a:noAutofit/>
          </a:bodyPr>
          <a:lstStyle/>
          <a:p>
            <a:pPr marL="171450" indent="-171450">
              <a:buFont typeface="Wingdings" panose="05000000000000000000" pitchFamily="2" charset="2"/>
              <a:buChar char="q"/>
            </a:pPr>
            <a:r>
              <a:rPr lang="fr-FR" sz="1200" b="1" dirty="0">
                <a:solidFill>
                  <a:srgbClr val="03234B"/>
                </a:solidFill>
              </a:rPr>
              <a:t>Faire un New Project</a:t>
            </a:r>
          </a:p>
          <a:p>
            <a:endParaRPr lang="fr-FR" sz="1200" b="1" u="sng" dirty="0">
              <a:solidFill>
                <a:srgbClr val="03234B"/>
              </a:solidFill>
            </a:endParaRPr>
          </a:p>
          <a:p>
            <a:r>
              <a:rPr lang="fr-FR" sz="1200" b="1" u="sng" dirty="0">
                <a:solidFill>
                  <a:srgbClr val="03234B"/>
                </a:solidFill>
              </a:rPr>
              <a:t>A partir de l’IDE configurer:</a:t>
            </a:r>
          </a:p>
          <a:p>
            <a:pPr marL="285750" indent="-285750">
              <a:buFont typeface="Wingdings" panose="05000000000000000000" pitchFamily="2" charset="2"/>
              <a:buChar char="q"/>
            </a:pPr>
            <a:r>
              <a:rPr lang="fr-FR" sz="1200" dirty="0">
                <a:solidFill>
                  <a:srgbClr val="03234B"/>
                </a:solidFill>
              </a:rPr>
              <a:t>Le TIMER2 et les 4 Output Compare Channel avec les bonnes valeurs de pulse (voir slides précédents)</a:t>
            </a:r>
          </a:p>
          <a:p>
            <a:pPr marL="285750" indent="-285750">
              <a:buFont typeface="Wingdings" panose="05000000000000000000" pitchFamily="2" charset="2"/>
              <a:buChar char="q"/>
            </a:pPr>
            <a:r>
              <a:rPr lang="fr-FR" sz="1200" dirty="0">
                <a:solidFill>
                  <a:srgbClr val="03234B"/>
                </a:solidFill>
              </a:rPr>
              <a:t>Le printf </a:t>
            </a:r>
          </a:p>
          <a:p>
            <a:pPr marL="285750" indent="-285750">
              <a:buFont typeface="Wingdings" panose="05000000000000000000" pitchFamily="2" charset="2"/>
              <a:buChar char="q"/>
            </a:pPr>
            <a:r>
              <a:rPr lang="fr-FR" sz="1200" dirty="0">
                <a:solidFill>
                  <a:srgbClr val="03234B"/>
                </a:solidFill>
              </a:rPr>
              <a:t>La LED de la carte STM32</a:t>
            </a:r>
          </a:p>
          <a:p>
            <a:endParaRPr lang="fr-FR" sz="1200" dirty="0">
              <a:solidFill>
                <a:srgbClr val="03234B"/>
              </a:solidFill>
            </a:endParaRPr>
          </a:p>
          <a:p>
            <a:r>
              <a:rPr lang="fr-FR" sz="1200" b="1" u="sng" dirty="0">
                <a:solidFill>
                  <a:srgbClr val="03234B"/>
                </a:solidFill>
              </a:rPr>
              <a:t>Dans les fichiers .c :</a:t>
            </a:r>
          </a:p>
          <a:p>
            <a:r>
              <a:rPr lang="fr-FR" sz="1200" dirty="0">
                <a:solidFill>
                  <a:srgbClr val="03234B"/>
                </a:solidFill>
              </a:rPr>
              <a:t>Déclarer 6 variables dans la partie USER CODE BEGIN PV</a:t>
            </a:r>
          </a:p>
          <a:p>
            <a:pPr marL="171450" indent="-171450">
              <a:buFont typeface="Wingdings" panose="05000000000000000000" pitchFamily="2" charset="2"/>
              <a:buChar char="q"/>
            </a:pPr>
            <a:r>
              <a:rPr lang="fr-FR" sz="1200" dirty="0">
                <a:solidFill>
                  <a:srgbClr val="03234B"/>
                </a:solidFill>
              </a:rPr>
              <a:t>int flag_irq=0;</a:t>
            </a:r>
          </a:p>
          <a:p>
            <a:pPr marL="171450" indent="-171450">
              <a:buFont typeface="Wingdings" panose="05000000000000000000" pitchFamily="2" charset="2"/>
              <a:buChar char="q"/>
            </a:pPr>
            <a:r>
              <a:rPr lang="fr-FR" sz="1200" dirty="0">
                <a:solidFill>
                  <a:srgbClr val="03234B"/>
                </a:solidFill>
              </a:rPr>
              <a:t>int cpt=0;</a:t>
            </a:r>
          </a:p>
          <a:p>
            <a:pPr marL="171450" indent="-171450">
              <a:buFont typeface="Wingdings" panose="05000000000000000000" pitchFamily="2" charset="2"/>
              <a:buChar char="q"/>
            </a:pPr>
            <a:r>
              <a:rPr lang="fr-FR" sz="1200" dirty="0">
                <a:solidFill>
                  <a:srgbClr val="03234B"/>
                </a:solidFill>
              </a:rPr>
              <a:t>int tenth=0,hundredth=0,second=0,ten_second=0;</a:t>
            </a:r>
          </a:p>
          <a:p>
            <a:endParaRPr lang="fr-FR" sz="1200" dirty="0">
              <a:solidFill>
                <a:srgbClr val="03234B"/>
              </a:solidFill>
            </a:endParaRPr>
          </a:p>
          <a:p>
            <a:r>
              <a:rPr lang="fr-FR" sz="1200" dirty="0">
                <a:solidFill>
                  <a:srgbClr val="03234B"/>
                </a:solidFill>
              </a:rPr>
              <a:t>Dans le int main():</a:t>
            </a:r>
          </a:p>
          <a:p>
            <a:pPr marL="171450" indent="-171450">
              <a:buFont typeface="Wingdings" panose="05000000000000000000" pitchFamily="2" charset="2"/>
              <a:buChar char="q"/>
            </a:pPr>
            <a:r>
              <a:rPr lang="fr-FR" sz="1200" dirty="0">
                <a:solidFill>
                  <a:srgbClr val="03234B"/>
                </a:solidFill>
              </a:rPr>
              <a:t>Avant la boucle while(1), afficher 1 message " Hello TP03 General Purpose Timer !\n " et 1 message "Timer 2 initialized\n"</a:t>
            </a:r>
          </a:p>
          <a:p>
            <a:pPr marL="171450" indent="-171450">
              <a:buFont typeface="Wingdings" panose="05000000000000000000" pitchFamily="2" charset="2"/>
              <a:buChar char="q"/>
            </a:pPr>
            <a:r>
              <a:rPr lang="fr-FR" sz="1200" dirty="0">
                <a:solidFill>
                  <a:srgbClr val="03234B"/>
                </a:solidFill>
              </a:rPr>
              <a:t>Démarrer les 4 channel (1 fonction HAL à chercher, qu’il faut appeler 4 fois pour lancer chaque Channel) puis le Timer 2 (comme pour le Timer 6 précédent) </a:t>
            </a:r>
          </a:p>
          <a:p>
            <a:pPr marL="171450" indent="-171450">
              <a:buFont typeface="Wingdings" panose="05000000000000000000" pitchFamily="2" charset="2"/>
              <a:buChar char="q"/>
            </a:pPr>
            <a:r>
              <a:rPr lang="fr-FR" sz="1200" dirty="0">
                <a:solidFill>
                  <a:srgbClr val="03234B"/>
                </a:solidFill>
              </a:rPr>
              <a:t>Afficher 1 message "Timer 2 enabled\n"</a:t>
            </a:r>
          </a:p>
          <a:p>
            <a:endParaRPr lang="fr-FR" sz="1200" dirty="0">
              <a:solidFill>
                <a:srgbClr val="03234B"/>
              </a:solidFill>
            </a:endParaRPr>
          </a:p>
          <a:p>
            <a:endParaRPr lang="fr-FR" sz="1200" dirty="0"/>
          </a:p>
        </p:txBody>
      </p:sp>
      <p:sp>
        <p:nvSpPr>
          <p:cNvPr id="7" name="ZoneTexte 5">
            <a:extLst>
              <a:ext uri="{FF2B5EF4-FFF2-40B4-BE49-F238E27FC236}">
                <a16:creationId xmlns:a16="http://schemas.microsoft.com/office/drawing/2014/main" id="{51D54930-5176-4765-A23A-DCEC14304341}"/>
              </a:ext>
            </a:extLst>
          </p:cNvPr>
          <p:cNvSpPr txBox="1"/>
          <p:nvPr/>
        </p:nvSpPr>
        <p:spPr>
          <a:xfrm>
            <a:off x="324196" y="1192392"/>
            <a:ext cx="11496329" cy="338554"/>
          </a:xfrm>
          <a:prstGeom prst="rect">
            <a:avLst/>
          </a:prstGeom>
          <a:noFill/>
        </p:spPr>
        <p:txBody>
          <a:bodyPr wrap="square" rtlCol="0">
            <a:noAutofit/>
          </a:bodyPr>
          <a:lstStyle/>
          <a:p>
            <a:r>
              <a:rPr lang="en-US" sz="1600" b="1">
                <a:solidFill>
                  <a:srgbClr val="03234B"/>
                </a:solidFill>
              </a:rPr>
              <a:t>Générer une interruption toutes les 10 millisecondes, puis toutes les 100 ms, toutes les Secondes et toutes les dizaines de Secondes</a:t>
            </a:r>
            <a:endParaRPr lang="en-US" sz="1600" b="1" dirty="0">
              <a:solidFill>
                <a:srgbClr val="03234B"/>
              </a:solidFill>
            </a:endParaRPr>
          </a:p>
        </p:txBody>
      </p:sp>
    </p:spTree>
    <p:extLst>
      <p:ext uri="{BB962C8B-B14F-4D97-AF65-F5344CB8AC3E}">
        <p14:creationId xmlns:p14="http://schemas.microsoft.com/office/powerpoint/2010/main" val="2905476682"/>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2FA568B-A4E6-4629-85B5-663E9D60F183}"/>
              </a:ext>
            </a:extLst>
          </p:cNvPr>
          <p:cNvSpPr>
            <a:spLocks noGrp="1"/>
          </p:cNvSpPr>
          <p:nvPr>
            <p:ph type="body" sz="quarter" idx="12"/>
          </p:nvPr>
        </p:nvSpPr>
        <p:spPr>
          <a:xfrm>
            <a:off x="119063" y="115888"/>
            <a:ext cx="10153650" cy="720725"/>
          </a:xfrm>
        </p:spPr>
        <p:txBody>
          <a:bodyPr>
            <a:normAutofit/>
          </a:bodyPr>
          <a:lstStyle/>
          <a:p>
            <a:r>
              <a:rPr lang="en-US"/>
              <a:t>Exercice General Purpose Timer: Timer 2 (2/2)</a:t>
            </a:r>
            <a:endParaRPr lang="en-US" dirty="0"/>
          </a:p>
        </p:txBody>
      </p:sp>
      <p:sp>
        <p:nvSpPr>
          <p:cNvPr id="6" name="TextBox 5">
            <a:extLst>
              <a:ext uri="{FF2B5EF4-FFF2-40B4-BE49-F238E27FC236}">
                <a16:creationId xmlns:a16="http://schemas.microsoft.com/office/drawing/2014/main" id="{57FED5C9-8FC6-4FA0-97EE-1B22B099C476}"/>
              </a:ext>
            </a:extLst>
          </p:cNvPr>
          <p:cNvSpPr txBox="1"/>
          <p:nvPr/>
        </p:nvSpPr>
        <p:spPr>
          <a:xfrm>
            <a:off x="147266" y="1556792"/>
            <a:ext cx="6628614" cy="1460824"/>
          </a:xfrm>
          <a:prstGeom prst="rect">
            <a:avLst/>
          </a:prstGeom>
          <a:noFill/>
        </p:spPr>
        <p:txBody>
          <a:bodyPr wrap="square" rtlCol="0">
            <a:noAutofit/>
          </a:bodyPr>
          <a:lstStyle/>
          <a:p>
            <a:r>
              <a:rPr lang="fr-FR" sz="1200" dirty="0">
                <a:solidFill>
                  <a:srgbClr val="03234B"/>
                </a:solidFill>
              </a:rPr>
              <a:t>Coder dans le main.c la fonction </a:t>
            </a:r>
            <a:r>
              <a:rPr lang="fr-FR" sz="1200" b="1" dirty="0">
                <a:solidFill>
                  <a:srgbClr val="03234B"/>
                </a:solidFill>
              </a:rPr>
              <a:t>void TIM2_IRQ(void)</a:t>
            </a:r>
          </a:p>
          <a:p>
            <a:pPr marL="285750" indent="-285750">
              <a:buFont typeface="Wingdings" panose="05000000000000000000" pitchFamily="2" charset="2"/>
              <a:buChar char="q"/>
            </a:pPr>
            <a:r>
              <a:rPr lang="fr-FR" sz="1200" dirty="0">
                <a:solidFill>
                  <a:srgbClr val="03234B"/>
                </a:solidFill>
              </a:rPr>
              <a:t>Cette fonction doit être appelé comme une interruption (fichier stm32l1xx_it.c)</a:t>
            </a:r>
          </a:p>
          <a:p>
            <a:pPr marL="285750" indent="-285750">
              <a:buFont typeface="Wingdings" panose="05000000000000000000" pitchFamily="2" charset="2"/>
              <a:buChar char="q"/>
            </a:pPr>
            <a:r>
              <a:rPr lang="fr-FR" sz="1200" dirty="0">
                <a:solidFill>
                  <a:srgbClr val="03234B"/>
                </a:solidFill>
              </a:rPr>
              <a:t>Déclarer les variables int SR_Register=TIM2-&gt;SR;</a:t>
            </a:r>
          </a:p>
          <a:p>
            <a:pPr marL="285750" indent="-285750">
              <a:buFont typeface="Wingdings" panose="05000000000000000000" pitchFamily="2" charset="2"/>
              <a:buChar char="q"/>
            </a:pPr>
            <a:r>
              <a:rPr lang="fr-FR" sz="1200" dirty="0">
                <a:solidFill>
                  <a:srgbClr val="03234B"/>
                </a:solidFill>
              </a:rPr>
              <a:t>Incrémenter la variable cpt</a:t>
            </a:r>
          </a:p>
          <a:p>
            <a:pPr marL="285750" indent="-285750">
              <a:buFont typeface="Wingdings" panose="05000000000000000000" pitchFamily="2" charset="2"/>
              <a:buChar char="q"/>
            </a:pPr>
            <a:r>
              <a:rPr lang="fr-FR" sz="1200" dirty="0">
                <a:solidFill>
                  <a:srgbClr val="03234B"/>
                </a:solidFill>
              </a:rPr>
              <a:t>Afficher un message « TIM2 IRQ cpt # %d\n »  (%d est la variable cpt).</a:t>
            </a:r>
          </a:p>
          <a:p>
            <a:pPr marL="285750" indent="-285750">
              <a:buFont typeface="Wingdings" panose="05000000000000000000" pitchFamily="2" charset="2"/>
              <a:buChar char="q"/>
            </a:pPr>
            <a:r>
              <a:rPr lang="fr-FR" sz="1200" dirty="0">
                <a:solidFill>
                  <a:srgbClr val="03234B"/>
                </a:solidFill>
              </a:rPr>
              <a:t>Il y a ensuite 4 tests à faire: Comparer les 4 états des interruptions des Channel à la variable SR_Register. Ci-dessous un exemple d’un des 4 IF à faire</a:t>
            </a:r>
          </a:p>
        </p:txBody>
      </p:sp>
      <p:grpSp>
        <p:nvGrpSpPr>
          <p:cNvPr id="7" name="Group 6">
            <a:extLst>
              <a:ext uri="{FF2B5EF4-FFF2-40B4-BE49-F238E27FC236}">
                <a16:creationId xmlns:a16="http://schemas.microsoft.com/office/drawing/2014/main" id="{B20A3483-CFBA-461A-9CDE-36D2ADF92FE2}"/>
              </a:ext>
            </a:extLst>
          </p:cNvPr>
          <p:cNvGrpSpPr/>
          <p:nvPr/>
        </p:nvGrpSpPr>
        <p:grpSpPr>
          <a:xfrm>
            <a:off x="6775879" y="1665793"/>
            <a:ext cx="5152634" cy="1467862"/>
            <a:chOff x="1515261" y="3553375"/>
            <a:chExt cx="7012791" cy="2145261"/>
          </a:xfrm>
        </p:grpSpPr>
        <p:pic>
          <p:nvPicPr>
            <p:cNvPr id="8" name="Picture 7">
              <a:extLst>
                <a:ext uri="{FF2B5EF4-FFF2-40B4-BE49-F238E27FC236}">
                  <a16:creationId xmlns:a16="http://schemas.microsoft.com/office/drawing/2014/main" id="{67896F6B-3A3F-4FBD-B2B8-E3F723A3549C}"/>
                </a:ext>
              </a:extLst>
            </p:cNvPr>
            <p:cNvPicPr>
              <a:picLocks noChangeAspect="1"/>
            </p:cNvPicPr>
            <p:nvPr/>
          </p:nvPicPr>
          <p:blipFill>
            <a:blip r:embed="rId4"/>
            <a:stretch>
              <a:fillRect/>
            </a:stretch>
          </p:blipFill>
          <p:spPr>
            <a:xfrm>
              <a:off x="1515261" y="3553375"/>
              <a:ext cx="6688105" cy="1695451"/>
            </a:xfrm>
            <a:prstGeom prst="rect">
              <a:avLst/>
            </a:prstGeom>
          </p:spPr>
        </p:pic>
        <p:sp>
          <p:nvSpPr>
            <p:cNvPr id="9" name="Rectangle 8">
              <a:extLst>
                <a:ext uri="{FF2B5EF4-FFF2-40B4-BE49-F238E27FC236}">
                  <a16:creationId xmlns:a16="http://schemas.microsoft.com/office/drawing/2014/main" id="{07DE08CE-8F0D-4BBA-AB28-076CC2D86990}"/>
                </a:ext>
              </a:extLst>
            </p:cNvPr>
            <p:cNvSpPr/>
            <p:nvPr/>
          </p:nvSpPr>
          <p:spPr>
            <a:xfrm>
              <a:off x="5882137" y="4500563"/>
              <a:ext cx="1714499" cy="652462"/>
            </a:xfrm>
            <a:prstGeom prst="rect">
              <a:avLst/>
            </a:prstGeom>
            <a:noFill/>
            <a:ln w="28575">
              <a:solidFill>
                <a:srgbClr val="E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Rectangle 9">
              <a:extLst>
                <a:ext uri="{FF2B5EF4-FFF2-40B4-BE49-F238E27FC236}">
                  <a16:creationId xmlns:a16="http://schemas.microsoft.com/office/drawing/2014/main" id="{2AB5EBB5-31C1-4DC4-9E8B-C6C7D4C00506}"/>
                </a:ext>
              </a:extLst>
            </p:cNvPr>
            <p:cNvSpPr/>
            <p:nvPr/>
          </p:nvSpPr>
          <p:spPr>
            <a:xfrm>
              <a:off x="4632633" y="5248824"/>
              <a:ext cx="3895419" cy="449812"/>
            </a:xfrm>
            <a:prstGeom prst="rect">
              <a:avLst/>
            </a:prstGeom>
          </p:spPr>
          <p:txBody>
            <a:bodyPr wrap="square">
              <a:noAutofit/>
            </a:bodyPr>
            <a:lstStyle/>
            <a:p>
              <a:pPr algn="ctr"/>
              <a:r>
                <a:rPr lang="en-US" sz="1400" b="1">
                  <a:solidFill>
                    <a:srgbClr val="03234B"/>
                  </a:solidFill>
                </a:rPr>
                <a:t>C</a:t>
              </a:r>
              <a:r>
                <a:rPr lang="en-US" sz="1400">
                  <a:solidFill>
                    <a:srgbClr val="03234B"/>
                  </a:solidFill>
                </a:rPr>
                <a:t>apture </a:t>
              </a:r>
              <a:r>
                <a:rPr lang="en-US" sz="1400" b="1">
                  <a:solidFill>
                    <a:srgbClr val="03234B"/>
                  </a:solidFill>
                </a:rPr>
                <a:t>C</a:t>
              </a:r>
              <a:r>
                <a:rPr lang="en-US" sz="1400">
                  <a:solidFill>
                    <a:srgbClr val="03234B"/>
                  </a:solidFill>
                </a:rPr>
                <a:t>ompare </a:t>
              </a:r>
              <a:r>
                <a:rPr lang="en-US" sz="1400" b="1">
                  <a:solidFill>
                    <a:srgbClr val="03234B"/>
                  </a:solidFill>
                </a:rPr>
                <a:t>X</a:t>
              </a:r>
              <a:r>
                <a:rPr lang="en-US" sz="1400">
                  <a:solidFill>
                    <a:srgbClr val="03234B"/>
                  </a:solidFill>
                </a:rPr>
                <a:t> </a:t>
              </a:r>
              <a:r>
                <a:rPr lang="en-US" sz="1400" b="1">
                  <a:solidFill>
                    <a:srgbClr val="03234B"/>
                  </a:solidFill>
                </a:rPr>
                <a:t>I</a:t>
              </a:r>
              <a:r>
                <a:rPr lang="en-US" sz="1400">
                  <a:solidFill>
                    <a:srgbClr val="03234B"/>
                  </a:solidFill>
                </a:rPr>
                <a:t>nterrupt </a:t>
              </a:r>
              <a:r>
                <a:rPr lang="en-US" sz="1400" b="1">
                  <a:solidFill>
                    <a:srgbClr val="03234B"/>
                  </a:solidFill>
                </a:rPr>
                <a:t>F</a:t>
              </a:r>
              <a:r>
                <a:rPr lang="en-US" sz="1400">
                  <a:solidFill>
                    <a:srgbClr val="03234B"/>
                  </a:solidFill>
                </a:rPr>
                <a:t>lag</a:t>
              </a:r>
              <a:endParaRPr lang="en-US" sz="1400" dirty="0">
                <a:solidFill>
                  <a:srgbClr val="03234B"/>
                </a:solidFill>
              </a:endParaRPr>
            </a:p>
          </p:txBody>
        </p:sp>
      </p:grpSp>
      <p:pic>
        <p:nvPicPr>
          <p:cNvPr id="11" name="Picture 10">
            <a:extLst>
              <a:ext uri="{FF2B5EF4-FFF2-40B4-BE49-F238E27FC236}">
                <a16:creationId xmlns:a16="http://schemas.microsoft.com/office/drawing/2014/main" id="{C07E78C1-55D4-4B5F-868C-86D5C3D0A3C0}"/>
              </a:ext>
            </a:extLst>
          </p:cNvPr>
          <p:cNvPicPr>
            <a:picLocks noChangeAspect="1"/>
          </p:cNvPicPr>
          <p:nvPr/>
        </p:nvPicPr>
        <p:blipFill>
          <a:blip r:embed="rId5"/>
          <a:stretch>
            <a:fillRect/>
          </a:stretch>
        </p:blipFill>
        <p:spPr>
          <a:xfrm>
            <a:off x="7170496" y="3732232"/>
            <a:ext cx="4633647" cy="2217814"/>
          </a:xfrm>
          <a:prstGeom prst="rect">
            <a:avLst/>
          </a:prstGeom>
        </p:spPr>
      </p:pic>
      <p:sp>
        <p:nvSpPr>
          <p:cNvPr id="12" name="TextBox 11">
            <a:extLst>
              <a:ext uri="{FF2B5EF4-FFF2-40B4-BE49-F238E27FC236}">
                <a16:creationId xmlns:a16="http://schemas.microsoft.com/office/drawing/2014/main" id="{050C3827-EC8C-49E6-9620-2A1420ED4372}"/>
              </a:ext>
            </a:extLst>
          </p:cNvPr>
          <p:cNvSpPr txBox="1"/>
          <p:nvPr/>
        </p:nvSpPr>
        <p:spPr>
          <a:xfrm>
            <a:off x="184925" y="3746689"/>
            <a:ext cx="7720005" cy="1569660"/>
          </a:xfrm>
          <a:prstGeom prst="rect">
            <a:avLst/>
          </a:prstGeom>
          <a:noFill/>
        </p:spPr>
        <p:txBody>
          <a:bodyPr wrap="square" rtlCol="0">
            <a:noAutofit/>
          </a:bodyPr>
          <a:lstStyle/>
          <a:p>
            <a:r>
              <a:rPr lang="fr-FR" sz="1200" b="1" u="sng" dirty="0">
                <a:solidFill>
                  <a:srgbClr val="03234B"/>
                </a:solidFill>
              </a:rPr>
              <a:t>Pour chaque test de </a:t>
            </a:r>
            <a:r>
              <a:rPr lang="fr-FR" sz="1200" b="1" u="sng" dirty="0" err="1">
                <a:solidFill>
                  <a:srgbClr val="03234B"/>
                </a:solidFill>
              </a:rPr>
              <a:t>CCxIF</a:t>
            </a:r>
            <a:r>
              <a:rPr lang="fr-FR" sz="1200" b="1" u="sng" dirty="0">
                <a:solidFill>
                  <a:srgbClr val="03234B"/>
                </a:solidFill>
              </a:rPr>
              <a:t>:</a:t>
            </a:r>
          </a:p>
          <a:p>
            <a:pPr marL="171450" indent="-171450">
              <a:buFont typeface="Wingdings" panose="05000000000000000000" pitchFamily="2" charset="2"/>
              <a:buChar char="q"/>
            </a:pPr>
            <a:r>
              <a:rPr lang="fr-FR" sz="1200" dirty="0">
                <a:solidFill>
                  <a:srgbClr val="03234B"/>
                </a:solidFill>
              </a:rPr>
              <a:t>Passer la </a:t>
            </a:r>
            <a:r>
              <a:rPr lang="fr-FR" sz="1200" dirty="0">
                <a:solidFill>
                  <a:srgbClr val="03234B"/>
                </a:solidFill>
                <a:highlight>
                  <a:srgbClr val="FFFF00"/>
                </a:highlight>
              </a:rPr>
              <a:t>variable</a:t>
            </a:r>
            <a:r>
              <a:rPr lang="fr-FR" sz="1200" dirty="0">
                <a:solidFill>
                  <a:srgbClr val="03234B"/>
                </a:solidFill>
              </a:rPr>
              <a:t> a 1 (soit </a:t>
            </a:r>
            <a:r>
              <a:rPr lang="fr-FR" sz="1200" dirty="0">
                <a:solidFill>
                  <a:srgbClr val="03234B"/>
                </a:solidFill>
                <a:highlight>
                  <a:srgbClr val="FFFF00"/>
                </a:highlight>
              </a:rPr>
              <a:t>tenth, </a:t>
            </a:r>
            <a:r>
              <a:rPr lang="fr-FR" sz="1200" dirty="0" err="1">
                <a:solidFill>
                  <a:srgbClr val="03234B"/>
                </a:solidFill>
                <a:highlight>
                  <a:srgbClr val="FFFF00"/>
                </a:highlight>
              </a:rPr>
              <a:t>hundredth</a:t>
            </a:r>
            <a:r>
              <a:rPr lang="fr-FR" sz="1200" dirty="0">
                <a:solidFill>
                  <a:srgbClr val="03234B"/>
                </a:solidFill>
                <a:highlight>
                  <a:srgbClr val="FFFF00"/>
                </a:highlight>
              </a:rPr>
              <a:t>, second, </a:t>
            </a:r>
            <a:r>
              <a:rPr lang="fr-FR" sz="1200" dirty="0" err="1">
                <a:solidFill>
                  <a:srgbClr val="03234B"/>
                </a:solidFill>
                <a:highlight>
                  <a:srgbClr val="FFFF00"/>
                </a:highlight>
              </a:rPr>
              <a:t>ten_second</a:t>
            </a:r>
            <a:r>
              <a:rPr lang="fr-FR" sz="1200" dirty="0">
                <a:solidFill>
                  <a:srgbClr val="03234B"/>
                </a:solidFill>
              </a:rPr>
              <a:t>)</a:t>
            </a:r>
          </a:p>
          <a:p>
            <a:pPr marL="171450" indent="-171450">
              <a:buFont typeface="Wingdings" panose="05000000000000000000" pitchFamily="2" charset="2"/>
              <a:buChar char="q"/>
            </a:pPr>
            <a:r>
              <a:rPr lang="fr-FR" sz="1200" dirty="0">
                <a:solidFill>
                  <a:srgbClr val="03234B"/>
                </a:solidFill>
              </a:rPr>
              <a:t>Afficher un printf(“</a:t>
            </a:r>
            <a:r>
              <a:rPr lang="fr-FR" sz="1200" dirty="0">
                <a:solidFill>
                  <a:srgbClr val="03234B"/>
                </a:solidFill>
                <a:highlight>
                  <a:srgbClr val="FFFF00"/>
                </a:highlight>
              </a:rPr>
              <a:t>variable</a:t>
            </a:r>
            <a:r>
              <a:rPr lang="fr-FR" sz="1200" dirty="0">
                <a:solidFill>
                  <a:srgbClr val="03234B"/>
                </a:solidFill>
              </a:rPr>
              <a:t> , count = %lu\n",TIM2-&gt;CNT);</a:t>
            </a:r>
          </a:p>
          <a:p>
            <a:pPr marL="171450" indent="-171450">
              <a:buFont typeface="Wingdings" panose="05000000000000000000" pitchFamily="2" charset="2"/>
              <a:buChar char="q"/>
            </a:pPr>
            <a:r>
              <a:rPr lang="fr-FR" sz="1200" dirty="0">
                <a:solidFill>
                  <a:srgbClr val="03234B"/>
                </a:solidFill>
              </a:rPr>
              <a:t>Faire </a:t>
            </a:r>
            <a:r>
              <a:rPr lang="fr-FR" sz="1200" dirty="0" err="1">
                <a:solidFill>
                  <a:srgbClr val="03234B"/>
                </a:solidFill>
              </a:rPr>
              <a:t>TogglePin</a:t>
            </a:r>
            <a:r>
              <a:rPr lang="fr-FR" sz="1200" dirty="0">
                <a:solidFill>
                  <a:srgbClr val="03234B"/>
                </a:solidFill>
              </a:rPr>
              <a:t> sur la LED pour </a:t>
            </a:r>
            <a:r>
              <a:rPr lang="fr-FR" sz="1200" dirty="0">
                <a:solidFill>
                  <a:srgbClr val="03234B"/>
                </a:solidFill>
                <a:highlight>
                  <a:srgbClr val="FFFF00"/>
                </a:highlight>
              </a:rPr>
              <a:t>tenth</a:t>
            </a:r>
            <a:r>
              <a:rPr lang="fr-FR" sz="1200" dirty="0">
                <a:solidFill>
                  <a:srgbClr val="03234B"/>
                </a:solidFill>
              </a:rPr>
              <a:t>, puis sur </a:t>
            </a:r>
            <a:r>
              <a:rPr lang="fr-FR" sz="1200" dirty="0" err="1">
                <a:solidFill>
                  <a:srgbClr val="03234B"/>
                </a:solidFill>
                <a:highlight>
                  <a:srgbClr val="FFFF00"/>
                </a:highlight>
              </a:rPr>
              <a:t>hundredth</a:t>
            </a:r>
            <a:endParaRPr lang="fr-FR" sz="1200" dirty="0">
              <a:solidFill>
                <a:srgbClr val="03234B"/>
              </a:solidFill>
            </a:endParaRPr>
          </a:p>
          <a:p>
            <a:pPr marL="171450" indent="-171450">
              <a:buFont typeface="Wingdings" panose="05000000000000000000" pitchFamily="2" charset="2"/>
              <a:buChar char="q"/>
            </a:pPr>
            <a:r>
              <a:rPr lang="fr-FR" sz="1200" dirty="0">
                <a:solidFill>
                  <a:srgbClr val="03234B"/>
                </a:solidFill>
              </a:rPr>
              <a:t>Changer l’état de la variable en </a:t>
            </a:r>
            <a:r>
              <a:rPr lang="fr-FR" sz="1200" dirty="0" err="1">
                <a:solidFill>
                  <a:srgbClr val="03234B"/>
                </a:solidFill>
              </a:rPr>
              <a:t>function</a:t>
            </a:r>
            <a:r>
              <a:rPr lang="fr-FR" sz="1200" dirty="0">
                <a:solidFill>
                  <a:srgbClr val="03234B"/>
                </a:solidFill>
              </a:rPr>
              <a:t> de son état </a:t>
            </a:r>
            <a:r>
              <a:rPr lang="fr-FR" sz="1200" dirty="0" err="1">
                <a:solidFill>
                  <a:srgbClr val="03234B"/>
                </a:solidFill>
              </a:rPr>
              <a:t>precedent</a:t>
            </a:r>
            <a:endParaRPr lang="fr-FR" sz="1200" dirty="0">
              <a:solidFill>
                <a:srgbClr val="03234B"/>
              </a:solidFill>
            </a:endParaRPr>
          </a:p>
          <a:p>
            <a:pPr marL="628650" lvl="1" indent="-171450">
              <a:buFont typeface="Wingdings" panose="05000000000000000000" pitchFamily="2" charset="2"/>
              <a:buChar char="q"/>
            </a:pPr>
            <a:r>
              <a:rPr lang="fr-FR" sz="1200" dirty="0">
                <a:solidFill>
                  <a:srgbClr val="03234B"/>
                </a:solidFill>
              </a:rPr>
              <a:t>0</a:t>
            </a:r>
            <a:r>
              <a:rPr lang="fr-FR" sz="1200" dirty="0">
                <a:solidFill>
                  <a:srgbClr val="03234B"/>
                </a:solidFill>
                <a:sym typeface="Wingdings" panose="05000000000000000000" pitchFamily="2" charset="2"/>
              </a:rPr>
              <a:t>1</a:t>
            </a:r>
          </a:p>
          <a:p>
            <a:pPr marL="628650" lvl="1" indent="-171450">
              <a:buFont typeface="Wingdings" panose="05000000000000000000" pitchFamily="2" charset="2"/>
              <a:buChar char="q"/>
            </a:pPr>
            <a:r>
              <a:rPr lang="fr-FR" sz="1200" dirty="0">
                <a:solidFill>
                  <a:srgbClr val="03234B"/>
                </a:solidFill>
                <a:sym typeface="Wingdings" panose="05000000000000000000" pitchFamily="2" charset="2"/>
              </a:rPr>
              <a:t>10</a:t>
            </a:r>
          </a:p>
          <a:p>
            <a:endParaRPr lang="en-US" sz="1200" dirty="0">
              <a:sym typeface="Wingdings" panose="05000000000000000000" pitchFamily="2" charset="2"/>
            </a:endParaRPr>
          </a:p>
        </p:txBody>
      </p:sp>
      <p:sp>
        <p:nvSpPr>
          <p:cNvPr id="13" name="ZoneTexte 5">
            <a:extLst>
              <a:ext uri="{FF2B5EF4-FFF2-40B4-BE49-F238E27FC236}">
                <a16:creationId xmlns:a16="http://schemas.microsoft.com/office/drawing/2014/main" id="{BC6A78A3-3250-4846-BA8A-FDEC714711B8}"/>
              </a:ext>
            </a:extLst>
          </p:cNvPr>
          <p:cNvSpPr txBox="1"/>
          <p:nvPr/>
        </p:nvSpPr>
        <p:spPr>
          <a:xfrm>
            <a:off x="184925" y="922052"/>
            <a:ext cx="11743588" cy="562659"/>
          </a:xfrm>
          <a:prstGeom prst="rect">
            <a:avLst/>
          </a:prstGeom>
          <a:noFill/>
        </p:spPr>
        <p:txBody>
          <a:bodyPr wrap="square" rtlCol="0">
            <a:noAutofit/>
          </a:bodyPr>
          <a:lstStyle/>
          <a:p>
            <a:r>
              <a:rPr lang="fr-FR" sz="1600" b="1" dirty="0">
                <a:solidFill>
                  <a:srgbClr val="03234B"/>
                </a:solidFill>
              </a:rPr>
              <a:t>Générer une interruption toutes les 10 millisecondes, puis toutes les 100 ms, toutes les Secondes et toutes les dizaines de Secondes</a:t>
            </a:r>
          </a:p>
        </p:txBody>
      </p:sp>
      <p:pic>
        <p:nvPicPr>
          <p:cNvPr id="14" name="Picture 13">
            <a:extLst>
              <a:ext uri="{FF2B5EF4-FFF2-40B4-BE49-F238E27FC236}">
                <a16:creationId xmlns:a16="http://schemas.microsoft.com/office/drawing/2014/main" id="{8AE9FD55-1658-46C4-80AB-CFAFE1B0B24E}"/>
              </a:ext>
            </a:extLst>
          </p:cNvPr>
          <p:cNvPicPr>
            <a:picLocks noChangeAspect="1"/>
          </p:cNvPicPr>
          <p:nvPr/>
        </p:nvPicPr>
        <p:blipFill>
          <a:blip r:embed="rId6"/>
          <a:stretch>
            <a:fillRect/>
          </a:stretch>
        </p:blipFill>
        <p:spPr>
          <a:xfrm>
            <a:off x="184925" y="3176508"/>
            <a:ext cx="3571875" cy="466725"/>
          </a:xfrm>
          <a:prstGeom prst="rect">
            <a:avLst/>
          </a:prstGeom>
        </p:spPr>
      </p:pic>
      <p:sp>
        <p:nvSpPr>
          <p:cNvPr id="15" name="Rectangle 14">
            <a:extLst>
              <a:ext uri="{FF2B5EF4-FFF2-40B4-BE49-F238E27FC236}">
                <a16:creationId xmlns:a16="http://schemas.microsoft.com/office/drawing/2014/main" id="{9B675CD6-A08C-479B-90DB-F84B7EFFF39A}"/>
              </a:ext>
            </a:extLst>
          </p:cNvPr>
          <p:cNvSpPr/>
          <p:nvPr/>
        </p:nvSpPr>
        <p:spPr>
          <a:xfrm>
            <a:off x="1884073" y="3451278"/>
            <a:ext cx="927026" cy="193746"/>
          </a:xfrm>
          <a:prstGeom prst="rect">
            <a:avLst/>
          </a:prstGeom>
          <a:noFill/>
          <a:ln w="12700">
            <a:solidFill>
              <a:srgbClr val="E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16" name="Straight Arrow Connector 15">
            <a:extLst>
              <a:ext uri="{FF2B5EF4-FFF2-40B4-BE49-F238E27FC236}">
                <a16:creationId xmlns:a16="http://schemas.microsoft.com/office/drawing/2014/main" id="{0FEDF668-EC4B-47E7-8CCD-5BDDB5210B21}"/>
              </a:ext>
            </a:extLst>
          </p:cNvPr>
          <p:cNvCxnSpPr>
            <a:cxnSpLocks/>
            <a:stCxn id="15" idx="3"/>
          </p:cNvCxnSpPr>
          <p:nvPr/>
        </p:nvCxnSpPr>
        <p:spPr>
          <a:xfrm>
            <a:off x="2811099" y="3548151"/>
            <a:ext cx="4293013" cy="272348"/>
          </a:xfrm>
          <a:prstGeom prst="straightConnector1">
            <a:avLst/>
          </a:prstGeom>
          <a:ln>
            <a:solidFill>
              <a:srgbClr val="E6007E"/>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5643AF3-0224-4EA1-BD1E-9D1CEE851705}"/>
              </a:ext>
            </a:extLst>
          </p:cNvPr>
          <p:cNvCxnSpPr>
            <a:cxnSpLocks/>
          </p:cNvCxnSpPr>
          <p:nvPr/>
        </p:nvCxnSpPr>
        <p:spPr>
          <a:xfrm>
            <a:off x="9439713" y="1949159"/>
            <a:ext cx="1408815" cy="307777"/>
          </a:xfrm>
          <a:prstGeom prst="straightConnector1">
            <a:avLst/>
          </a:prstGeom>
          <a:ln>
            <a:solidFill>
              <a:srgbClr val="E6007E"/>
            </a:solidFill>
            <a:tailEnd type="triangle"/>
          </a:ln>
        </p:spPr>
        <p:style>
          <a:lnRef idx="1">
            <a:schemeClr val="accent1"/>
          </a:lnRef>
          <a:fillRef idx="0">
            <a:schemeClr val="accent1"/>
          </a:fillRef>
          <a:effectRef idx="0">
            <a:schemeClr val="accent1"/>
          </a:effectRef>
          <a:fontRef idx="minor">
            <a:schemeClr val="tx1"/>
          </a:fontRef>
        </p:style>
      </p:cxnSp>
      <p:pic>
        <p:nvPicPr>
          <p:cNvPr id="18" name="Image 17">
            <a:extLst>
              <a:ext uri="{FF2B5EF4-FFF2-40B4-BE49-F238E27FC236}">
                <a16:creationId xmlns:a16="http://schemas.microsoft.com/office/drawing/2014/main" id="{F320E673-048E-9875-3056-09D29E756823}"/>
              </a:ext>
            </a:extLst>
          </p:cNvPr>
          <p:cNvPicPr>
            <a:picLocks noChangeAspect="1"/>
          </p:cNvPicPr>
          <p:nvPr/>
        </p:nvPicPr>
        <p:blipFill rotWithShape="1">
          <a:blip r:embed="rId7"/>
          <a:srcRect t="5541"/>
          <a:stretch/>
        </p:blipFill>
        <p:spPr>
          <a:xfrm>
            <a:off x="184925" y="5190912"/>
            <a:ext cx="6843373" cy="691048"/>
          </a:xfrm>
          <a:prstGeom prst="rect">
            <a:avLst/>
          </a:prstGeom>
        </p:spPr>
      </p:pic>
      <p:sp>
        <p:nvSpPr>
          <p:cNvPr id="19" name="ZoneTexte 18">
            <a:extLst>
              <a:ext uri="{FF2B5EF4-FFF2-40B4-BE49-F238E27FC236}">
                <a16:creationId xmlns:a16="http://schemas.microsoft.com/office/drawing/2014/main" id="{C30022A0-6B6A-ADA3-3AC9-0E0E571AF180}"/>
              </a:ext>
            </a:extLst>
          </p:cNvPr>
          <p:cNvSpPr txBox="1"/>
          <p:nvPr/>
        </p:nvSpPr>
        <p:spPr>
          <a:xfrm>
            <a:off x="2811099" y="5296244"/>
            <a:ext cx="3911843" cy="369332"/>
          </a:xfrm>
          <a:prstGeom prst="rect">
            <a:avLst/>
          </a:prstGeom>
          <a:noFill/>
        </p:spPr>
        <p:txBody>
          <a:bodyPr wrap="square" rtlCol="0">
            <a:noAutofit/>
          </a:bodyPr>
          <a:lstStyle/>
          <a:p>
            <a:r>
              <a:rPr lang="en-US" dirty="0" err="1">
                <a:solidFill>
                  <a:schemeClr val="bg1"/>
                </a:solidFill>
              </a:rPr>
              <a:t>Permet</a:t>
            </a:r>
            <a:r>
              <a:rPr lang="en-US" dirty="0">
                <a:solidFill>
                  <a:schemeClr val="bg1"/>
                </a:solidFill>
              </a:rPr>
              <a:t> de Tester </a:t>
            </a:r>
            <a:r>
              <a:rPr lang="en-US" dirty="0" err="1">
                <a:solidFill>
                  <a:schemeClr val="bg1"/>
                </a:solidFill>
              </a:rPr>
              <a:t>si</a:t>
            </a:r>
            <a:r>
              <a:rPr lang="en-US" dirty="0">
                <a:solidFill>
                  <a:schemeClr val="bg1"/>
                </a:solidFill>
              </a:rPr>
              <a:t> le bit 5 </a:t>
            </a:r>
            <a:r>
              <a:rPr lang="en-US" dirty="0" err="1">
                <a:solidFill>
                  <a:schemeClr val="bg1"/>
                </a:solidFill>
              </a:rPr>
              <a:t>est</a:t>
            </a:r>
            <a:r>
              <a:rPr lang="en-US" dirty="0">
                <a:solidFill>
                  <a:schemeClr val="bg1"/>
                </a:solidFill>
              </a:rPr>
              <a:t> à 1</a:t>
            </a:r>
          </a:p>
        </p:txBody>
      </p:sp>
    </p:spTree>
    <p:extLst>
      <p:ext uri="{BB962C8B-B14F-4D97-AF65-F5344CB8AC3E}">
        <p14:creationId xmlns:p14="http://schemas.microsoft.com/office/powerpoint/2010/main" val="3157039276"/>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ACC665A-3C70-424C-8896-0C199DE8264F}"/>
              </a:ext>
            </a:extLst>
          </p:cNvPr>
          <p:cNvSpPr>
            <a:spLocks noGrp="1"/>
          </p:cNvSpPr>
          <p:nvPr>
            <p:ph type="body" sz="quarter" idx="12"/>
          </p:nvPr>
        </p:nvSpPr>
        <p:spPr>
          <a:xfrm>
            <a:off x="119063" y="115888"/>
            <a:ext cx="10153650" cy="720725"/>
          </a:xfrm>
        </p:spPr>
        <p:txBody>
          <a:bodyPr>
            <a:normAutofit/>
          </a:bodyPr>
          <a:lstStyle/>
          <a:p>
            <a:r>
              <a:rPr lang="fr-FR" sz="3200" dirty="0"/>
              <a:t>Exercice</a:t>
            </a:r>
            <a:r>
              <a:rPr lang="en-US" sz="3200" dirty="0"/>
              <a:t> General Purpose Timer: </a:t>
            </a:r>
            <a:r>
              <a:rPr lang="fr-FR" sz="3200" dirty="0"/>
              <a:t>Résultat</a:t>
            </a:r>
          </a:p>
        </p:txBody>
      </p:sp>
      <p:pic>
        <p:nvPicPr>
          <p:cNvPr id="7" name="Picture 6">
            <a:extLst>
              <a:ext uri="{FF2B5EF4-FFF2-40B4-BE49-F238E27FC236}">
                <a16:creationId xmlns:a16="http://schemas.microsoft.com/office/drawing/2014/main" id="{49BABC93-A46E-4D81-A041-965663A8E7EA}"/>
              </a:ext>
            </a:extLst>
          </p:cNvPr>
          <p:cNvPicPr>
            <a:picLocks noChangeAspect="1"/>
          </p:cNvPicPr>
          <p:nvPr/>
        </p:nvPicPr>
        <p:blipFill>
          <a:blip r:embed="rId4"/>
          <a:stretch>
            <a:fillRect/>
          </a:stretch>
        </p:blipFill>
        <p:spPr>
          <a:xfrm>
            <a:off x="0" y="1463339"/>
            <a:ext cx="12192001" cy="1861958"/>
          </a:xfrm>
          <a:prstGeom prst="rect">
            <a:avLst/>
          </a:prstGeom>
        </p:spPr>
      </p:pic>
      <p:sp>
        <p:nvSpPr>
          <p:cNvPr id="8" name="TextBox 7">
            <a:extLst>
              <a:ext uri="{FF2B5EF4-FFF2-40B4-BE49-F238E27FC236}">
                <a16:creationId xmlns:a16="http://schemas.microsoft.com/office/drawing/2014/main" id="{E073FD70-E9FB-4B2E-8DEA-CE724DDFA6FB}"/>
              </a:ext>
            </a:extLst>
          </p:cNvPr>
          <p:cNvSpPr txBox="1"/>
          <p:nvPr/>
        </p:nvSpPr>
        <p:spPr>
          <a:xfrm>
            <a:off x="985" y="970824"/>
            <a:ext cx="8688288" cy="417200"/>
          </a:xfrm>
          <a:prstGeom prst="rect">
            <a:avLst/>
          </a:prstGeom>
          <a:noFill/>
        </p:spPr>
        <p:txBody>
          <a:bodyPr wrap="square" lIns="393700" tIns="0" rIns="127000" bIns="0" rtlCol="0" anchor="ctr" anchorCtr="0">
            <a:noAutofit/>
          </a:bodyPr>
          <a:lstStyle/>
          <a:p>
            <a:r>
              <a:rPr lang="fr-FR" sz="2000" dirty="0">
                <a:solidFill>
                  <a:srgbClr val="03234B"/>
                </a:solidFill>
              </a:rPr>
              <a:t>1</a:t>
            </a:r>
            <a:r>
              <a:rPr lang="fr-FR" sz="2000" baseline="30000" dirty="0">
                <a:solidFill>
                  <a:srgbClr val="03234B"/>
                </a:solidFill>
              </a:rPr>
              <a:t>er</a:t>
            </a:r>
            <a:r>
              <a:rPr lang="fr-FR" sz="2000" dirty="0">
                <a:solidFill>
                  <a:srgbClr val="03234B"/>
                </a:solidFill>
              </a:rPr>
              <a:t> cycle : Les LED s’allument une à une à l’interruption qui lui est propre </a:t>
            </a:r>
          </a:p>
        </p:txBody>
      </p:sp>
      <p:grpSp>
        <p:nvGrpSpPr>
          <p:cNvPr id="9" name="Group 8">
            <a:extLst>
              <a:ext uri="{FF2B5EF4-FFF2-40B4-BE49-F238E27FC236}">
                <a16:creationId xmlns:a16="http://schemas.microsoft.com/office/drawing/2014/main" id="{CFAB642F-E18C-4261-A3F1-06706A946A61}"/>
              </a:ext>
            </a:extLst>
          </p:cNvPr>
          <p:cNvGrpSpPr/>
          <p:nvPr/>
        </p:nvGrpSpPr>
        <p:grpSpPr>
          <a:xfrm>
            <a:off x="0" y="3437866"/>
            <a:ext cx="12192000" cy="2326127"/>
            <a:chOff x="0" y="3762509"/>
            <a:chExt cx="12192000" cy="2326127"/>
          </a:xfrm>
        </p:grpSpPr>
        <p:pic>
          <p:nvPicPr>
            <p:cNvPr id="10" name="Picture 9">
              <a:extLst>
                <a:ext uri="{FF2B5EF4-FFF2-40B4-BE49-F238E27FC236}">
                  <a16:creationId xmlns:a16="http://schemas.microsoft.com/office/drawing/2014/main" id="{3BE470BA-64FF-4089-9889-4BD4BD50B395}"/>
                </a:ext>
              </a:extLst>
            </p:cNvPr>
            <p:cNvPicPr>
              <a:picLocks noChangeAspect="1"/>
            </p:cNvPicPr>
            <p:nvPr/>
          </p:nvPicPr>
          <p:blipFill>
            <a:blip r:embed="rId5"/>
            <a:stretch>
              <a:fillRect/>
            </a:stretch>
          </p:blipFill>
          <p:spPr>
            <a:xfrm>
              <a:off x="0" y="4179659"/>
              <a:ext cx="12192000" cy="1908977"/>
            </a:xfrm>
            <a:prstGeom prst="rect">
              <a:avLst/>
            </a:prstGeom>
          </p:spPr>
        </p:pic>
        <p:sp>
          <p:nvSpPr>
            <p:cNvPr id="11" name="TextBox 10">
              <a:extLst>
                <a:ext uri="{FF2B5EF4-FFF2-40B4-BE49-F238E27FC236}">
                  <a16:creationId xmlns:a16="http://schemas.microsoft.com/office/drawing/2014/main" id="{ECF056B3-C78F-4882-9992-7F83B52B9E8F}"/>
                </a:ext>
              </a:extLst>
            </p:cNvPr>
            <p:cNvSpPr txBox="1"/>
            <p:nvPr/>
          </p:nvSpPr>
          <p:spPr>
            <a:xfrm>
              <a:off x="361025" y="3762509"/>
              <a:ext cx="7968208" cy="369332"/>
            </a:xfrm>
            <a:prstGeom prst="rect">
              <a:avLst/>
            </a:prstGeom>
            <a:noFill/>
          </p:spPr>
          <p:txBody>
            <a:bodyPr wrap="square" rtlCol="0">
              <a:noAutofit/>
            </a:bodyPr>
            <a:lstStyle/>
            <a:p>
              <a:r>
                <a:rPr lang="fr-FR" dirty="0">
                  <a:solidFill>
                    <a:srgbClr val="03234B"/>
                  </a:solidFill>
                </a:rPr>
                <a:t>2</a:t>
              </a:r>
              <a:r>
                <a:rPr lang="fr-FR" baseline="30000" dirty="0">
                  <a:solidFill>
                    <a:srgbClr val="03234B"/>
                  </a:solidFill>
                </a:rPr>
                <a:t>nd</a:t>
              </a:r>
              <a:r>
                <a:rPr lang="fr-FR" dirty="0">
                  <a:solidFill>
                    <a:srgbClr val="03234B"/>
                  </a:solidFill>
                </a:rPr>
                <a:t> cycle : Les LED s’éteignent une à une à l’interruption qui lui est propre </a:t>
              </a:r>
            </a:p>
          </p:txBody>
        </p:sp>
      </p:grpSp>
      <p:sp>
        <p:nvSpPr>
          <p:cNvPr id="12" name="TextBox 11">
            <a:extLst>
              <a:ext uri="{FF2B5EF4-FFF2-40B4-BE49-F238E27FC236}">
                <a16:creationId xmlns:a16="http://schemas.microsoft.com/office/drawing/2014/main" id="{84A62456-6E3A-4D20-B82F-4728EF4B3481}"/>
              </a:ext>
            </a:extLst>
          </p:cNvPr>
          <p:cNvSpPr txBox="1"/>
          <p:nvPr/>
        </p:nvSpPr>
        <p:spPr>
          <a:xfrm>
            <a:off x="4938713" y="5859630"/>
            <a:ext cx="2314575" cy="369332"/>
          </a:xfrm>
          <a:prstGeom prst="rect">
            <a:avLst/>
          </a:prstGeom>
          <a:noFill/>
        </p:spPr>
        <p:txBody>
          <a:bodyPr wrap="square" rtlCol="0">
            <a:noAutofit/>
          </a:bodyPr>
          <a:lstStyle/>
          <a:p>
            <a:r>
              <a:rPr lang="en-US" b="1" i="1" dirty="0">
                <a:solidFill>
                  <a:srgbClr val="03234B"/>
                </a:solidFill>
              </a:rPr>
              <a:t>Et ainsi de suite…</a:t>
            </a:r>
          </a:p>
        </p:txBody>
      </p:sp>
    </p:spTree>
    <p:extLst>
      <p:ext uri="{BB962C8B-B14F-4D97-AF65-F5344CB8AC3E}">
        <p14:creationId xmlns:p14="http://schemas.microsoft.com/office/powerpoint/2010/main" val="1339664568"/>
      </p:ext>
    </p:extLst>
  </p:cSld>
  <p:clrMapOvr>
    <a:masterClrMapping/>
  </p:clrMapOvr>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7e29489c09c3c63187c2677341ee6319b0e3d0"/>
</p:tagLst>
</file>

<file path=ppt/theme/theme1.xml><?xml version="1.0" encoding="utf-8"?>
<a:theme xmlns:a="http://schemas.openxmlformats.org/drawingml/2006/main" name="ST PowerPoint Template 16x9">
  <a:themeElements>
    <a:clrScheme name="STMicroelectronics 2021">
      <a:dk1>
        <a:srgbClr val="03234B"/>
      </a:dk1>
      <a:lt1>
        <a:srgbClr val="FFFFFF"/>
      </a:lt1>
      <a:dk2>
        <a:srgbClr val="464650"/>
      </a:dk2>
      <a:lt2>
        <a:srgbClr val="E8E8E9"/>
      </a:lt2>
      <a:accent1>
        <a:srgbClr val="03234B"/>
      </a:accent1>
      <a:accent2>
        <a:srgbClr val="E6007E"/>
      </a:accent2>
      <a:accent3>
        <a:srgbClr val="3CB4E6"/>
      </a:accent3>
      <a:accent4>
        <a:srgbClr val="FFD200"/>
      </a:accent4>
      <a:accent5>
        <a:srgbClr val="49B170"/>
      </a:accent5>
      <a:accent6>
        <a:srgbClr val="8C0078"/>
      </a:accent6>
      <a:hlink>
        <a:srgbClr val="3CB4E6"/>
      </a:hlink>
      <a:folHlink>
        <a:srgbClr val="3CB4E6"/>
      </a:folHlink>
    </a:clrScheme>
    <a:fontScheme name="ST BRAND 201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buClr>
            <a:schemeClr val="bg1"/>
          </a:buCl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2225">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defPPr>
      </a:lstStyle>
    </a:txDef>
  </a:objectDefaults>
  <a:extraClrSchemeLst/>
  <a:extLst>
    <a:ext uri="{05A4C25C-085E-4340-85A3-A5531E510DB2}">
      <thm15:themeFamily xmlns:thm15="http://schemas.microsoft.com/office/thememl/2012/main" name="ST_Template_[16-9].potx" id="{CD5ACC94-6E44-41CD-AD84-5EC23CEA07C9}" vid="{AE223C04-3F7D-4337-AA9C-E9D20F57FFE9}"/>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ureau">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b5b0a18-0ac8-40ff-9dda-cbf02757ab37">
      <Terms xmlns="http://schemas.microsoft.com/office/infopath/2007/PartnerControls"/>
    </lcf76f155ced4ddcb4097134ff3c332f>
    <TaxCatchAll xmlns="0cb2f437-beb1-4687-8ff2-788330b5ca7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862CCF50953A34F8DA5C30A590C3005" ma:contentTypeVersion="11" ma:contentTypeDescription="Crée un document." ma:contentTypeScope="" ma:versionID="e7d8b9f836649573da8f0cf44141a357">
  <xsd:schema xmlns:xsd="http://www.w3.org/2001/XMLSchema" xmlns:xs="http://www.w3.org/2001/XMLSchema" xmlns:p="http://schemas.microsoft.com/office/2006/metadata/properties" xmlns:ns2="1b5b0a18-0ac8-40ff-9dda-cbf02757ab37" xmlns:ns3="0cb2f437-beb1-4687-8ff2-788330b5ca72" targetNamespace="http://schemas.microsoft.com/office/2006/metadata/properties" ma:root="true" ma:fieldsID="2a292ad2c614c2f769c1958b5880bc7d" ns2:_="" ns3:_="">
    <xsd:import namespace="1b5b0a18-0ac8-40ff-9dda-cbf02757ab37"/>
    <xsd:import namespace="0cb2f437-beb1-4687-8ff2-788330b5ca7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5b0a18-0ac8-40ff-9dda-cbf02757ab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bafe7f-9857-4f22-abd8-d347ad85f08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cb2f437-beb1-4687-8ff2-788330b5ca7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6637468-d8fd-43cf-95be-15fffd0247d3}" ma:internalName="TaxCatchAll" ma:showField="CatchAllData" ma:web="0cb2f437-beb1-4687-8ff2-788330b5ca7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3C9DBC-2F9A-4C2A-9095-02901C12122B}">
  <ds:schemaRefs>
    <ds:schemaRef ds:uri="http://schemas.microsoft.com/sharepoint/v3/contenttype/forms"/>
  </ds:schemaRefs>
</ds:datastoreItem>
</file>

<file path=customXml/itemProps2.xml><?xml version="1.0" encoding="utf-8"?>
<ds:datastoreItem xmlns:ds="http://schemas.openxmlformats.org/officeDocument/2006/customXml" ds:itemID="{0EADB4B4-4CD2-4DDB-8FB5-163083A918CC}">
  <ds:schemaRefs>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c736c050-8123-400e-b927-36c61e420814"/>
    <ds:schemaRef ds:uri="http://www.w3.org/XML/1998/namespace"/>
    <ds:schemaRef ds:uri="http://schemas.microsoft.com/office/2006/metadata/properties"/>
    <ds:schemaRef ds:uri="http://purl.org/dc/terms/"/>
    <ds:schemaRef ds:uri="http://purl.org/dc/elements/1.1/"/>
    <ds:schemaRef ds:uri="089cdac0-8684-4bdc-8c80-fe5fe0837837"/>
  </ds:schemaRefs>
</ds:datastoreItem>
</file>

<file path=customXml/itemProps3.xml><?xml version="1.0" encoding="utf-8"?>
<ds:datastoreItem xmlns:ds="http://schemas.openxmlformats.org/officeDocument/2006/customXml" ds:itemID="{FEFBA046-1214-4EC4-8F9D-B6AE85BF7309}"/>
</file>

<file path=docMetadata/LabelInfo.xml><?xml version="1.0" encoding="utf-8"?>
<clbl:labelList xmlns:clbl="http://schemas.microsoft.com/office/2020/mipLabelMetadata">
  <clbl:label id="{cf8c7287-838c-46dd-b281-b1140229e67a}" enabled="1" method="Privileged" siteId="{75e027c9-20d5-47d5-b82f-77d7cd041e8f}" removed="0"/>
</clbl:labelList>
</file>

<file path=docProps/app.xml><?xml version="1.0" encoding="utf-8"?>
<Properties xmlns="http://schemas.openxmlformats.org/officeDocument/2006/extended-properties" xmlns:vt="http://schemas.openxmlformats.org/officeDocument/2006/docPropsVTypes">
  <TotalTime>45752</TotalTime>
  <Words>1376</Words>
  <Application>Microsoft Office PowerPoint</Application>
  <PresentationFormat>Grand écran</PresentationFormat>
  <Paragraphs>185</Paragraphs>
  <Slides>18</Slides>
  <Notes>18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18</vt:i4>
      </vt:variant>
    </vt:vector>
  </HeadingPairs>
  <TitlesOfParts>
    <vt:vector size="24" baseType="lpstr">
      <vt:lpstr>Arial</vt:lpstr>
      <vt:lpstr>Arial MT</vt:lpstr>
      <vt:lpstr>Calibri</vt:lpstr>
      <vt:lpstr>Trebuchet MS</vt:lpstr>
      <vt:lpstr>Wingdings</vt:lpstr>
      <vt:lpstr>ST PowerPoint Template 16x9</vt:lpstr>
      <vt:lpstr>TP03 – TIMERS STM32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 02 - Interruptions</dc:title>
  <dc:subject/>
  <dc:creator>JLSDQ</dc:creator>
  <cp:keywords/>
  <dc:description/>
  <cp:lastModifiedBy>julien terrier</cp:lastModifiedBy>
  <cp:revision>845</cp:revision>
  <dcterms:created xsi:type="dcterms:W3CDTF">2019-08-27T13:56:49Z</dcterms:created>
  <dcterms:modified xsi:type="dcterms:W3CDTF">2026-02-09T08:00:35Z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0x0101007862CCF50953A34F8DA5C30A590C3005</vt:lpwstr>
  </property>
</Properties>
</file>